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Lst>
  <p:notesMasterIdLst>
    <p:notesMasterId r:id="rId40"/>
  </p:notesMasterIdLst>
  <p:handoutMasterIdLst>
    <p:handoutMasterId r:id="rId41"/>
  </p:handoutMasterIdLst>
  <p:sldIdLst>
    <p:sldId id="256" r:id="rId3"/>
    <p:sldId id="259" r:id="rId4"/>
    <p:sldId id="260" r:id="rId5"/>
    <p:sldId id="262" r:id="rId6"/>
    <p:sldId id="264" r:id="rId7"/>
    <p:sldId id="266" r:id="rId8"/>
    <p:sldId id="267" r:id="rId9"/>
    <p:sldId id="269" r:id="rId10"/>
    <p:sldId id="271" r:id="rId11"/>
    <p:sldId id="270" r:id="rId12"/>
    <p:sldId id="265" r:id="rId13"/>
    <p:sldId id="272" r:id="rId14"/>
    <p:sldId id="261"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90" r:id="rId29"/>
    <p:sldId id="289" r:id="rId30"/>
    <p:sldId id="293" r:id="rId31"/>
    <p:sldId id="291" r:id="rId32"/>
    <p:sldId id="294" r:id="rId33"/>
    <p:sldId id="296" r:id="rId34"/>
    <p:sldId id="297" r:id="rId35"/>
    <p:sldId id="299" r:id="rId36"/>
    <p:sldId id="298" r:id="rId37"/>
    <p:sldId id="301" r:id="rId38"/>
    <p:sldId id="302" r:id="rId39"/>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3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86370"/>
  </p:normalViewPr>
  <p:slideViewPr>
    <p:cSldViewPr snapToGrid="0" showGuides="1">
      <p:cViewPr varScale="1">
        <p:scale>
          <a:sx n="109" d="100"/>
          <a:sy n="109" d="100"/>
        </p:scale>
        <p:origin x="1360" y="184"/>
      </p:cViewPr>
      <p:guideLst>
        <p:guide orient="horz" pos="2231"/>
        <p:guide pos="3840"/>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2026/5/27</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2026/5/27</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t>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2.xml"/><Relationship Id="rId5" Type="http://schemas.openxmlformats.org/officeDocument/2006/relationships/tags" Target="../tags/tag11.xml"/><Relationship Id="rId4" Type="http://schemas.openxmlformats.org/officeDocument/2006/relationships/tags" Target="../tags/tag10.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2.xml"/><Relationship Id="rId5" Type="http://schemas.openxmlformats.org/officeDocument/2006/relationships/tags" Target="../tags/tag16.xml"/><Relationship Id="rId4"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2.xml"/><Relationship Id="rId5" Type="http://schemas.openxmlformats.org/officeDocument/2006/relationships/tags" Target="../tags/tag21.xml"/><Relationship Id="rId4" Type="http://schemas.openxmlformats.org/officeDocument/2006/relationships/tags" Target="../tags/tag20.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2.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2.xml"/><Relationship Id="rId4" Type="http://schemas.openxmlformats.org/officeDocument/2006/relationships/tags" Target="../tags/tag39.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2.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2.xml"/><Relationship Id="rId5" Type="http://schemas.openxmlformats.org/officeDocument/2006/relationships/tags" Target="../tags/tag53.xml"/><Relationship Id="rId4" Type="http://schemas.openxmlformats.org/officeDocument/2006/relationships/tags" Target="../tags/tag52.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2.xml"/><Relationship Id="rId4" Type="http://schemas.openxmlformats.org/officeDocument/2006/relationships/tags" Target="../tags/tag57.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2.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4400" b="0">
                <a:effectLst/>
              </a:defRPr>
            </a:lvl1pPr>
          </a:lstStyle>
          <a:p>
            <a:r>
              <a:rPr lang="zh-CN" altLang="en-US" dirty="0"/>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49" y="469127"/>
            <a:ext cx="10307927" cy="4093347"/>
          </a:xfrm>
        </p:spPr>
        <p:txBody>
          <a:bodyPr anchor="b">
            <a:normAutofit/>
          </a:bodyPr>
          <a:lstStyle>
            <a:lvl1pPr>
              <a:defRPr sz="6000">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10307926" cy="647555"/>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4400" b="0" i="0">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fld id="{760FBDFE-C587-4B4C-A407-44438C67B59E}"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dirty="0"/>
              <a:t>单击此处编辑母版标题样式</a:t>
            </a:r>
          </a:p>
        </p:txBody>
      </p:sp>
      <p:sp>
        <p:nvSpPr>
          <p:cNvPr id="3" name="文本占位符 2"/>
          <p:cNvSpPr>
            <a:spLocks noGrp="1"/>
          </p:cNvSpPr>
          <p:nvPr>
            <p:ph type="body" idx="1"/>
          </p:nvPr>
        </p:nvSpPr>
        <p:spPr>
          <a:xfrm>
            <a:off x="839788" y="1744961"/>
            <a:ext cx="5157787"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fld id="{760FBDFE-C587-4B4C-A407-44438C67B59E}" type="datetimeFigureOut">
              <a:rPr lang="zh-CN" altLang="en-US" smtClean="0"/>
              <a:t>2026/5/27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400" b="0">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2026/5/27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3200" b="0">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2026/5/27</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4400"/>
            </a:lvl1pPr>
          </a:lstStyle>
          <a:p>
            <a:r>
              <a:rPr lang="zh-CN" altLang="en-US" dirty="0"/>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2026/5/27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2026/5/27</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charset="-122"/>
                <a:cs typeface="+mn-cs"/>
                <a:sym typeface="+mn-ea"/>
              </a:defRPr>
            </a:lvl5pPr>
            <a:lvl6pPr marL="2286000" indent="0">
              <a:buNone/>
              <a:defRPr/>
            </a:lvl6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2026/5/27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2026/5/27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2026/5/27</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2026/5/27</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2026/5/27</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2026/5/27</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charset="-122"/>
              </a:defRPr>
            </a:lvl5pPr>
          </a:lstStyle>
          <a:p>
            <a:pPr lvl="0"/>
            <a:r>
              <a:rPr dirty="0">
                <a:sym typeface="+mn-ea"/>
              </a:rPr>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2026/5/27</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lvl1pPr>
              <a:defRPr baseline="0"/>
            </a:lvl1pPr>
          </a:lstStyle>
          <a:p>
            <a:r>
              <a:rPr lang="zh-CN" altLang="en-US"/>
              <a:t>单击此处编辑母版标题样式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charset="-122"/>
                <a:cs typeface="+mj-cs"/>
                <a:sym typeface="+mn-ea"/>
              </a:defRPr>
            </a:lvl1pPr>
          </a:lstStyle>
          <a:p>
            <a:pPr lvl="0"/>
            <a:r>
              <a:rPr dirty="0">
                <a:sym typeface="+mn-ea"/>
              </a:rPr>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2026/5/27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2026/5/27</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2026/5/27</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charset="-122"/>
                <a:cs typeface="+mj-cs"/>
                <a:sym typeface="+mn-ea"/>
              </a:defRPr>
            </a:lvl1pPr>
          </a:lstStyle>
          <a:p>
            <a:pPr lvl="0"/>
            <a:r>
              <a:rPr>
                <a:sym typeface="+mn-ea"/>
              </a:rPr>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17" Type="http://schemas.openxmlformats.org/officeDocument/2006/relationships/tags" Target="../tags/tag5.xml"/><Relationship Id="rId2" Type="http://schemas.openxmlformats.org/officeDocument/2006/relationships/slideLayout" Target="../slideLayouts/slideLayout12.xml"/><Relationship Id="rId16" Type="http://schemas.openxmlformats.org/officeDocument/2006/relationships/tags" Target="../tags/tag4.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tags" Target="../tags/tag3.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2026/5/27</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charset="-122"/>
              </a:defRPr>
            </a:lvl1pPr>
          </a:lstStyle>
          <a:p>
            <a:fld id="{760FBDFE-C587-4B4C-A407-44438C67B59E}" type="datetimeFigureOut">
              <a:rPr lang="zh-CN" altLang="en-US" smtClean="0"/>
              <a:t>2026/5/27</a:t>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charset="-122"/>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charset="-122"/>
              </a:defRPr>
            </a:lvl1pPr>
          </a:lstStyle>
          <a:p>
            <a:fld id="{49AE70B2-8BF9-45C0-BB95-33D1B9D3A854}" type="slidenum">
              <a:rPr lang="zh-CN" altLang="en-US" smtClean="0"/>
              <a:t>‹#›</a:t>
            </a:fld>
            <a:endParaRPr lang="zh-CN" altLang="en-US" dirty="0"/>
          </a:p>
        </p:txBody>
      </p:sp>
      <p:sp>
        <p:nvSpPr>
          <p:cNvPr id="7" name="KSO_TEMPLATE" hidden="1"/>
          <p:cNvSpPr/>
          <p:nvPr>
            <p:custDataLst>
              <p:tags r:id="rId1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70.xml"/><Relationship Id="rId13" Type="http://schemas.openxmlformats.org/officeDocument/2006/relationships/tags" Target="../tags/tag75.xml"/><Relationship Id="rId3" Type="http://schemas.openxmlformats.org/officeDocument/2006/relationships/tags" Target="../tags/tag65.xml"/><Relationship Id="rId7" Type="http://schemas.openxmlformats.org/officeDocument/2006/relationships/tags" Target="../tags/tag69.xml"/><Relationship Id="rId12" Type="http://schemas.openxmlformats.org/officeDocument/2006/relationships/tags" Target="../tags/tag74.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tags" Target="../tags/tag68.xml"/><Relationship Id="rId11" Type="http://schemas.openxmlformats.org/officeDocument/2006/relationships/tags" Target="../tags/tag73.xml"/><Relationship Id="rId5" Type="http://schemas.openxmlformats.org/officeDocument/2006/relationships/tags" Target="../tags/tag67.xml"/><Relationship Id="rId10" Type="http://schemas.openxmlformats.org/officeDocument/2006/relationships/tags" Target="../tags/tag72.xml"/><Relationship Id="rId4" Type="http://schemas.openxmlformats.org/officeDocument/2006/relationships/tags" Target="../tags/tag66.xml"/><Relationship Id="rId9" Type="http://schemas.openxmlformats.org/officeDocument/2006/relationships/tags" Target="../tags/tag71.xml"/><Relationship Id="rId14"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77.xml"/><Relationship Id="rId1" Type="http://schemas.openxmlformats.org/officeDocument/2006/relationships/tags" Target="../tags/tag76.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79.xml"/><Relationship Id="rId1" Type="http://schemas.openxmlformats.org/officeDocument/2006/relationships/tags" Target="../tags/tag78.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81.xml"/><Relationship Id="rId1" Type="http://schemas.openxmlformats.org/officeDocument/2006/relationships/tags" Target="../tags/tag80.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7.png"/><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slideLayout" Target="../slideLayouts/slideLayout11.xml"/><Relationship Id="rId7" Type="http://schemas.openxmlformats.org/officeDocument/2006/relationships/image" Target="../media/image11.png"/><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87.xml"/><Relationship Id="rId1" Type="http://schemas.openxmlformats.org/officeDocument/2006/relationships/tags" Target="../tags/tag86.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89.xml"/><Relationship Id="rId1" Type="http://schemas.openxmlformats.org/officeDocument/2006/relationships/tags" Target="../tags/tag88.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91.xml"/><Relationship Id="rId1" Type="http://schemas.openxmlformats.org/officeDocument/2006/relationships/tags" Target="../tags/tag90.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93.xml"/><Relationship Id="rId1" Type="http://schemas.openxmlformats.org/officeDocument/2006/relationships/tags" Target="../tags/tag9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97.xml"/><Relationship Id="rId1" Type="http://schemas.openxmlformats.org/officeDocument/2006/relationships/tags" Target="../tags/tag96.xml"/><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image" Target="../media/image21.png"/><Relationship Id="rId5" Type="http://schemas.openxmlformats.org/officeDocument/2006/relationships/image" Target="../media/image7.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01.xml"/><Relationship Id="rId1" Type="http://schemas.openxmlformats.org/officeDocument/2006/relationships/tags" Target="../tags/tag100.xml"/></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slideLayout" Target="../slideLayouts/slideLayout11.xml"/><Relationship Id="rId7" Type="http://schemas.openxmlformats.org/officeDocument/2006/relationships/image" Target="../media/image23.png"/><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image" Target="../media/image22.png"/><Relationship Id="rId5" Type="http://schemas.openxmlformats.org/officeDocument/2006/relationships/image" Target="../media/image20.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05.xml"/><Relationship Id="rId1" Type="http://schemas.openxmlformats.org/officeDocument/2006/relationships/tags" Target="../tags/tag104.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07.xml"/><Relationship Id="rId1" Type="http://schemas.openxmlformats.org/officeDocument/2006/relationships/tags" Target="../tags/tag106.xml"/><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09.xml"/><Relationship Id="rId1" Type="http://schemas.openxmlformats.org/officeDocument/2006/relationships/tags" Target="../tags/tag108.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11.xml"/><Relationship Id="rId1" Type="http://schemas.openxmlformats.org/officeDocument/2006/relationships/tags" Target="../tags/tag110.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13.xml"/><Relationship Id="rId1" Type="http://schemas.openxmlformats.org/officeDocument/2006/relationships/tags" Target="../tags/tag112.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17.xml"/><Relationship Id="rId1" Type="http://schemas.openxmlformats.org/officeDocument/2006/relationships/tags" Target="../tags/tag116.xml"/><Relationship Id="rId5" Type="http://schemas.openxmlformats.org/officeDocument/2006/relationships/image" Target="../media/image33.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19.xml"/><Relationship Id="rId1" Type="http://schemas.openxmlformats.org/officeDocument/2006/relationships/tags" Target="../tags/tag118.x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23.xml"/><Relationship Id="rId1" Type="http://schemas.openxmlformats.org/officeDocument/2006/relationships/tags" Target="../tags/tag122.xml"/><Relationship Id="rId5" Type="http://schemas.openxmlformats.org/officeDocument/2006/relationships/image" Target="../media/image39.png"/><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25.xml"/><Relationship Id="rId1" Type="http://schemas.openxmlformats.org/officeDocument/2006/relationships/tags" Target="../tags/tag124.xml"/><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27.xml"/><Relationship Id="rId1" Type="http://schemas.openxmlformats.org/officeDocument/2006/relationships/tags" Target="../tags/tag126.xml"/><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29.xml"/><Relationship Id="rId1" Type="http://schemas.openxmlformats.org/officeDocument/2006/relationships/tags" Target="../tags/tag128.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44.png"/><Relationship Id="rId2" Type="http://schemas.openxmlformats.org/officeDocument/2006/relationships/tags" Target="../tags/tag131.xml"/><Relationship Id="rId1" Type="http://schemas.openxmlformats.org/officeDocument/2006/relationships/tags" Target="../tags/tag130.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46.png"/><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image" Target="../media/image42.png"/><Relationship Id="rId5" Type="http://schemas.openxmlformats.org/officeDocument/2006/relationships/image" Target="../media/image43.png"/><Relationship Id="rId4" Type="http://schemas.openxmlformats.org/officeDocument/2006/relationships/image" Target="../media/image45.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35.xml"/><Relationship Id="rId1" Type="http://schemas.openxmlformats.org/officeDocument/2006/relationships/tags" Target="../tags/tag134.xml"/><Relationship Id="rId5" Type="http://schemas.openxmlformats.org/officeDocument/2006/relationships/image" Target="../media/image47.png"/><Relationship Id="rId4" Type="http://schemas.openxmlformats.org/officeDocument/2006/relationships/image" Target="../media/image45.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50.png"/><Relationship Id="rId2" Type="http://schemas.openxmlformats.org/officeDocument/2006/relationships/tags" Target="../tags/tag137.xml"/><Relationship Id="rId1" Type="http://schemas.openxmlformats.org/officeDocument/2006/relationships/tags" Target="../tags/tag136.xml"/><Relationship Id="rId6" Type="http://schemas.openxmlformats.org/officeDocument/2006/relationships/image" Target="../media/image49.png"/><Relationship Id="rId5" Type="http://schemas.openxmlformats.org/officeDocument/2006/relationships/image" Target="../media/image45.png"/><Relationship Id="rId4" Type="http://schemas.openxmlformats.org/officeDocument/2006/relationships/image" Target="../media/image48.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39.xml"/><Relationship Id="rId1" Type="http://schemas.openxmlformats.org/officeDocument/2006/relationships/tags" Target="../tags/tag138.xml"/><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41.xml"/><Relationship Id="rId1" Type="http://schemas.openxmlformats.org/officeDocument/2006/relationships/tags" Target="../tags/tag140.xml"/><Relationship Id="rId5" Type="http://schemas.openxmlformats.org/officeDocument/2006/relationships/image" Target="../media/image52.png"/><Relationship Id="rId4" Type="http://schemas.openxmlformats.org/officeDocument/2006/relationships/image" Target="../media/image51.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43.xml"/><Relationship Id="rId1" Type="http://schemas.openxmlformats.org/officeDocument/2006/relationships/tags" Target="../tags/tag14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144.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322962"/>
            <a:ext cx="9144000" cy="2187001"/>
          </a:xfrm>
        </p:spPr>
        <p:txBody>
          <a:bodyPr>
            <a:normAutofit fontScale="90000"/>
          </a:bodyPr>
          <a:lstStyle/>
          <a:p>
            <a:r>
              <a:rPr lang="zh-CN" altLang="en-US" dirty="0">
                <a:effectLst/>
                <a:latin typeface="微软雅黑" charset="0"/>
                <a:ea typeface="微软雅黑" charset="0"/>
              </a:rPr>
              <a:t>从线性回归到纵向潜变量模型</a:t>
            </a:r>
          </a:p>
        </p:txBody>
      </p:sp>
      <p:sp>
        <p:nvSpPr>
          <p:cNvPr id="5" name="副标题 4"/>
          <p:cNvSpPr>
            <a:spLocks noGrp="1"/>
          </p:cNvSpPr>
          <p:nvPr>
            <p:ph type="subTitle" idx="1"/>
          </p:nvPr>
        </p:nvSpPr>
        <p:spPr>
          <a:xfrm>
            <a:off x="1524000" y="3602037"/>
            <a:ext cx="9144000" cy="2530157"/>
          </a:xfrm>
        </p:spPr>
        <p:txBody>
          <a:bodyPr/>
          <a:lstStyle/>
          <a:p>
            <a:pPr algn="r"/>
            <a:r>
              <a:rPr lang="zh-CN" altLang="en-US" sz="3200" dirty="0">
                <a:latin typeface="微软雅黑" charset="0"/>
                <a:ea typeface="微软雅黑" charset="0"/>
                <a:cs typeface="微软雅黑" charset="0"/>
              </a:rPr>
              <a:t>——快速入门模型分析</a:t>
            </a:r>
          </a:p>
          <a:p>
            <a:pPr algn="r"/>
            <a:endParaRPr lang="zh-CN" altLang="en-US" dirty="0">
              <a:latin typeface="+mn-lt"/>
            </a:endParaRPr>
          </a:p>
          <a:p>
            <a:pPr algn="r"/>
            <a:r>
              <a:rPr lang="zh-CN" altLang="en-US" dirty="0">
                <a:latin typeface="+mn-lt"/>
              </a:rPr>
              <a:t>汇报人：孙浩楠</a:t>
            </a:r>
            <a:endParaRPr lang="en-US" altLang="zh-CN" dirty="0">
              <a:latin typeface="+mn-lt"/>
            </a:endParaRPr>
          </a:p>
          <a:p>
            <a:pPr algn="r"/>
            <a:r>
              <a:rPr lang="en-US" altLang="zh-CN" dirty="0">
                <a:latin typeface="+mn-lt"/>
              </a:rPr>
              <a:t>2022/11/15</a:t>
            </a:r>
            <a:endParaRPr lang="zh-CN" altLang="en-US" dirty="0">
              <a:latin typeface="+mn-lt"/>
            </a:endParaRPr>
          </a:p>
        </p:txBody>
      </p:sp>
      <p:pic>
        <p:nvPicPr>
          <p:cNvPr id="3" name="图片 2" descr="logo"/>
          <p:cNvPicPr>
            <a:picLocks noChangeAspect="1"/>
          </p:cNvPicPr>
          <p:nvPr/>
        </p:nvPicPr>
        <p:blipFill>
          <a:blip r:embed="rId3">
            <a:alphaModFix amt="20000"/>
          </a:blip>
          <a:stretch>
            <a:fillRect/>
          </a:stretch>
        </p:blipFill>
        <p:spPr>
          <a:xfrm>
            <a:off x="3253740" y="458470"/>
            <a:ext cx="5685155" cy="56737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custDataLst>
              <p:tags r:id="rId2"/>
            </p:custDataLst>
          </p:nvPr>
        </p:nvSpPr>
        <p:spPr>
          <a:xfrm>
            <a:off x="5768975" y="1936113"/>
            <a:ext cx="958850" cy="768350"/>
          </a:xfrm>
          <a:prstGeom prst="rect">
            <a:avLst/>
          </a:prstGeom>
          <a:noFill/>
        </p:spPr>
        <p:txBody>
          <a:bodyPr wrap="square" rtlCol="0">
            <a:normAutofit/>
          </a:bodyPr>
          <a:lstStyle/>
          <a:p>
            <a:r>
              <a:rPr lang="en-US" altLang="zh-CN" sz="4400" b="1" dirty="0">
                <a:latin typeface="Arial" panose="020B0604020202020204" pitchFamily="34" charset="0"/>
                <a:ea typeface="微软雅黑" charset="-122"/>
                <a:cs typeface="Arial" panose="020B0604020202020204" pitchFamily="34" charset="0"/>
                <a:sym typeface="Arial" panose="020B0604020202020204" pitchFamily="34" charset="0"/>
              </a:rPr>
              <a:t>01.</a:t>
            </a:r>
          </a:p>
        </p:txBody>
      </p:sp>
      <p:sp>
        <p:nvSpPr>
          <p:cNvPr id="18" name="文本框 17"/>
          <p:cNvSpPr txBox="1"/>
          <p:nvPr>
            <p:custDataLst>
              <p:tags r:id="rId3"/>
            </p:custDataLst>
          </p:nvPr>
        </p:nvSpPr>
        <p:spPr>
          <a:xfrm>
            <a:off x="6878955" y="1936113"/>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solidFill>
                  <a:schemeClr val="tx1">
                    <a:lumMod val="65000"/>
                    <a:lumOff val="35000"/>
                  </a:schemeClr>
                </a:solidFill>
                <a:latin typeface="Arial" panose="020B0604020202020204" pitchFamily="34" charset="0"/>
                <a:ea typeface="微软雅黑" charset="-122"/>
                <a:cs typeface="微软雅黑" charset="-122"/>
                <a:sym typeface="Arial" panose="020B0604020202020204" pitchFamily="34" charset="0"/>
              </a:rPr>
              <a:t>从回归到结构方程模型</a:t>
            </a:r>
          </a:p>
        </p:txBody>
      </p:sp>
      <p:sp>
        <p:nvSpPr>
          <p:cNvPr id="26" name="文本框 25"/>
          <p:cNvSpPr txBox="1"/>
          <p:nvPr>
            <p:custDataLst>
              <p:tags r:id="rId4"/>
            </p:custDataLst>
          </p:nvPr>
        </p:nvSpPr>
        <p:spPr>
          <a:xfrm>
            <a:off x="5768975" y="2948305"/>
            <a:ext cx="958850" cy="768350"/>
          </a:xfrm>
          <a:prstGeom prst="rect">
            <a:avLst/>
          </a:prstGeom>
          <a:noFill/>
        </p:spPr>
        <p:txBody>
          <a:bodyPr wrap="square" rtlCol="0">
            <a:normAutofit/>
          </a:bodyPr>
          <a:lstStyle/>
          <a:p>
            <a:r>
              <a:rPr lang="en-US" altLang="zh-CN" sz="4400" b="1" dirty="0">
                <a:latin typeface="Arial" panose="020B0604020202020204" pitchFamily="34" charset="0"/>
                <a:ea typeface="微软雅黑" charset="-122"/>
                <a:cs typeface="Arial" panose="020B0604020202020204" pitchFamily="34" charset="0"/>
                <a:sym typeface="Arial" panose="020B0604020202020204" pitchFamily="34" charset="0"/>
              </a:rPr>
              <a:t>02.</a:t>
            </a:r>
          </a:p>
        </p:txBody>
      </p:sp>
      <p:sp>
        <p:nvSpPr>
          <p:cNvPr id="29" name="文本框 28"/>
          <p:cNvSpPr txBox="1"/>
          <p:nvPr>
            <p:custDataLst>
              <p:tags r:id="rId5"/>
            </p:custDataLst>
          </p:nvPr>
        </p:nvSpPr>
        <p:spPr>
          <a:xfrm>
            <a:off x="5768975" y="3960494"/>
            <a:ext cx="958850" cy="768350"/>
          </a:xfrm>
          <a:prstGeom prst="rect">
            <a:avLst/>
          </a:prstGeom>
          <a:noFill/>
        </p:spPr>
        <p:txBody>
          <a:bodyPr wrap="square" rtlCol="0">
            <a:normAutofit/>
          </a:bodyPr>
          <a:lstStyle/>
          <a:p>
            <a:r>
              <a:rPr lang="en-US" altLang="zh-CN" sz="4400" b="1">
                <a:latin typeface="Arial" panose="020B0604020202020204" pitchFamily="34" charset="0"/>
                <a:ea typeface="微软雅黑" charset="-122"/>
                <a:cs typeface="Arial" panose="020B0604020202020204" pitchFamily="34" charset="0"/>
                <a:sym typeface="Arial" panose="020B0604020202020204" pitchFamily="34" charset="0"/>
              </a:rPr>
              <a:t>03.</a:t>
            </a:r>
          </a:p>
        </p:txBody>
      </p:sp>
      <p:sp>
        <p:nvSpPr>
          <p:cNvPr id="32" name="文本框 31"/>
          <p:cNvSpPr txBox="1"/>
          <p:nvPr>
            <p:custDataLst>
              <p:tags r:id="rId6"/>
            </p:custDataLst>
          </p:nvPr>
        </p:nvSpPr>
        <p:spPr>
          <a:xfrm>
            <a:off x="5768975" y="4972685"/>
            <a:ext cx="958850" cy="768350"/>
          </a:xfrm>
          <a:prstGeom prst="rect">
            <a:avLst/>
          </a:prstGeom>
          <a:noFill/>
        </p:spPr>
        <p:txBody>
          <a:bodyPr wrap="square" rtlCol="0">
            <a:normAutofit/>
          </a:bodyPr>
          <a:lstStyle/>
          <a:p>
            <a:r>
              <a:rPr lang="en-US" altLang="zh-CN" sz="4400" b="1">
                <a:latin typeface="Arial" panose="020B0604020202020204" pitchFamily="34" charset="0"/>
                <a:ea typeface="微软雅黑" charset="-122"/>
                <a:cs typeface="Arial" panose="020B0604020202020204" pitchFamily="34" charset="0"/>
                <a:sym typeface="Arial" panose="020B0604020202020204" pitchFamily="34" charset="0"/>
              </a:rPr>
              <a:t>04.</a:t>
            </a:r>
          </a:p>
        </p:txBody>
      </p:sp>
      <p:cxnSp>
        <p:nvCxnSpPr>
          <p:cNvPr id="38" name="直接连接符 37"/>
          <p:cNvCxnSpPr/>
          <p:nvPr>
            <p:custDataLst>
              <p:tags r:id="rId7"/>
            </p:custDataLst>
          </p:nvPr>
        </p:nvCxnSpPr>
        <p:spPr>
          <a:xfrm>
            <a:off x="5876925" y="1515110"/>
            <a:ext cx="5248275" cy="0"/>
          </a:xfrm>
          <a:prstGeom prst="line">
            <a:avLst/>
          </a:prstGeom>
          <a:ln>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4" name="文本框 13"/>
          <p:cNvSpPr txBox="1"/>
          <p:nvPr>
            <p:custDataLst>
              <p:tags r:id="rId8"/>
            </p:custDataLst>
          </p:nvPr>
        </p:nvSpPr>
        <p:spPr>
          <a:xfrm>
            <a:off x="887096" y="1393190"/>
            <a:ext cx="1851660" cy="768350"/>
          </a:xfrm>
          <a:prstGeom prst="rect">
            <a:avLst/>
          </a:prstGeom>
          <a:noFill/>
        </p:spPr>
        <p:txBody>
          <a:bodyPr wrap="square" rtlCol="0">
            <a:normAutofit fontScale="97500"/>
          </a:bodyPr>
          <a:lstStyle/>
          <a:p>
            <a:pPr algn="r"/>
            <a:r>
              <a:rPr lang="zh-CN" altLang="en-US" sz="4400" b="1" spc="300" dirty="0">
                <a:solidFill>
                  <a:schemeClr val="tx1">
                    <a:lumMod val="85000"/>
                    <a:lumOff val="15000"/>
                  </a:schemeClr>
                </a:solidFill>
                <a:latin typeface="Arial" panose="020B0604020202020204" pitchFamily="34" charset="0"/>
                <a:ea typeface="微软雅黑" charset="-122"/>
                <a:sym typeface="Arial" panose="020B0604020202020204" pitchFamily="34" charset="0"/>
              </a:rPr>
              <a:t>目录</a:t>
            </a:r>
          </a:p>
        </p:txBody>
      </p:sp>
      <p:sp>
        <p:nvSpPr>
          <p:cNvPr id="15" name="文本框 14"/>
          <p:cNvSpPr txBox="1"/>
          <p:nvPr>
            <p:custDataLst>
              <p:tags r:id="rId9"/>
            </p:custDataLst>
          </p:nvPr>
        </p:nvSpPr>
        <p:spPr>
          <a:xfrm>
            <a:off x="887095" y="2161540"/>
            <a:ext cx="1851660" cy="368300"/>
          </a:xfrm>
          <a:prstGeom prst="rect">
            <a:avLst/>
          </a:prstGeom>
          <a:noFill/>
        </p:spPr>
        <p:txBody>
          <a:bodyPr wrap="square" rtlCol="0">
            <a:normAutofit/>
          </a:bodyPr>
          <a:lstStyle/>
          <a:p>
            <a:pPr algn="r"/>
            <a:r>
              <a:rPr lang="en-US" altLang="zh-CN" spc="300" dirty="0">
                <a:solidFill>
                  <a:schemeClr val="tx1">
                    <a:lumMod val="65000"/>
                    <a:lumOff val="35000"/>
                  </a:schemeClr>
                </a:solidFill>
                <a:latin typeface="Arial" panose="020B0604020202020204" pitchFamily="34" charset="0"/>
                <a:ea typeface="微软雅黑" charset="-122"/>
                <a:cs typeface="Arial" panose="020B0604020202020204" pitchFamily="34" charset="0"/>
                <a:sym typeface="Arial" panose="020B0604020202020204" pitchFamily="34" charset="0"/>
              </a:rPr>
              <a:t>CONTENTS</a:t>
            </a:r>
          </a:p>
        </p:txBody>
      </p:sp>
      <p:sp>
        <p:nvSpPr>
          <p:cNvPr id="16" name="矩形 15"/>
          <p:cNvSpPr/>
          <p:nvPr>
            <p:custDataLst>
              <p:tags r:id="rId10"/>
            </p:custDataLst>
          </p:nvPr>
        </p:nvSpPr>
        <p:spPr>
          <a:xfrm>
            <a:off x="2897505" y="1515110"/>
            <a:ext cx="76200" cy="92265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charset="-122"/>
              <a:sym typeface="Arial" panose="020B0604020202020204" pitchFamily="34" charset="0"/>
            </a:endParaRPr>
          </a:p>
        </p:txBody>
      </p:sp>
      <p:sp>
        <p:nvSpPr>
          <p:cNvPr id="19" name="文本框 18"/>
          <p:cNvSpPr txBox="1"/>
          <p:nvPr>
            <p:custDataLst>
              <p:tags r:id="rId11"/>
            </p:custDataLst>
          </p:nvPr>
        </p:nvSpPr>
        <p:spPr>
          <a:xfrm>
            <a:off x="6878955" y="2948305"/>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solidFill>
                  <a:schemeClr val="tx1">
                    <a:lumMod val="65000"/>
                    <a:lumOff val="35000"/>
                  </a:schemeClr>
                </a:solidFill>
                <a:latin typeface="Arial" panose="020B0604020202020204" pitchFamily="34" charset="0"/>
                <a:ea typeface="微软雅黑" charset="-122"/>
                <a:cs typeface="微软雅黑" charset="-122"/>
                <a:sym typeface="Arial" panose="020B0604020202020204" pitchFamily="34" charset="0"/>
              </a:rPr>
              <a:t>从结构方程模型到潜变量模型</a:t>
            </a:r>
          </a:p>
        </p:txBody>
      </p:sp>
      <p:sp>
        <p:nvSpPr>
          <p:cNvPr id="20" name="文本框 19"/>
          <p:cNvSpPr txBox="1"/>
          <p:nvPr>
            <p:custDataLst>
              <p:tags r:id="rId12"/>
            </p:custDataLst>
          </p:nvPr>
        </p:nvSpPr>
        <p:spPr>
          <a:xfrm>
            <a:off x="6878955" y="3960494"/>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solidFill>
                  <a:schemeClr val="tx1">
                    <a:lumMod val="65000"/>
                    <a:lumOff val="35000"/>
                  </a:schemeClr>
                </a:solidFill>
                <a:latin typeface="Arial" panose="020B0604020202020204" pitchFamily="34" charset="0"/>
                <a:ea typeface="微软雅黑" charset="-122"/>
                <a:cs typeface="微软雅黑" charset="-122"/>
                <a:sym typeface="Arial" panose="020B0604020202020204" pitchFamily="34" charset="0"/>
              </a:rPr>
              <a:t>纵向潜变量模型</a:t>
            </a:r>
          </a:p>
        </p:txBody>
      </p:sp>
      <p:sp>
        <p:nvSpPr>
          <p:cNvPr id="21" name="文本框 20"/>
          <p:cNvSpPr txBox="1"/>
          <p:nvPr>
            <p:custDataLst>
              <p:tags r:id="rId13"/>
            </p:custDataLst>
          </p:nvPr>
        </p:nvSpPr>
        <p:spPr>
          <a:xfrm>
            <a:off x="6878955" y="4972685"/>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solidFill>
                  <a:schemeClr val="tx1">
                    <a:lumMod val="65000"/>
                    <a:lumOff val="35000"/>
                  </a:schemeClr>
                </a:solidFill>
                <a:latin typeface="Arial" panose="020B0604020202020204" pitchFamily="34" charset="0"/>
                <a:ea typeface="微软雅黑" charset="-122"/>
                <a:cs typeface="微软雅黑" charset="-122"/>
                <a:sym typeface="Arial" panose="020B0604020202020204" pitchFamily="34" charset="0"/>
              </a:rPr>
              <a:t>总结和思考</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solidFill>
                  <a:schemeClr val="tx1"/>
                </a:solidFill>
                <a:latin typeface="Arial" panose="020B0604020202020204" pitchFamily="34" charset="0"/>
                <a:ea typeface="微软雅黑" charset="-122"/>
                <a:cs typeface="微软雅黑" charset="-122"/>
                <a:sym typeface="Arial" panose="020B0604020202020204" pitchFamily="34" charset="0"/>
              </a:rPr>
              <a:t>回归模型</a:t>
            </a:r>
          </a:p>
        </p:txBody>
      </p:sp>
      <p:sp>
        <p:nvSpPr>
          <p:cNvPr id="5" name="文本框 4"/>
          <p:cNvSpPr txBox="1"/>
          <p:nvPr/>
        </p:nvSpPr>
        <p:spPr>
          <a:xfrm>
            <a:off x="2831465" y="1327785"/>
            <a:ext cx="5223510" cy="4523105"/>
          </a:xfrm>
          <a:prstGeom prst="rect">
            <a:avLst/>
          </a:prstGeom>
          <a:noFill/>
        </p:spPr>
        <p:txBody>
          <a:bodyPr wrap="square" rtlCol="0">
            <a:spAutoFit/>
          </a:bodyPr>
          <a:lstStyle/>
          <a:p>
            <a:pPr fontAlgn="auto">
              <a:lnSpc>
                <a:spcPct val="200000"/>
              </a:lnSpc>
            </a:pPr>
            <a:r>
              <a:rPr lang="zh-CN" altLang="en-US" sz="2400"/>
              <a:t>小孙同学收集了</a:t>
            </a:r>
            <a:r>
              <a:rPr lang="en-US" altLang="zh-CN" sz="2400"/>
              <a:t>1000</a:t>
            </a:r>
            <a:r>
              <a:rPr lang="zh-CN" altLang="en-US" sz="2400"/>
              <a:t>名在校的学生的：</a:t>
            </a:r>
          </a:p>
          <a:p>
            <a:pPr fontAlgn="auto">
              <a:lnSpc>
                <a:spcPct val="200000"/>
              </a:lnSpc>
            </a:pPr>
            <a:r>
              <a:rPr lang="en-US" altLang="zh-CN" sz="2400"/>
              <a:t>1.</a:t>
            </a:r>
            <a:r>
              <a:rPr lang="zh-CN" altLang="en-US" sz="2400"/>
              <a:t>睡眠质量</a:t>
            </a:r>
          </a:p>
          <a:p>
            <a:pPr fontAlgn="auto">
              <a:lnSpc>
                <a:spcPct val="200000"/>
              </a:lnSpc>
            </a:pPr>
            <a:r>
              <a:rPr lang="en-US" altLang="zh-CN" sz="2400"/>
              <a:t>2.</a:t>
            </a:r>
            <a:r>
              <a:rPr lang="zh-CN" altLang="en-US" sz="2400"/>
              <a:t>多维梦境问卷</a:t>
            </a:r>
          </a:p>
          <a:p>
            <a:pPr fontAlgn="auto">
              <a:lnSpc>
                <a:spcPct val="200000"/>
              </a:lnSpc>
            </a:pPr>
            <a:r>
              <a:rPr lang="en-US" altLang="zh-CN" sz="2400"/>
              <a:t>3.</a:t>
            </a:r>
            <a:r>
              <a:rPr lang="zh-CN" altLang="en-US" sz="2400"/>
              <a:t>焦虑和抑郁量表</a:t>
            </a:r>
          </a:p>
          <a:p>
            <a:pPr fontAlgn="auto">
              <a:lnSpc>
                <a:spcPct val="200000"/>
              </a:lnSpc>
            </a:pPr>
            <a:r>
              <a:rPr lang="en-US" altLang="zh-CN" sz="2400"/>
              <a:t>4.</a:t>
            </a:r>
            <a:r>
              <a:rPr lang="zh-CN" altLang="en-US" sz="2400"/>
              <a:t>幸福感量表</a:t>
            </a:r>
            <a:endParaRPr lang="en-US" altLang="zh-CN" sz="2400"/>
          </a:p>
          <a:p>
            <a:pPr fontAlgn="auto">
              <a:lnSpc>
                <a:spcPct val="200000"/>
              </a:lnSpc>
            </a:pPr>
            <a:r>
              <a:rPr lang="en-US" altLang="zh-CN" sz="2400"/>
              <a:t>5.</a:t>
            </a:r>
            <a:r>
              <a:rPr lang="zh-CN" altLang="en-US" sz="2400"/>
              <a:t>人口学变量</a:t>
            </a:r>
          </a:p>
        </p:txBody>
      </p:sp>
      <p:pic>
        <p:nvPicPr>
          <p:cNvPr id="8" name="图片 8"/>
          <p:cNvPicPr>
            <a:picLocks noChangeAspect="1"/>
          </p:cNvPicPr>
          <p:nvPr/>
        </p:nvPicPr>
        <p:blipFill>
          <a:blip r:embed="rId4"/>
          <a:stretch>
            <a:fillRect/>
          </a:stretch>
        </p:blipFill>
        <p:spPr>
          <a:xfrm>
            <a:off x="1804670" y="867410"/>
            <a:ext cx="8340090" cy="5122545"/>
          </a:xfrm>
          <a:prstGeom prst="rect">
            <a:avLst/>
          </a:prstGeom>
          <a:noFill/>
          <a:ln>
            <a:noFill/>
          </a:ln>
        </p:spPr>
      </p:pic>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solidFill>
                  <a:schemeClr val="tx1"/>
                </a:solidFill>
                <a:latin typeface="Arial" panose="020B0604020202020204" pitchFamily="34" charset="0"/>
                <a:ea typeface="微软雅黑" charset="-122"/>
                <a:cs typeface="微软雅黑" charset="-122"/>
                <a:sym typeface="Arial" panose="020B0604020202020204" pitchFamily="34" charset="0"/>
              </a:rPr>
              <a:t>回归模型</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2661285" y="3406775"/>
            <a:ext cx="5844540" cy="2030095"/>
          </a:xfrm>
          <a:prstGeom prst="rect">
            <a:avLst/>
          </a:prstGeom>
          <a:noFill/>
        </p:spPr>
        <p:txBody>
          <a:bodyPr wrap="square" rtlCol="0">
            <a:spAutoFit/>
          </a:bodyPr>
          <a:lstStyle/>
          <a:p>
            <a:r>
              <a:rPr lang="zh-CN" altLang="en-US"/>
              <a:t>多元回归帮助我们解决了多自变量和因变量之间的关系</a:t>
            </a:r>
          </a:p>
          <a:p>
            <a:endParaRPr lang="zh-CN" altLang="en-US"/>
          </a:p>
          <a:p>
            <a:endParaRPr lang="zh-CN" altLang="en-US"/>
          </a:p>
          <a:p>
            <a:r>
              <a:rPr lang="zh-CN" altLang="en-US"/>
              <a:t>但如果我们同时考虑多个因变量时呢？</a:t>
            </a:r>
          </a:p>
          <a:p>
            <a:endParaRPr lang="zh-CN" altLang="en-US"/>
          </a:p>
          <a:p>
            <a:endParaRPr lang="zh-CN" altLang="en-US"/>
          </a:p>
          <a:p>
            <a:endParaRPr lang="zh-CN" altLang="en-US"/>
          </a:p>
        </p:txBody>
      </p:sp>
      <p:sp>
        <p:nvSpPr>
          <p:cNvPr id="100" name="文本框 99"/>
          <p:cNvSpPr txBox="1"/>
          <p:nvPr/>
        </p:nvSpPr>
        <p:spPr>
          <a:xfrm>
            <a:off x="2531745" y="1760220"/>
            <a:ext cx="6824345" cy="953135"/>
          </a:xfrm>
          <a:prstGeom prst="rect">
            <a:avLst/>
          </a:prstGeom>
          <a:noFill/>
          <a:ln w="9525">
            <a:noFill/>
          </a:ln>
        </p:spPr>
        <p:txBody>
          <a:bodyPr wrap="square">
            <a:spAutoFit/>
          </a:bodyPr>
          <a:lstStyle/>
          <a:p>
            <a:pPr marL="0" indent="0" algn="l"/>
            <a:r>
              <a:rPr lang="zh-CN" sz="2800" b="0">
                <a:solidFill>
                  <a:schemeClr val="tx1">
                    <a:lumMod val="65000"/>
                    <a:lumOff val="35000"/>
                  </a:schemeClr>
                </a:solidFill>
                <a:latin typeface="Calibri" charset="0"/>
                <a:cs typeface="宋体" charset="0"/>
              </a:rPr>
              <a:t>睡眠质量</a:t>
            </a:r>
            <a:r>
              <a:rPr lang="en-US" sz="2800" b="0">
                <a:solidFill>
                  <a:schemeClr val="tx1">
                    <a:lumMod val="65000"/>
                    <a:lumOff val="35000"/>
                  </a:schemeClr>
                </a:solidFill>
                <a:latin typeface="Calibri" charset="0"/>
                <a:cs typeface="宋体" charset="0"/>
              </a:rPr>
              <a:t>=β1*</a:t>
            </a:r>
            <a:r>
              <a:rPr lang="zh-CN" sz="2800" b="0">
                <a:solidFill>
                  <a:schemeClr val="tx1">
                    <a:lumMod val="65000"/>
                    <a:lumOff val="35000"/>
                  </a:schemeClr>
                </a:solidFill>
                <a:latin typeface="Calibri" charset="0"/>
                <a:cs typeface="宋体" charset="0"/>
              </a:rPr>
              <a:t>性别</a:t>
            </a:r>
            <a:r>
              <a:rPr lang="en-US" sz="2800" b="0">
                <a:solidFill>
                  <a:schemeClr val="tx1">
                    <a:lumMod val="65000"/>
                    <a:lumOff val="35000"/>
                  </a:schemeClr>
                </a:solidFill>
                <a:latin typeface="Calibri" charset="0"/>
                <a:cs typeface="宋体" charset="0"/>
              </a:rPr>
              <a:t>+β2*</a:t>
            </a:r>
            <a:r>
              <a:rPr lang="zh-CN" sz="2800" b="0">
                <a:solidFill>
                  <a:schemeClr val="tx1">
                    <a:lumMod val="65000"/>
                    <a:lumOff val="35000"/>
                  </a:schemeClr>
                </a:solidFill>
                <a:latin typeface="Calibri" charset="0"/>
                <a:cs typeface="宋体" charset="0"/>
              </a:rPr>
              <a:t>年级</a:t>
            </a:r>
            <a:r>
              <a:rPr lang="en-US" sz="2800" b="0">
                <a:solidFill>
                  <a:schemeClr val="tx1">
                    <a:lumMod val="65000"/>
                    <a:lumOff val="35000"/>
                  </a:schemeClr>
                </a:solidFill>
                <a:latin typeface="Calibri" charset="0"/>
                <a:cs typeface="宋体" charset="0"/>
              </a:rPr>
              <a:t>+β3*</a:t>
            </a:r>
            <a:r>
              <a:rPr lang="zh-CN" sz="2800" b="0">
                <a:solidFill>
                  <a:schemeClr val="tx1">
                    <a:lumMod val="65000"/>
                    <a:lumOff val="35000"/>
                  </a:schemeClr>
                </a:solidFill>
                <a:latin typeface="Calibri" charset="0"/>
                <a:cs typeface="宋体" charset="0"/>
              </a:rPr>
              <a:t>抑郁</a:t>
            </a:r>
            <a:r>
              <a:rPr lang="en-US" sz="2800" b="0">
                <a:solidFill>
                  <a:schemeClr val="tx1">
                    <a:lumMod val="65000"/>
                    <a:lumOff val="35000"/>
                  </a:schemeClr>
                </a:solidFill>
                <a:latin typeface="Calibri" charset="0"/>
                <a:cs typeface="宋体" charset="0"/>
              </a:rPr>
              <a:t>+c</a:t>
            </a:r>
            <a:endParaRPr lang="zh-CN" sz="2800" b="0">
              <a:solidFill>
                <a:schemeClr val="tx1">
                  <a:lumMod val="65000"/>
                  <a:lumOff val="35000"/>
                </a:schemeClr>
              </a:solidFill>
              <a:latin typeface="Calibri" charset="0"/>
              <a:cs typeface="宋体" charset="0"/>
            </a:endParaRPr>
          </a:p>
          <a:p>
            <a:pPr marL="0" indent="0" algn="l"/>
            <a:r>
              <a:rPr lang="zh-CN" sz="2800" b="0">
                <a:solidFill>
                  <a:schemeClr val="tx1">
                    <a:lumMod val="65000"/>
                    <a:lumOff val="35000"/>
                  </a:schemeClr>
                </a:solidFill>
                <a:latin typeface="Calibri" charset="0"/>
                <a:cs typeface="宋体" charset="0"/>
              </a:rPr>
              <a:t>梦境回忆</a:t>
            </a:r>
            <a:r>
              <a:rPr lang="en-US" sz="2800" b="0">
                <a:solidFill>
                  <a:schemeClr val="tx1">
                    <a:lumMod val="65000"/>
                    <a:lumOff val="35000"/>
                  </a:schemeClr>
                </a:solidFill>
                <a:latin typeface="Calibri" charset="0"/>
                <a:cs typeface="宋体" charset="0"/>
              </a:rPr>
              <a:t>=β4*</a:t>
            </a:r>
            <a:r>
              <a:rPr lang="zh-CN" sz="2800" b="0">
                <a:solidFill>
                  <a:schemeClr val="tx1">
                    <a:lumMod val="65000"/>
                    <a:lumOff val="35000"/>
                  </a:schemeClr>
                </a:solidFill>
                <a:latin typeface="Calibri" charset="0"/>
                <a:cs typeface="宋体" charset="0"/>
              </a:rPr>
              <a:t>性别</a:t>
            </a:r>
            <a:r>
              <a:rPr lang="en-US" sz="2800" b="0">
                <a:solidFill>
                  <a:schemeClr val="tx1">
                    <a:lumMod val="65000"/>
                    <a:lumOff val="35000"/>
                  </a:schemeClr>
                </a:solidFill>
                <a:latin typeface="Calibri" charset="0"/>
                <a:cs typeface="宋体" charset="0"/>
              </a:rPr>
              <a:t>+β5*</a:t>
            </a:r>
            <a:r>
              <a:rPr lang="zh-CN" sz="2800" b="0">
                <a:solidFill>
                  <a:schemeClr val="tx1">
                    <a:lumMod val="65000"/>
                    <a:lumOff val="35000"/>
                  </a:schemeClr>
                </a:solidFill>
                <a:latin typeface="Calibri" charset="0"/>
                <a:cs typeface="宋体" charset="0"/>
              </a:rPr>
              <a:t>年级</a:t>
            </a:r>
            <a:r>
              <a:rPr lang="en-US" sz="2800" b="0">
                <a:solidFill>
                  <a:schemeClr val="tx1">
                    <a:lumMod val="65000"/>
                    <a:lumOff val="35000"/>
                  </a:schemeClr>
                </a:solidFill>
                <a:latin typeface="Calibri" charset="0"/>
                <a:cs typeface="宋体" charset="0"/>
              </a:rPr>
              <a:t>+β6*</a:t>
            </a:r>
            <a:r>
              <a:rPr lang="zh-CN" sz="2800" b="0">
                <a:solidFill>
                  <a:schemeClr val="tx1">
                    <a:lumMod val="65000"/>
                    <a:lumOff val="35000"/>
                  </a:schemeClr>
                </a:solidFill>
                <a:latin typeface="Calibri" charset="0"/>
                <a:cs typeface="宋体" charset="0"/>
              </a:rPr>
              <a:t>抑郁</a:t>
            </a:r>
            <a:r>
              <a:rPr lang="en-US" sz="2800" b="0">
                <a:solidFill>
                  <a:schemeClr val="tx1">
                    <a:lumMod val="65000"/>
                    <a:lumOff val="35000"/>
                  </a:schemeClr>
                </a:solidFill>
                <a:latin typeface="Calibri" charset="0"/>
                <a:cs typeface="宋体" charset="0"/>
              </a:rPr>
              <a:t>+c</a:t>
            </a:r>
            <a:endParaRPr lang="en-US" altLang="en-US" sz="2800" b="0">
              <a:solidFill>
                <a:schemeClr val="tx1">
                  <a:lumMod val="65000"/>
                  <a:lumOff val="35000"/>
                </a:schemeClr>
              </a:solidFill>
              <a:latin typeface="Calibri" charset="0"/>
              <a:cs typeface="宋体"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solidFill>
                  <a:schemeClr val="tx1"/>
                </a:solidFill>
                <a:latin typeface="Arial" panose="020B0604020202020204" pitchFamily="34" charset="0"/>
                <a:ea typeface="微软雅黑" charset="-122"/>
                <a:cs typeface="微软雅黑" charset="-122"/>
                <a:sym typeface="Arial" panose="020B0604020202020204" pitchFamily="34" charset="0"/>
              </a:rPr>
              <a:t>路径分析</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598170" y="1588135"/>
            <a:ext cx="6259195" cy="3276600"/>
          </a:xfrm>
          <a:prstGeom prst="rect">
            <a:avLst/>
          </a:prstGeom>
          <a:noFill/>
        </p:spPr>
        <p:txBody>
          <a:bodyPr wrap="square" rtlCol="0">
            <a:spAutoFit/>
          </a:bodyPr>
          <a:lstStyle/>
          <a:p>
            <a:pPr indent="457200" fontAlgn="auto">
              <a:lnSpc>
                <a:spcPct val="150000"/>
              </a:lnSpc>
              <a:extLst>
                <a:ext uri="{35155182-B16C-46BC-9424-99874614C6A1}">
                  <wpsdc:indentchars xmlns:wpsdc="http://www.wps.cn/officeDocument/2017/drawingmlCustomData" xmlns="" val="200" checksum="59296752"/>
                </a:ext>
              </a:extLst>
            </a:pPr>
            <a:r>
              <a:rPr lang="zh-CN" altLang="en-US"/>
              <a:t>路径分析(Path analysis, PA)由遗传学家 Sewall Wright 于1921 年首创，最近几十年广泛用于社会科学诸领域。路径分析作为多元回归模型的拓展，可以同时包含几个回归方程,解决了传统回归模型只能分析单个因变量的不足。由于同时包含多个回归模型，所以处理的变量关系更加复杂。而在社会科学研究中，变量之间彼此联系、存在复杂的关系网络,所以路径分析特别适用于检验理论假设。</a:t>
            </a:r>
          </a:p>
          <a:p>
            <a:endParaRPr lang="zh-CN" altLang="en-US"/>
          </a:p>
        </p:txBody>
      </p:sp>
      <p:sp>
        <p:nvSpPr>
          <p:cNvPr id="4" name="文本框 3"/>
          <p:cNvSpPr txBox="1"/>
          <p:nvPr/>
        </p:nvSpPr>
        <p:spPr>
          <a:xfrm>
            <a:off x="8037195" y="1004570"/>
            <a:ext cx="2886710" cy="583565"/>
          </a:xfrm>
          <a:prstGeom prst="rect">
            <a:avLst/>
          </a:prstGeom>
          <a:noFill/>
        </p:spPr>
        <p:txBody>
          <a:bodyPr wrap="square" rtlCol="0">
            <a:spAutoFit/>
          </a:bodyPr>
          <a:lstStyle/>
          <a:p>
            <a:pPr algn="l"/>
            <a:r>
              <a:rPr lang="en-US" altLang="zh-CN" sz="3200" b="1" i="1">
                <a:latin typeface="Arial Bold Italic" panose="020B0604020202020204" charset="0"/>
                <a:cs typeface="Arial Bold Italic" panose="020B0604020202020204" charset="0"/>
              </a:rPr>
              <a:t>y=α+By+Γx+ξ</a:t>
            </a:r>
          </a:p>
        </p:txBody>
      </p:sp>
      <p:sp>
        <p:nvSpPr>
          <p:cNvPr id="7" name="文本框 6"/>
          <p:cNvSpPr txBox="1"/>
          <p:nvPr/>
        </p:nvSpPr>
        <p:spPr>
          <a:xfrm>
            <a:off x="7303135" y="2111375"/>
            <a:ext cx="4468495" cy="1476375"/>
          </a:xfrm>
          <a:prstGeom prst="rect">
            <a:avLst/>
          </a:prstGeom>
          <a:noFill/>
        </p:spPr>
        <p:txBody>
          <a:bodyPr wrap="square" rtlCol="0">
            <a:spAutoFit/>
          </a:bodyPr>
          <a:lstStyle/>
          <a:p>
            <a:pPr algn="l"/>
            <a:r>
              <a:rPr lang="zh-CN" altLang="en-US" b="1" i="1">
                <a:latin typeface="Arial Bold Italic" panose="020B0604020202020204" charset="0"/>
                <a:cs typeface="Arial Bold Italic" panose="020B0604020202020204" charset="0"/>
              </a:rPr>
              <a:t>y</a:t>
            </a:r>
            <a:r>
              <a:rPr lang="zh-CN" altLang="en-US"/>
              <a:t>表示由</a:t>
            </a:r>
            <a:r>
              <a:rPr lang="en-US" altLang="zh-CN"/>
              <a:t>p</a:t>
            </a:r>
            <a:r>
              <a:rPr lang="zh-CN" altLang="en-US"/>
              <a:t>个内生变量组成的</a:t>
            </a:r>
            <a:r>
              <a:rPr lang="en-US" altLang="zh-CN"/>
              <a:t>p</a:t>
            </a:r>
            <a:r>
              <a:rPr lang="zh-CN" altLang="en-US"/>
              <a:t>x1 向量</a:t>
            </a:r>
          </a:p>
          <a:p>
            <a:pPr algn="l"/>
            <a:r>
              <a:rPr lang="en-US" altLang="zh-CN" b="1" i="1">
                <a:latin typeface="Arial Bold Italic" panose="020B0604020202020204" charset="0"/>
                <a:cs typeface="Arial Bold Italic" panose="020B0604020202020204" charset="0"/>
              </a:rPr>
              <a:t>x</a:t>
            </a:r>
            <a:r>
              <a:rPr lang="zh-CN" altLang="en-US"/>
              <a:t>为由q个外生变量组成的qx1向量、</a:t>
            </a:r>
          </a:p>
          <a:p>
            <a:pPr algn="l"/>
            <a:r>
              <a:rPr lang="zh-CN" altLang="en-US" b="1" i="1">
                <a:latin typeface="Arial Bold Italic" panose="020B0604020202020204" charset="0"/>
                <a:cs typeface="Arial Bold Italic" panose="020B0604020202020204" charset="0"/>
              </a:rPr>
              <a:t>B</a:t>
            </a:r>
            <a:r>
              <a:rPr lang="zh-CN" altLang="en-US"/>
              <a:t>和</a:t>
            </a:r>
            <a:r>
              <a:rPr lang="zh-CN" altLang="en-US" b="1" i="1">
                <a:latin typeface="Arial Bold Italic" panose="020B0604020202020204" charset="0"/>
                <a:cs typeface="Arial Bold Italic" panose="020B0604020202020204" charset="0"/>
                <a:sym typeface="+mn-ea"/>
              </a:rPr>
              <a:t>Γ</a:t>
            </a:r>
            <a:r>
              <a:rPr lang="zh-CN" altLang="en-US"/>
              <a:t>分别表示px</a:t>
            </a:r>
            <a:r>
              <a:rPr lang="en-US" altLang="zh-CN"/>
              <a:t>p</a:t>
            </a:r>
            <a:r>
              <a:rPr lang="zh-CN" altLang="en-US"/>
              <a:t>和qxq系数矩阵</a:t>
            </a:r>
          </a:p>
          <a:p>
            <a:pPr algn="l"/>
            <a:r>
              <a:rPr lang="en-US" altLang="zh-CN" b="1" i="1">
                <a:latin typeface="Arial Bold Italic" panose="020B0604020202020204" charset="0"/>
                <a:cs typeface="Arial Bold Italic" panose="020B0604020202020204" charset="0"/>
                <a:sym typeface="+mn-ea"/>
              </a:rPr>
              <a:t>ξ</a:t>
            </a:r>
            <a:r>
              <a:rPr lang="zh-CN" altLang="en-US"/>
              <a:t>为</a:t>
            </a:r>
            <a:r>
              <a:rPr lang="en-US" altLang="zh-CN"/>
              <a:t>p</a:t>
            </a:r>
            <a:r>
              <a:rPr lang="zh-CN" altLang="en-US"/>
              <a:t>x1 残差向量。</a:t>
            </a:r>
          </a:p>
          <a:p>
            <a:pPr algn="l"/>
            <a:r>
              <a:rPr lang="en-US" altLang="zh-CN" b="1" i="1">
                <a:latin typeface="Arial Bold Italic" panose="020B0604020202020204" charset="0"/>
                <a:cs typeface="Arial Bold Italic" panose="020B0604020202020204" charset="0"/>
              </a:rPr>
              <a:t>α</a:t>
            </a:r>
            <a:r>
              <a:rPr lang="zh-CN" altLang="en-US"/>
              <a:t>是</a:t>
            </a:r>
            <a:r>
              <a:rPr lang="en-US" altLang="zh-CN"/>
              <a:t>p</a:t>
            </a:r>
            <a:r>
              <a:rPr lang="zh-CN" altLang="en-US">
                <a:sym typeface="+mn-ea"/>
              </a:rPr>
              <a:t>x</a:t>
            </a:r>
            <a:r>
              <a:rPr lang="en-US" altLang="zh-CN">
                <a:sym typeface="+mn-ea"/>
              </a:rPr>
              <a:t>1 </a:t>
            </a:r>
            <a:r>
              <a:rPr lang="zh-CN" altLang="en-US">
                <a:sym typeface="+mn-ea"/>
              </a:rPr>
              <a:t>回归截距</a:t>
            </a:r>
          </a:p>
        </p:txBody>
      </p:sp>
      <p:pic>
        <p:nvPicPr>
          <p:cNvPr id="11" name="图片 10"/>
          <p:cNvPicPr>
            <a:picLocks noChangeAspect="1"/>
          </p:cNvPicPr>
          <p:nvPr/>
        </p:nvPicPr>
        <p:blipFill>
          <a:blip r:embed="rId4"/>
          <a:stretch>
            <a:fillRect/>
          </a:stretch>
        </p:blipFill>
        <p:spPr>
          <a:xfrm>
            <a:off x="2099310" y="1004570"/>
            <a:ext cx="7334885" cy="4392295"/>
          </a:xfrm>
          <a:prstGeom prst="rect">
            <a:avLst/>
          </a:prstGeom>
          <a:noFill/>
          <a:ln>
            <a:noFill/>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00"/>
                                        <p:tgtEl>
                                          <p:spTgt spid="4"/>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down)">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down)">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 grpId="0"/>
      <p:bldP spid="4" grpId="1"/>
      <p:bldP spid="7" grpId="0"/>
      <p:bldP spid="7"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solidFill>
                  <a:schemeClr val="tx1"/>
                </a:solidFill>
                <a:latin typeface="Arial" panose="020B0604020202020204" pitchFamily="34" charset="0"/>
                <a:ea typeface="微软雅黑" charset="-122"/>
                <a:cs typeface="微软雅黑" charset="-122"/>
                <a:sym typeface="Arial" panose="020B0604020202020204" pitchFamily="34" charset="0"/>
              </a:rPr>
              <a:t>路径分析</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4"/>
          <a:stretch>
            <a:fillRect/>
          </a:stretch>
        </p:blipFill>
        <p:spPr>
          <a:xfrm>
            <a:off x="955675" y="1104900"/>
            <a:ext cx="3644900" cy="2641600"/>
          </a:xfrm>
          <a:prstGeom prst="rect">
            <a:avLst/>
          </a:prstGeom>
        </p:spPr>
      </p:pic>
      <p:sp>
        <p:nvSpPr>
          <p:cNvPr id="5" name="文本框 4"/>
          <p:cNvSpPr txBox="1"/>
          <p:nvPr/>
        </p:nvSpPr>
        <p:spPr>
          <a:xfrm>
            <a:off x="1353820" y="4081145"/>
            <a:ext cx="2245360" cy="368300"/>
          </a:xfrm>
          <a:prstGeom prst="rect">
            <a:avLst/>
          </a:prstGeom>
          <a:noFill/>
        </p:spPr>
        <p:txBody>
          <a:bodyPr wrap="none" rtlCol="0">
            <a:spAutoFit/>
          </a:bodyPr>
          <a:lstStyle/>
          <a:p>
            <a:pPr algn="l"/>
            <a:r>
              <a:rPr lang="en-US" altLang="zh-CN" i="1">
                <a:latin typeface="Arial Italic" panose="020B0604020202020204" charset="0"/>
                <a:cs typeface="Arial Italic" panose="020B0604020202020204" charset="0"/>
              </a:rPr>
              <a:t>y</a:t>
            </a:r>
            <a:r>
              <a:rPr lang="en-US" altLang="zh-CN" i="1" baseline="-25000">
                <a:latin typeface="Arial Italic" panose="020B0604020202020204" charset="0"/>
                <a:cs typeface="Arial Italic" panose="020B0604020202020204" charset="0"/>
              </a:rPr>
              <a:t>1</a:t>
            </a:r>
            <a:r>
              <a:rPr lang="en-US" altLang="zh-CN" i="1">
                <a:latin typeface="Arial Italic" panose="020B0604020202020204" charset="0"/>
                <a:cs typeface="Arial Italic" panose="020B0604020202020204" charset="0"/>
              </a:rPr>
              <a:t>=β</a:t>
            </a:r>
            <a:r>
              <a:rPr lang="en-US" altLang="zh-CN" i="1" baseline="-25000">
                <a:latin typeface="Arial Italic" panose="020B0604020202020204" charset="0"/>
                <a:cs typeface="Arial Italic" panose="020B0604020202020204" charset="0"/>
              </a:rPr>
              <a:t>1</a:t>
            </a:r>
            <a:r>
              <a:rPr lang="en-US" altLang="zh-CN" i="1">
                <a:latin typeface="Arial Italic" panose="020B0604020202020204" charset="0"/>
                <a:cs typeface="Arial Italic" panose="020B0604020202020204" charset="0"/>
              </a:rPr>
              <a:t>x</a:t>
            </a:r>
            <a:r>
              <a:rPr lang="en-US" altLang="zh-CN" i="1" baseline="-25000">
                <a:latin typeface="Arial Italic" panose="020B0604020202020204" charset="0"/>
                <a:cs typeface="Arial Italic" panose="020B0604020202020204" charset="0"/>
              </a:rPr>
              <a:t>1</a:t>
            </a:r>
            <a:r>
              <a:rPr lang="en-US" altLang="zh-CN" i="1">
                <a:latin typeface="Arial Italic" panose="020B0604020202020204" charset="0"/>
                <a:cs typeface="Arial Italic" panose="020B0604020202020204" charset="0"/>
              </a:rPr>
              <a:t>+</a:t>
            </a:r>
            <a:r>
              <a:rPr lang="en-US" altLang="zh-CN" i="1">
                <a:latin typeface="Arial Italic" panose="020B0604020202020204" charset="0"/>
                <a:cs typeface="Arial Italic" panose="020B0604020202020204" charset="0"/>
                <a:sym typeface="+mn-ea"/>
              </a:rPr>
              <a:t>β</a:t>
            </a:r>
            <a:r>
              <a:rPr lang="en-US" altLang="zh-CN" i="1" baseline="-25000">
                <a:latin typeface="Arial Italic" panose="020B0604020202020204" charset="0"/>
                <a:cs typeface="Arial Italic" panose="020B0604020202020204" charset="0"/>
                <a:sym typeface="+mn-ea"/>
              </a:rPr>
              <a:t>2</a:t>
            </a:r>
            <a:r>
              <a:rPr lang="en-US" altLang="zh-CN" i="1">
                <a:latin typeface="Arial Italic" panose="020B0604020202020204" charset="0"/>
                <a:cs typeface="Arial Italic" panose="020B0604020202020204" charset="0"/>
                <a:sym typeface="+mn-ea"/>
              </a:rPr>
              <a:t>x</a:t>
            </a:r>
            <a:r>
              <a:rPr lang="en-US" altLang="zh-CN" i="1" baseline="-25000">
                <a:latin typeface="Arial Italic" panose="020B0604020202020204" charset="0"/>
                <a:cs typeface="Arial Italic" panose="020B0604020202020204" charset="0"/>
                <a:sym typeface="+mn-ea"/>
              </a:rPr>
              <a:t>2</a:t>
            </a:r>
            <a:r>
              <a:rPr lang="en-US" altLang="zh-CN" i="1">
                <a:latin typeface="Arial Italic" panose="020B0604020202020204" charset="0"/>
                <a:cs typeface="Arial Italic" panose="020B0604020202020204" charset="0"/>
                <a:sym typeface="+mn-ea"/>
              </a:rPr>
              <a:t>+β</a:t>
            </a:r>
            <a:r>
              <a:rPr lang="en-US" altLang="zh-CN" i="1" baseline="-25000">
                <a:latin typeface="Arial Italic" panose="020B0604020202020204" charset="0"/>
                <a:cs typeface="Arial Italic" panose="020B0604020202020204" charset="0"/>
                <a:sym typeface="+mn-ea"/>
              </a:rPr>
              <a:t>3</a:t>
            </a:r>
            <a:r>
              <a:rPr lang="en-US" altLang="zh-CN" i="1">
                <a:latin typeface="Arial Italic" panose="020B0604020202020204" charset="0"/>
                <a:cs typeface="Arial Italic" panose="020B0604020202020204" charset="0"/>
                <a:sym typeface="+mn-ea"/>
              </a:rPr>
              <a:t>x</a:t>
            </a:r>
            <a:r>
              <a:rPr lang="en-US" altLang="zh-CN" i="1" baseline="-25000">
                <a:latin typeface="Arial Italic" panose="020B0604020202020204" charset="0"/>
                <a:cs typeface="Arial Italic" panose="020B0604020202020204" charset="0"/>
                <a:sym typeface="+mn-ea"/>
              </a:rPr>
              <a:t>3</a:t>
            </a:r>
            <a:r>
              <a:rPr lang="en-US" altLang="zh-CN" i="1">
                <a:latin typeface="Arial Italic" panose="020B0604020202020204" charset="0"/>
                <a:cs typeface="Arial Italic" panose="020B0604020202020204" charset="0"/>
                <a:sym typeface="+mn-ea"/>
              </a:rPr>
              <a:t>+</a:t>
            </a:r>
            <a:r>
              <a:rPr lang="en-US" altLang="zh-CN">
                <a:sym typeface="+mn-ea"/>
              </a:rPr>
              <a:t>ε</a:t>
            </a:r>
          </a:p>
        </p:txBody>
      </p:sp>
      <p:pic>
        <p:nvPicPr>
          <p:cNvPr id="8" name="图片 7"/>
          <p:cNvPicPr>
            <a:picLocks noChangeAspect="1"/>
          </p:cNvPicPr>
          <p:nvPr/>
        </p:nvPicPr>
        <p:blipFill>
          <a:blip r:embed="rId5"/>
          <a:stretch>
            <a:fillRect/>
          </a:stretch>
        </p:blipFill>
        <p:spPr>
          <a:xfrm>
            <a:off x="6316345" y="1231900"/>
            <a:ext cx="3848100" cy="2273300"/>
          </a:xfrm>
          <a:prstGeom prst="rect">
            <a:avLst/>
          </a:prstGeom>
        </p:spPr>
      </p:pic>
      <p:pic>
        <p:nvPicPr>
          <p:cNvPr id="9" name="图片 8"/>
          <p:cNvPicPr>
            <a:picLocks noChangeAspect="1"/>
          </p:cNvPicPr>
          <p:nvPr/>
        </p:nvPicPr>
        <p:blipFill>
          <a:blip r:embed="rId6"/>
          <a:stretch>
            <a:fillRect/>
          </a:stretch>
        </p:blipFill>
        <p:spPr>
          <a:xfrm>
            <a:off x="6462395" y="4081145"/>
            <a:ext cx="3556000" cy="977900"/>
          </a:xfrm>
          <a:prstGeom prst="rect">
            <a:avLst/>
          </a:prstGeom>
        </p:spPr>
      </p:pic>
      <p:sp>
        <p:nvSpPr>
          <p:cNvPr id="10" name="文本框 9"/>
          <p:cNvSpPr txBox="1"/>
          <p:nvPr/>
        </p:nvSpPr>
        <p:spPr>
          <a:xfrm>
            <a:off x="1072515" y="5063490"/>
            <a:ext cx="2780665" cy="645160"/>
          </a:xfrm>
          <a:prstGeom prst="rect">
            <a:avLst/>
          </a:prstGeom>
          <a:noFill/>
        </p:spPr>
        <p:txBody>
          <a:bodyPr wrap="square" rtlCol="0">
            <a:spAutoFit/>
          </a:bodyPr>
          <a:lstStyle/>
          <a:p>
            <a:r>
              <a:rPr lang="en-US" altLang="zh-CN"/>
              <a:t>1.</a:t>
            </a:r>
            <a:r>
              <a:rPr lang="zh-CN" altLang="en-US"/>
              <a:t>只看单箭头</a:t>
            </a:r>
          </a:p>
          <a:p>
            <a:r>
              <a:rPr lang="en-US" altLang="zh-CN"/>
              <a:t>2.</a:t>
            </a:r>
            <a:r>
              <a:rPr lang="zh-CN" altLang="en-US"/>
              <a:t>从被指向变量开始看起</a:t>
            </a:r>
          </a:p>
        </p:txBody>
      </p:sp>
      <p:cxnSp>
        <p:nvCxnSpPr>
          <p:cNvPr id="2" name="直接箭头连接符 1"/>
          <p:cNvCxnSpPr/>
          <p:nvPr/>
        </p:nvCxnSpPr>
        <p:spPr>
          <a:xfrm>
            <a:off x="8756650" y="2191385"/>
            <a:ext cx="0" cy="512445"/>
          </a:xfrm>
          <a:prstGeom prst="straightConnector1">
            <a:avLst/>
          </a:prstGeom>
          <a:ln w="38100">
            <a:solidFill>
              <a:schemeClr val="tx1"/>
            </a:solidFill>
            <a:tailEnd type="arrow" w="med" len="med"/>
          </a:ln>
        </p:spPr>
        <p:style>
          <a:lnRef idx="3">
            <a:schemeClr val="dk1"/>
          </a:lnRef>
          <a:fillRef idx="0">
            <a:schemeClr val="dk1"/>
          </a:fillRef>
          <a:effectRef idx="2">
            <a:schemeClr val="dk1"/>
          </a:effectRef>
          <a:fontRef idx="minor">
            <a:schemeClr val="tx1"/>
          </a:fontRef>
        </p:style>
      </p:cxnSp>
      <p:pic>
        <p:nvPicPr>
          <p:cNvPr id="12" name="图片 22"/>
          <p:cNvPicPr>
            <a:picLocks noChangeAspect="1"/>
          </p:cNvPicPr>
          <p:nvPr/>
        </p:nvPicPr>
        <p:blipFill>
          <a:blip r:embed="rId7"/>
          <a:stretch>
            <a:fillRect/>
          </a:stretch>
        </p:blipFill>
        <p:spPr>
          <a:xfrm>
            <a:off x="785495" y="996315"/>
            <a:ext cx="9702800" cy="4712335"/>
          </a:xfrm>
          <a:prstGeom prst="rect">
            <a:avLst/>
          </a:prstGeom>
          <a:noFill/>
          <a:ln>
            <a:noFill/>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ppt_x"/>
                                          </p:val>
                                        </p:tav>
                                        <p:tav tm="100000">
                                          <p:val>
                                            <p:strVal val="#ppt_x"/>
                                          </p:val>
                                        </p:tav>
                                      </p:tavLst>
                                    </p:anim>
                                    <p:anim calcmode="lin" valueType="num">
                                      <p:cBhvr additive="base">
                                        <p:cTn id="1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ppt_x"/>
                                          </p:val>
                                        </p:tav>
                                        <p:tav tm="100000">
                                          <p:val>
                                            <p:strVal val="#ppt_x"/>
                                          </p:val>
                                        </p:tav>
                                      </p:tavLst>
                                    </p:anim>
                                    <p:anim calcmode="lin" valueType="num">
                                      <p:cBhvr additive="base">
                                        <p:cTn id="1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solidFill>
                  <a:schemeClr val="tx1"/>
                </a:solidFill>
                <a:latin typeface="Arial" panose="020B0604020202020204" pitchFamily="34" charset="0"/>
                <a:ea typeface="微软雅黑" charset="-122"/>
                <a:cs typeface="微软雅黑" charset="-122"/>
                <a:sym typeface="Arial" panose="020B0604020202020204" pitchFamily="34" charset="0"/>
              </a:rPr>
              <a:t>路径分析</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4"/>
          <a:stretch>
            <a:fillRect/>
          </a:stretch>
        </p:blipFill>
        <p:spPr>
          <a:xfrm>
            <a:off x="456565" y="770255"/>
            <a:ext cx="2554605" cy="1612265"/>
          </a:xfrm>
          <a:prstGeom prst="rect">
            <a:avLst/>
          </a:prstGeom>
        </p:spPr>
      </p:pic>
      <p:pic>
        <p:nvPicPr>
          <p:cNvPr id="4" name="图片 3"/>
          <p:cNvPicPr>
            <a:picLocks noChangeAspect="1"/>
          </p:cNvPicPr>
          <p:nvPr/>
        </p:nvPicPr>
        <p:blipFill>
          <a:blip r:embed="rId5"/>
          <a:stretch>
            <a:fillRect/>
          </a:stretch>
        </p:blipFill>
        <p:spPr>
          <a:xfrm>
            <a:off x="354330" y="4515485"/>
            <a:ext cx="2867660" cy="1800225"/>
          </a:xfrm>
          <a:prstGeom prst="rect">
            <a:avLst/>
          </a:prstGeom>
        </p:spPr>
      </p:pic>
      <p:pic>
        <p:nvPicPr>
          <p:cNvPr id="7" name="图片 6"/>
          <p:cNvPicPr>
            <a:picLocks noChangeAspect="1"/>
          </p:cNvPicPr>
          <p:nvPr/>
        </p:nvPicPr>
        <p:blipFill>
          <a:blip r:embed="rId6"/>
          <a:stretch>
            <a:fillRect/>
          </a:stretch>
        </p:blipFill>
        <p:spPr>
          <a:xfrm>
            <a:off x="2463800" y="1964690"/>
            <a:ext cx="4246880" cy="2550795"/>
          </a:xfrm>
          <a:prstGeom prst="rect">
            <a:avLst/>
          </a:prstGeom>
        </p:spPr>
      </p:pic>
      <p:pic>
        <p:nvPicPr>
          <p:cNvPr id="11" name="图片 10"/>
          <p:cNvPicPr>
            <a:picLocks noChangeAspect="1"/>
          </p:cNvPicPr>
          <p:nvPr/>
        </p:nvPicPr>
        <p:blipFill>
          <a:blip r:embed="rId7"/>
          <a:stretch>
            <a:fillRect/>
          </a:stretch>
        </p:blipFill>
        <p:spPr>
          <a:xfrm>
            <a:off x="7282815" y="770255"/>
            <a:ext cx="3530600" cy="2044700"/>
          </a:xfrm>
          <a:prstGeom prst="rect">
            <a:avLst/>
          </a:prstGeom>
        </p:spPr>
      </p:pic>
      <p:pic>
        <p:nvPicPr>
          <p:cNvPr id="12" name="图片 11"/>
          <p:cNvPicPr>
            <a:picLocks noChangeAspect="1"/>
          </p:cNvPicPr>
          <p:nvPr/>
        </p:nvPicPr>
        <p:blipFill>
          <a:blip r:embed="rId8"/>
          <a:stretch>
            <a:fillRect/>
          </a:stretch>
        </p:blipFill>
        <p:spPr>
          <a:xfrm>
            <a:off x="7787640" y="3567430"/>
            <a:ext cx="3581400" cy="2235200"/>
          </a:xfrm>
          <a:prstGeom prst="rect">
            <a:avLst/>
          </a:prstGeom>
        </p:spPr>
      </p:pic>
      <p:sp>
        <p:nvSpPr>
          <p:cNvPr id="13" name="文本框 12"/>
          <p:cNvSpPr txBox="1"/>
          <p:nvPr/>
        </p:nvSpPr>
        <p:spPr>
          <a:xfrm>
            <a:off x="10042525" y="1540510"/>
            <a:ext cx="1097280" cy="368300"/>
          </a:xfrm>
          <a:prstGeom prst="rect">
            <a:avLst/>
          </a:prstGeom>
          <a:noFill/>
        </p:spPr>
        <p:txBody>
          <a:bodyPr wrap="none" rtlCol="0">
            <a:spAutoFit/>
          </a:bodyPr>
          <a:lstStyle/>
          <a:p>
            <a:r>
              <a:rPr lang="zh-CN" altLang="en-US">
                <a:solidFill>
                  <a:schemeClr val="accent1"/>
                </a:solidFill>
              </a:rPr>
              <a:t>回溯因果</a:t>
            </a:r>
          </a:p>
        </p:txBody>
      </p:sp>
      <p:sp>
        <p:nvSpPr>
          <p:cNvPr id="14" name="文本框 13"/>
          <p:cNvSpPr txBox="1"/>
          <p:nvPr/>
        </p:nvSpPr>
        <p:spPr>
          <a:xfrm>
            <a:off x="8499475" y="4089400"/>
            <a:ext cx="1097280" cy="368300"/>
          </a:xfrm>
          <a:prstGeom prst="rect">
            <a:avLst/>
          </a:prstGeom>
          <a:noFill/>
        </p:spPr>
        <p:txBody>
          <a:bodyPr wrap="none" rtlCol="0">
            <a:spAutoFit/>
          </a:bodyPr>
          <a:lstStyle/>
          <a:p>
            <a:r>
              <a:rPr lang="zh-CN" altLang="en-US">
                <a:solidFill>
                  <a:schemeClr val="accent1"/>
                </a:solidFill>
              </a:rPr>
              <a:t>循环因果</a:t>
            </a:r>
          </a:p>
        </p:txBody>
      </p:sp>
      <p:sp>
        <p:nvSpPr>
          <p:cNvPr id="15" name="矩形 14"/>
          <p:cNvSpPr/>
          <p:nvPr/>
        </p:nvSpPr>
        <p:spPr>
          <a:xfrm>
            <a:off x="306070" y="822960"/>
            <a:ext cx="6621145" cy="5789930"/>
          </a:xfrm>
          <a:prstGeom prst="rect">
            <a:avLst/>
          </a:prstGeom>
          <a:noFill/>
          <a:ln w="38100">
            <a:solidFill>
              <a:schemeClr val="tx1"/>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7446010" y="725170"/>
            <a:ext cx="4362450" cy="5887720"/>
          </a:xfrm>
          <a:prstGeom prst="rect">
            <a:avLst/>
          </a:prstGeom>
          <a:noFill/>
          <a:ln w="38100">
            <a:solidFill>
              <a:schemeClr val="tx1"/>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3597910" y="5928360"/>
            <a:ext cx="1404620" cy="460375"/>
          </a:xfrm>
          <a:prstGeom prst="rect">
            <a:avLst/>
          </a:prstGeom>
          <a:noFill/>
        </p:spPr>
        <p:txBody>
          <a:bodyPr wrap="none" rtlCol="0">
            <a:spAutoFit/>
          </a:bodyPr>
          <a:lstStyle/>
          <a:p>
            <a:r>
              <a:rPr lang="zh-CN" altLang="en-US" sz="2400" b="1"/>
              <a:t>递归模型</a:t>
            </a:r>
          </a:p>
        </p:txBody>
      </p:sp>
      <p:sp>
        <p:nvSpPr>
          <p:cNvPr id="19" name="文本框 18"/>
          <p:cNvSpPr txBox="1"/>
          <p:nvPr/>
        </p:nvSpPr>
        <p:spPr>
          <a:xfrm>
            <a:off x="8933180" y="5998210"/>
            <a:ext cx="1710055" cy="460375"/>
          </a:xfrm>
          <a:prstGeom prst="rect">
            <a:avLst/>
          </a:prstGeom>
          <a:noFill/>
        </p:spPr>
        <p:txBody>
          <a:bodyPr wrap="none" rtlCol="0">
            <a:spAutoFit/>
          </a:bodyPr>
          <a:lstStyle/>
          <a:p>
            <a:r>
              <a:rPr lang="zh-CN" altLang="en-US" sz="2400" b="1"/>
              <a:t>非递归模型</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P spid="14" grpId="0"/>
      <p:bldP spid="14" grpId="1"/>
      <p:bldP spid="17" grpId="0"/>
      <p:bldP spid="17" grpId="1"/>
      <p:bldP spid="19" grpId="0"/>
      <p:bldP spid="19"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solidFill>
                  <a:schemeClr val="tx1"/>
                </a:solidFill>
                <a:latin typeface="Arial" panose="020B0604020202020204" pitchFamily="34" charset="0"/>
                <a:ea typeface="微软雅黑" charset="-122"/>
                <a:cs typeface="微软雅黑" charset="-122"/>
                <a:sym typeface="Arial" panose="020B0604020202020204" pitchFamily="34" charset="0"/>
              </a:rPr>
              <a:t>路径分析的模型识别</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4600575" y="847090"/>
            <a:ext cx="2240280" cy="368300"/>
          </a:xfrm>
          <a:prstGeom prst="rect">
            <a:avLst/>
          </a:prstGeom>
          <a:noFill/>
        </p:spPr>
        <p:txBody>
          <a:bodyPr wrap="none" rtlCol="0">
            <a:spAutoFit/>
          </a:bodyPr>
          <a:lstStyle/>
          <a:p>
            <a:r>
              <a:rPr lang="zh-CN" altLang="en-US"/>
              <a:t>路径分析的模型识别</a:t>
            </a:r>
          </a:p>
        </p:txBody>
      </p:sp>
      <p:sp>
        <p:nvSpPr>
          <p:cNvPr id="3" name="文本框 2"/>
          <p:cNvSpPr txBox="1"/>
          <p:nvPr/>
        </p:nvSpPr>
        <p:spPr>
          <a:xfrm>
            <a:off x="909320" y="1833880"/>
            <a:ext cx="8298180" cy="2861310"/>
          </a:xfrm>
          <a:prstGeom prst="rect">
            <a:avLst/>
          </a:prstGeom>
          <a:noFill/>
        </p:spPr>
        <p:txBody>
          <a:bodyPr wrap="none" rtlCol="0">
            <a:spAutoFit/>
          </a:bodyPr>
          <a:lstStyle/>
          <a:p>
            <a:pPr algn="l"/>
            <a:r>
              <a:rPr lang="zh-CN" altLang="en-US"/>
              <a:t>（</a:t>
            </a:r>
            <a:r>
              <a:rPr lang="en-US" altLang="zh-CN"/>
              <a:t>1</a:t>
            </a:r>
            <a:r>
              <a:rPr lang="zh-CN" altLang="en-US"/>
              <a:t>）</a:t>
            </a:r>
            <a:r>
              <a:rPr lang="en-US" altLang="zh-CN"/>
              <a:t>X+2Y=3    → </a:t>
            </a:r>
            <a:r>
              <a:rPr lang="zh-CN" altLang="en-US"/>
              <a:t>无穷多的解</a:t>
            </a:r>
            <a:r>
              <a:rPr lang="en-US" altLang="zh-CN"/>
              <a:t> </a:t>
            </a:r>
            <a:r>
              <a:rPr lang="zh-CN" altLang="en-US"/>
              <a:t>无法识别或识别不足</a:t>
            </a:r>
          </a:p>
          <a:p>
            <a:pPr algn="l"/>
            <a:endParaRPr lang="zh-CN" altLang="en-US"/>
          </a:p>
          <a:p>
            <a:pPr algn="l"/>
            <a:endParaRPr lang="zh-CN" altLang="en-US"/>
          </a:p>
          <a:p>
            <a:pPr algn="l"/>
            <a:r>
              <a:rPr lang="zh-CN" altLang="en-US"/>
              <a:t>（</a:t>
            </a:r>
            <a:r>
              <a:rPr lang="en-US" altLang="zh-CN"/>
              <a:t>2</a:t>
            </a:r>
            <a:r>
              <a:rPr lang="zh-CN" altLang="en-US"/>
              <a:t>）</a:t>
            </a:r>
            <a:r>
              <a:rPr lang="en-US" altLang="zh-CN"/>
              <a:t>X+Y=6</a:t>
            </a:r>
          </a:p>
          <a:p>
            <a:pPr algn="l"/>
            <a:r>
              <a:rPr lang="en-US" altLang="zh-CN"/>
              <a:t>         X-2Y=3      </a:t>
            </a:r>
            <a:r>
              <a:rPr lang="en-US" altLang="zh-CN">
                <a:sym typeface="+mn-ea"/>
              </a:rPr>
              <a:t>→ </a:t>
            </a:r>
            <a:r>
              <a:rPr lang="zh-CN" altLang="en-US">
                <a:sym typeface="+mn-ea"/>
              </a:rPr>
              <a:t>唯一的解</a:t>
            </a:r>
            <a:r>
              <a:rPr lang="en-US" altLang="zh-CN">
                <a:sym typeface="+mn-ea"/>
              </a:rPr>
              <a:t> </a:t>
            </a:r>
            <a:r>
              <a:rPr lang="zh-CN" altLang="en-US">
                <a:sym typeface="+mn-ea"/>
              </a:rPr>
              <a:t>充分识别</a:t>
            </a:r>
          </a:p>
          <a:p>
            <a:pPr algn="l"/>
            <a:endParaRPr lang="zh-CN" altLang="en-US">
              <a:sym typeface="+mn-ea"/>
            </a:endParaRPr>
          </a:p>
          <a:p>
            <a:pPr algn="l"/>
            <a:endParaRPr lang="zh-CN" altLang="en-US">
              <a:sym typeface="+mn-ea"/>
            </a:endParaRPr>
          </a:p>
          <a:p>
            <a:pPr algn="l"/>
            <a:r>
              <a:rPr lang="zh-CN" altLang="en-US">
                <a:sym typeface="+mn-ea"/>
              </a:rPr>
              <a:t>（</a:t>
            </a:r>
            <a:r>
              <a:rPr lang="en-US" altLang="zh-CN">
                <a:sym typeface="+mn-ea"/>
              </a:rPr>
              <a:t>3</a:t>
            </a:r>
            <a:r>
              <a:rPr lang="zh-CN" altLang="en-US">
                <a:sym typeface="+mn-ea"/>
              </a:rPr>
              <a:t>）</a:t>
            </a:r>
            <a:r>
              <a:rPr lang="en-US" altLang="zh-CN">
                <a:sym typeface="+mn-ea"/>
              </a:rPr>
              <a:t>X+3Y=4</a:t>
            </a:r>
          </a:p>
          <a:p>
            <a:pPr algn="l"/>
            <a:r>
              <a:rPr lang="en-US" altLang="zh-CN">
                <a:sym typeface="+mn-ea"/>
              </a:rPr>
              <a:t>         2X+Y=7    → </a:t>
            </a:r>
            <a:r>
              <a:rPr lang="zh-CN" altLang="en-US">
                <a:sym typeface="+mn-ea"/>
              </a:rPr>
              <a:t>无特定解，但可以利用估计的方式，求出符合这三个方程的解</a:t>
            </a:r>
          </a:p>
          <a:p>
            <a:pPr algn="l"/>
            <a:r>
              <a:rPr lang="en-US" altLang="zh-CN">
                <a:sym typeface="+mn-ea"/>
              </a:rPr>
              <a:t>         Y-5X=5          </a:t>
            </a:r>
            <a:r>
              <a:rPr lang="zh-CN" altLang="en-US">
                <a:sym typeface="+mn-ea"/>
              </a:rPr>
              <a:t>过度识别</a:t>
            </a: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solidFill>
                  <a:schemeClr val="tx1"/>
                </a:solidFill>
                <a:latin typeface="Arial" panose="020B0604020202020204" pitchFamily="34" charset="0"/>
                <a:ea typeface="微软雅黑" charset="-122"/>
                <a:cs typeface="微软雅黑" charset="-122"/>
                <a:sym typeface="Arial" panose="020B0604020202020204" pitchFamily="34" charset="0"/>
              </a:rPr>
              <a:t>路径分析的模型识别</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图片 18"/>
          <p:cNvPicPr>
            <a:picLocks noChangeAspect="1"/>
          </p:cNvPicPr>
          <p:nvPr/>
        </p:nvPicPr>
        <p:blipFill>
          <a:blip r:embed="rId4"/>
          <a:srcRect l="552" t="2604" r="-552" b="-2604"/>
          <a:stretch>
            <a:fillRect/>
          </a:stretch>
        </p:blipFill>
        <p:spPr>
          <a:xfrm>
            <a:off x="1293495" y="1791970"/>
            <a:ext cx="8855710" cy="4071620"/>
          </a:xfrm>
          <a:prstGeom prst="rect">
            <a:avLst/>
          </a:prstGeom>
          <a:noFill/>
          <a:ln>
            <a:noFill/>
          </a:ln>
        </p:spPr>
      </p:pic>
      <p:sp>
        <p:nvSpPr>
          <p:cNvPr id="4" name="文本框 3"/>
          <p:cNvSpPr txBox="1"/>
          <p:nvPr/>
        </p:nvSpPr>
        <p:spPr>
          <a:xfrm>
            <a:off x="4600575" y="847090"/>
            <a:ext cx="2240280" cy="368300"/>
          </a:xfrm>
          <a:prstGeom prst="rect">
            <a:avLst/>
          </a:prstGeom>
          <a:noFill/>
        </p:spPr>
        <p:txBody>
          <a:bodyPr wrap="none" rtlCol="0">
            <a:spAutoFit/>
          </a:bodyPr>
          <a:lstStyle/>
          <a:p>
            <a:r>
              <a:rPr lang="zh-CN" altLang="en-US"/>
              <a:t>路径分析的模型识别</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solidFill>
                  <a:schemeClr val="tx1"/>
                </a:solidFill>
                <a:latin typeface="Arial" panose="020B0604020202020204" pitchFamily="34" charset="0"/>
                <a:ea typeface="微软雅黑" charset="-122"/>
                <a:cs typeface="微软雅黑" charset="-122"/>
                <a:sym typeface="Arial" panose="020B0604020202020204" pitchFamily="34" charset="0"/>
              </a:rPr>
              <a:t>路径分析的模型识别</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4404360" y="770255"/>
            <a:ext cx="3383280" cy="368300"/>
          </a:xfrm>
          <a:prstGeom prst="rect">
            <a:avLst/>
          </a:prstGeom>
          <a:noFill/>
        </p:spPr>
        <p:txBody>
          <a:bodyPr wrap="none" rtlCol="0">
            <a:spAutoFit/>
          </a:bodyPr>
          <a:lstStyle/>
          <a:p>
            <a:r>
              <a:rPr lang="zh-CN" altLang="en-US"/>
              <a:t>路径分析的模型识别的终结大招️</a:t>
            </a:r>
          </a:p>
        </p:txBody>
      </p:sp>
      <p:sp>
        <p:nvSpPr>
          <p:cNvPr id="7" name="文本框 6"/>
          <p:cNvSpPr txBox="1"/>
          <p:nvPr/>
        </p:nvSpPr>
        <p:spPr>
          <a:xfrm>
            <a:off x="9463405" y="1198245"/>
            <a:ext cx="309880" cy="368300"/>
          </a:xfrm>
          <a:prstGeom prst="rect">
            <a:avLst/>
          </a:prstGeom>
          <a:noFill/>
        </p:spPr>
        <p:txBody>
          <a:bodyPr wrap="none" rtlCol="0">
            <a:spAutoFit/>
          </a:bodyPr>
          <a:lstStyle/>
          <a:p>
            <a:endParaRPr lang="zh-CN" altLang="en-US"/>
          </a:p>
        </p:txBody>
      </p:sp>
      <p:sp>
        <p:nvSpPr>
          <p:cNvPr id="5" name="文本框 4"/>
          <p:cNvSpPr txBox="1"/>
          <p:nvPr/>
        </p:nvSpPr>
        <p:spPr>
          <a:xfrm>
            <a:off x="5318760" y="3106420"/>
            <a:ext cx="1554480" cy="645160"/>
          </a:xfrm>
          <a:prstGeom prst="rect">
            <a:avLst/>
          </a:prstGeom>
          <a:noFill/>
        </p:spPr>
        <p:txBody>
          <a:bodyPr wrap="none" rtlCol="0">
            <a:spAutoFit/>
          </a:bodyPr>
          <a:lstStyle/>
          <a:p>
            <a:r>
              <a:rPr lang="zh-CN" altLang="en-US" sz="3600"/>
              <a:t>试一下</a:t>
            </a:r>
          </a:p>
        </p:txBody>
      </p:sp>
      <p:pic>
        <p:nvPicPr>
          <p:cNvPr id="9" name="图片 8"/>
          <p:cNvPicPr>
            <a:picLocks noChangeAspect="1"/>
          </p:cNvPicPr>
          <p:nvPr/>
        </p:nvPicPr>
        <p:blipFill>
          <a:blip r:embed="rId4"/>
          <a:stretch>
            <a:fillRect/>
          </a:stretch>
        </p:blipFill>
        <p:spPr>
          <a:xfrm>
            <a:off x="7787640" y="732155"/>
            <a:ext cx="279400" cy="4064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solidFill>
                  <a:schemeClr val="tx1"/>
                </a:solidFill>
                <a:latin typeface="Arial" panose="020B0604020202020204" pitchFamily="34" charset="0"/>
                <a:ea typeface="微软雅黑" charset="-122"/>
                <a:cs typeface="微软雅黑" charset="-122"/>
                <a:sym typeface="Arial" panose="020B0604020202020204" pitchFamily="34" charset="0"/>
              </a:rPr>
              <a:t>因子分析</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6870065" y="890270"/>
            <a:ext cx="4305935" cy="5077460"/>
          </a:xfrm>
          <a:prstGeom prst="rect">
            <a:avLst/>
          </a:prstGeom>
          <a:noFill/>
        </p:spPr>
        <p:txBody>
          <a:bodyPr wrap="square" rtlCol="0">
            <a:spAutoFit/>
          </a:bodyPr>
          <a:lstStyle/>
          <a:p>
            <a:pPr algn="l" fontAlgn="auto">
              <a:lnSpc>
                <a:spcPct val="150000"/>
              </a:lnSpc>
            </a:pPr>
            <a:r>
              <a:rPr lang="en-US" altLang="zh-CN"/>
              <a:t>       </a:t>
            </a:r>
            <a:r>
              <a:rPr lang="zh-CN" altLang="en-US"/>
              <a:t>因素分析是用于解释外显变量之间相关的统计模型，主要用于实现两个目的：解释指标间的相关性和化简数据。按照假设，指标间存在相关是因为有一个潜在的共同因子或公因子(Common Factor），如果这个共同因子被提取，那么指标间的相关将不存在，即实现了局部独立性(Local Independence)。由于因子多为抽象概念，在真实世界是不存在的，而实际存在的指标又太多，通过因素分析就能将众多指标化简为少数几个因子，为厘清现象提供简明的工具。</a:t>
            </a:r>
          </a:p>
        </p:txBody>
      </p:sp>
      <p:sp>
        <p:nvSpPr>
          <p:cNvPr id="3" name="文本框 2"/>
          <p:cNvSpPr txBox="1"/>
          <p:nvPr/>
        </p:nvSpPr>
        <p:spPr>
          <a:xfrm>
            <a:off x="632460" y="1850390"/>
            <a:ext cx="4469130" cy="521970"/>
          </a:xfrm>
          <a:prstGeom prst="rect">
            <a:avLst/>
          </a:prstGeom>
          <a:noFill/>
        </p:spPr>
        <p:txBody>
          <a:bodyPr wrap="none" rtlCol="0">
            <a:spAutoFit/>
          </a:bodyPr>
          <a:lstStyle/>
          <a:p>
            <a:pPr algn="l"/>
            <a:r>
              <a:rPr lang="en-US" altLang="zh-CN" sz="2800"/>
              <a:t>z</a:t>
            </a:r>
            <a:r>
              <a:rPr lang="en-US" altLang="zh-CN" sz="2800" baseline="-25000"/>
              <a:t>ij</a:t>
            </a:r>
            <a:r>
              <a:rPr lang="en-US" altLang="zh-CN" sz="2800"/>
              <a:t>=α</a:t>
            </a:r>
            <a:r>
              <a:rPr lang="en-US" altLang="zh-CN" sz="2800" baseline="-25000"/>
              <a:t>j1</a:t>
            </a:r>
            <a:r>
              <a:rPr lang="en-US" altLang="zh-CN" sz="2800"/>
              <a:t>f</a:t>
            </a:r>
            <a:r>
              <a:rPr lang="en-US" altLang="zh-CN" sz="2800" baseline="-25000"/>
              <a:t>i1</a:t>
            </a:r>
            <a:r>
              <a:rPr lang="en-US" altLang="zh-CN" sz="2800"/>
              <a:t>+</a:t>
            </a:r>
            <a:r>
              <a:rPr lang="en-US" altLang="zh-CN" sz="2800">
                <a:sym typeface="+mn-ea"/>
              </a:rPr>
              <a:t>α</a:t>
            </a:r>
            <a:r>
              <a:rPr lang="en-US" altLang="zh-CN" sz="2800" baseline="-25000">
                <a:sym typeface="+mn-ea"/>
              </a:rPr>
              <a:t>j2</a:t>
            </a:r>
            <a:r>
              <a:rPr lang="en-US" altLang="zh-CN" sz="2800">
                <a:sym typeface="+mn-ea"/>
              </a:rPr>
              <a:t>f</a:t>
            </a:r>
            <a:r>
              <a:rPr lang="en-US" altLang="zh-CN" sz="2800" baseline="-25000">
                <a:sym typeface="+mn-ea"/>
              </a:rPr>
              <a:t>i2</a:t>
            </a:r>
            <a:r>
              <a:rPr lang="en-US" altLang="zh-CN" sz="2800">
                <a:sym typeface="+mn-ea"/>
              </a:rPr>
              <a:t>+...+α</a:t>
            </a:r>
            <a:r>
              <a:rPr lang="en-US" altLang="zh-CN" sz="2800" baseline="-25000">
                <a:sym typeface="+mn-ea"/>
              </a:rPr>
              <a:t>jm</a:t>
            </a:r>
            <a:r>
              <a:rPr lang="en-US" altLang="zh-CN" sz="2800">
                <a:sym typeface="+mn-ea"/>
              </a:rPr>
              <a:t>f</a:t>
            </a:r>
            <a:r>
              <a:rPr lang="en-US" altLang="zh-CN" sz="2800" baseline="-25000">
                <a:sym typeface="+mn-ea"/>
              </a:rPr>
              <a:t>im</a:t>
            </a:r>
            <a:r>
              <a:rPr lang="en-US" altLang="zh-CN" sz="2800">
                <a:sym typeface="+mn-ea"/>
              </a:rPr>
              <a:t>+d</a:t>
            </a:r>
            <a:r>
              <a:rPr lang="en-US" altLang="zh-CN" sz="2800" baseline="-25000">
                <a:sym typeface="+mn-ea"/>
              </a:rPr>
              <a:t>j</a:t>
            </a:r>
            <a:r>
              <a:rPr lang="en-US" altLang="zh-CN" sz="2800">
                <a:sym typeface="+mn-ea"/>
              </a:rPr>
              <a:t>u</a:t>
            </a:r>
            <a:r>
              <a:rPr lang="en-US" altLang="zh-CN" sz="2800" baseline="-25000">
                <a:sym typeface="+mn-ea"/>
              </a:rPr>
              <a:t>ij</a:t>
            </a:r>
          </a:p>
        </p:txBody>
      </p:sp>
      <p:sp>
        <p:nvSpPr>
          <p:cNvPr id="7" name="文本框 6"/>
          <p:cNvSpPr txBox="1"/>
          <p:nvPr/>
        </p:nvSpPr>
        <p:spPr>
          <a:xfrm>
            <a:off x="1116330" y="3105785"/>
            <a:ext cx="3883025" cy="1753235"/>
          </a:xfrm>
          <a:prstGeom prst="rect">
            <a:avLst/>
          </a:prstGeom>
          <a:noFill/>
        </p:spPr>
        <p:txBody>
          <a:bodyPr wrap="square" rtlCol="0" anchor="t">
            <a:spAutoFit/>
          </a:bodyPr>
          <a:lstStyle/>
          <a:p>
            <a:r>
              <a:rPr lang="zh-CN" altLang="en-US"/>
              <a:t>上式中</a:t>
            </a:r>
          </a:p>
          <a:p>
            <a:r>
              <a:rPr lang="zh-CN" altLang="en-US"/>
              <a:t>Z</a:t>
            </a:r>
            <a:r>
              <a:rPr lang="en-US" altLang="zh-CN" baseline="-25000"/>
              <a:t>ij</a:t>
            </a:r>
            <a:r>
              <a:rPr lang="zh-CN" altLang="en-US"/>
              <a:t>为个体i在项目j上的标准分</a:t>
            </a:r>
          </a:p>
          <a:p>
            <a:r>
              <a:rPr lang="zh-CN" altLang="en-US"/>
              <a:t>f为公因子</a:t>
            </a:r>
          </a:p>
          <a:p>
            <a:r>
              <a:rPr lang="zh-CN" altLang="en-US"/>
              <a:t>a</a:t>
            </a:r>
            <a:r>
              <a:rPr lang="en-US" altLang="zh-CN" baseline="-25000"/>
              <a:t>j</a:t>
            </a:r>
            <a:r>
              <a:rPr lang="zh-CN" altLang="en-US"/>
              <a:t>为每个公因子的权重即因子负荷量</a:t>
            </a:r>
          </a:p>
          <a:p>
            <a:r>
              <a:rPr lang="en-US" altLang="zh-CN"/>
              <a:t>u</a:t>
            </a:r>
            <a:r>
              <a:rPr lang="en-US" altLang="zh-CN" baseline="-25000"/>
              <a:t>ij</a:t>
            </a:r>
            <a:r>
              <a:rPr lang="zh-CN" altLang="en-US"/>
              <a:t>为独特性因子</a:t>
            </a:r>
          </a:p>
          <a:p>
            <a:r>
              <a:rPr lang="zh-CN" altLang="en-US"/>
              <a:t>d</a:t>
            </a:r>
            <a:r>
              <a:rPr lang="en-US" altLang="zh-CN" baseline="-25000"/>
              <a:t>j</a:t>
            </a:r>
            <a:r>
              <a:rPr lang="zh-CN" altLang="en-US"/>
              <a:t>为独特性因子的权重。</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7" grpId="0"/>
      <p:bldP spid="7"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solidFill>
                  <a:schemeClr val="tx1"/>
                </a:solidFill>
                <a:latin typeface="Arial" panose="020B0604020202020204" pitchFamily="34" charset="0"/>
                <a:ea typeface="微软雅黑" charset="-122"/>
                <a:cs typeface="微软雅黑" charset="-122"/>
                <a:sym typeface="Arial" panose="020B0604020202020204" pitchFamily="34" charset="0"/>
              </a:rPr>
              <a:t>探索性因子分析</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p:nvPicPr>
        <p:blipFill>
          <a:blip r:embed="rId4"/>
          <a:stretch>
            <a:fillRect/>
          </a:stretch>
        </p:blipFill>
        <p:spPr>
          <a:xfrm>
            <a:off x="1440180" y="1321435"/>
            <a:ext cx="9066530" cy="3993515"/>
          </a:xfrm>
          <a:prstGeom prst="rect">
            <a:avLst/>
          </a:prstGeom>
        </p:spPr>
      </p:pic>
      <p:sp>
        <p:nvSpPr>
          <p:cNvPr id="5" name="文本框 4"/>
          <p:cNvSpPr txBox="1"/>
          <p:nvPr/>
        </p:nvSpPr>
        <p:spPr>
          <a:xfrm>
            <a:off x="672465" y="2967990"/>
            <a:ext cx="1783080" cy="1198880"/>
          </a:xfrm>
          <a:prstGeom prst="rect">
            <a:avLst/>
          </a:prstGeom>
          <a:noFill/>
        </p:spPr>
        <p:txBody>
          <a:bodyPr wrap="none" rtlCol="0">
            <a:spAutoFit/>
          </a:bodyPr>
          <a:lstStyle/>
          <a:p>
            <a:pPr algn="ctr"/>
            <a:r>
              <a:rPr lang="zh-CN" altLang="en-US"/>
              <a:t>探索性因子分析</a:t>
            </a:r>
          </a:p>
          <a:p>
            <a:pPr algn="ctr"/>
            <a:r>
              <a:rPr lang="zh-CN" altLang="en-US"/>
              <a:t>主轴因子抽取法</a:t>
            </a:r>
          </a:p>
          <a:p>
            <a:pPr algn="ctr"/>
            <a:r>
              <a:rPr lang="zh-CN" altLang="en-US"/>
              <a:t>（反映模型）</a:t>
            </a:r>
          </a:p>
          <a:p>
            <a:pPr algn="ctr"/>
            <a:endParaRPr lang="zh-CN" altLang="en-US"/>
          </a:p>
        </p:txBody>
      </p:sp>
      <p:pic>
        <p:nvPicPr>
          <p:cNvPr id="8" name="图片 7"/>
          <p:cNvPicPr>
            <a:picLocks noChangeAspect="1"/>
          </p:cNvPicPr>
          <p:nvPr/>
        </p:nvPicPr>
        <p:blipFill>
          <a:blip r:embed="rId5"/>
          <a:stretch>
            <a:fillRect/>
          </a:stretch>
        </p:blipFill>
        <p:spPr>
          <a:xfrm>
            <a:off x="7027545" y="5370830"/>
            <a:ext cx="3707765" cy="1263015"/>
          </a:xfrm>
          <a:prstGeom prst="rect">
            <a:avLst/>
          </a:prstGeom>
        </p:spPr>
      </p:pic>
      <p:sp>
        <p:nvSpPr>
          <p:cNvPr id="10" name="文本框 9"/>
          <p:cNvSpPr txBox="1"/>
          <p:nvPr/>
        </p:nvSpPr>
        <p:spPr>
          <a:xfrm>
            <a:off x="10073640" y="3133725"/>
            <a:ext cx="1795780" cy="645160"/>
          </a:xfrm>
          <a:prstGeom prst="rect">
            <a:avLst/>
          </a:prstGeom>
          <a:noFill/>
        </p:spPr>
        <p:txBody>
          <a:bodyPr wrap="none" rtlCol="0">
            <a:spAutoFit/>
          </a:bodyPr>
          <a:lstStyle/>
          <a:p>
            <a:r>
              <a:rPr lang="zh-CN" altLang="en-US"/>
              <a:t>主成分分析</a:t>
            </a:r>
            <a:r>
              <a:rPr lang="en-US" altLang="zh-CN"/>
              <a:t>PCA</a:t>
            </a:r>
          </a:p>
          <a:p>
            <a:r>
              <a:rPr lang="zh-CN" altLang="en-US"/>
              <a:t>（形成模型）</a:t>
            </a:r>
          </a:p>
        </p:txBody>
      </p:sp>
      <p:pic>
        <p:nvPicPr>
          <p:cNvPr id="11" name="图片 10"/>
          <p:cNvPicPr>
            <a:picLocks noChangeAspect="1"/>
          </p:cNvPicPr>
          <p:nvPr/>
        </p:nvPicPr>
        <p:blipFill>
          <a:blip r:embed="rId6"/>
          <a:stretch>
            <a:fillRect/>
          </a:stretch>
        </p:blipFill>
        <p:spPr>
          <a:xfrm>
            <a:off x="1045845" y="1109345"/>
            <a:ext cx="9854565" cy="4638675"/>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10" grpId="0"/>
      <p:bldP spid="10"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solidFill>
                  <a:schemeClr val="tx1"/>
                </a:solidFill>
                <a:latin typeface="Arial" panose="020B0604020202020204" pitchFamily="34" charset="0"/>
                <a:ea typeface="微软雅黑" charset="-122"/>
                <a:cs typeface="微软雅黑" charset="-122"/>
                <a:sym typeface="Arial" panose="020B0604020202020204" pitchFamily="34" charset="0"/>
              </a:rPr>
              <a:t>验证性因素分析</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4"/>
          <a:stretch>
            <a:fillRect/>
          </a:stretch>
        </p:blipFill>
        <p:spPr>
          <a:xfrm>
            <a:off x="5613400" y="598170"/>
            <a:ext cx="5427980" cy="5770880"/>
          </a:xfrm>
          <a:prstGeom prst="rect">
            <a:avLst/>
          </a:prstGeom>
        </p:spPr>
      </p:pic>
      <p:pic>
        <p:nvPicPr>
          <p:cNvPr id="3" name="图片 2"/>
          <p:cNvPicPr>
            <a:picLocks noChangeAspect="1"/>
          </p:cNvPicPr>
          <p:nvPr/>
        </p:nvPicPr>
        <p:blipFill>
          <a:blip r:embed="rId5"/>
          <a:stretch>
            <a:fillRect/>
          </a:stretch>
        </p:blipFill>
        <p:spPr>
          <a:xfrm>
            <a:off x="756920" y="827405"/>
            <a:ext cx="4496435" cy="5438775"/>
          </a:xfrm>
          <a:prstGeom prst="rect">
            <a:avLst/>
          </a:prstGeom>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solidFill>
                  <a:schemeClr val="tx1"/>
                </a:solidFill>
                <a:latin typeface="Arial" panose="020B0604020202020204" pitchFamily="34" charset="0"/>
                <a:ea typeface="微软雅黑" charset="-122"/>
                <a:cs typeface="微软雅黑" charset="-122"/>
                <a:sym typeface="Arial" panose="020B0604020202020204" pitchFamily="34" charset="0"/>
              </a:rPr>
              <a:t>从回归到结构方程模型</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a:blip r:embed="rId4"/>
          <a:stretch>
            <a:fillRect/>
          </a:stretch>
        </p:blipFill>
        <p:spPr>
          <a:xfrm>
            <a:off x="195580" y="3241675"/>
            <a:ext cx="5271770" cy="2919730"/>
          </a:xfrm>
          <a:prstGeom prst="rect">
            <a:avLst/>
          </a:prstGeom>
          <a:noFill/>
          <a:ln>
            <a:noFill/>
          </a:ln>
        </p:spPr>
      </p:pic>
      <p:pic>
        <p:nvPicPr>
          <p:cNvPr id="22" name="图片 22"/>
          <p:cNvPicPr>
            <a:picLocks noChangeAspect="1"/>
          </p:cNvPicPr>
          <p:nvPr/>
        </p:nvPicPr>
        <p:blipFill>
          <a:blip r:embed="rId5"/>
          <a:stretch>
            <a:fillRect/>
          </a:stretch>
        </p:blipFill>
        <p:spPr>
          <a:xfrm>
            <a:off x="4872355" y="662940"/>
            <a:ext cx="7254240" cy="3522980"/>
          </a:xfrm>
          <a:prstGeom prst="rect">
            <a:avLst/>
          </a:prstGeom>
          <a:noFill/>
          <a:ln>
            <a:noFill/>
          </a:ln>
        </p:spPr>
      </p:pic>
      <p:pic>
        <p:nvPicPr>
          <p:cNvPr id="4" name="图片 3"/>
          <p:cNvPicPr>
            <a:picLocks noChangeAspect="1"/>
          </p:cNvPicPr>
          <p:nvPr/>
        </p:nvPicPr>
        <p:blipFill>
          <a:blip r:embed="rId6"/>
          <a:stretch>
            <a:fillRect/>
          </a:stretch>
        </p:blipFill>
        <p:spPr>
          <a:xfrm>
            <a:off x="195580" y="863600"/>
            <a:ext cx="11623675" cy="5836920"/>
          </a:xfrm>
          <a:prstGeom prst="rect">
            <a:avLst/>
          </a:prstGeom>
          <a:noFill/>
          <a:ln>
            <a:noFill/>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ox(in)">
                                      <p:cBhvr>
                                        <p:cTn id="7" dur="20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additive="base">
                                        <p:cTn id="12" dur="500" fill="hold"/>
                                        <p:tgtEl>
                                          <p:spTgt spid="22"/>
                                        </p:tgtEl>
                                        <p:attrNameLst>
                                          <p:attrName>ppt_x</p:attrName>
                                        </p:attrNameLst>
                                      </p:cBhvr>
                                      <p:tavLst>
                                        <p:tav tm="0">
                                          <p:val>
                                            <p:strVal val="#ppt_x"/>
                                          </p:val>
                                        </p:tav>
                                        <p:tav tm="100000">
                                          <p:val>
                                            <p:strVal val="#ppt_x"/>
                                          </p:val>
                                        </p:tav>
                                      </p:tavLst>
                                    </p:anim>
                                    <p:anim calcmode="lin" valueType="num">
                                      <p:cBhvr additive="base">
                                        <p:cTn id="13"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ppt_x"/>
                                          </p:val>
                                        </p:tav>
                                        <p:tav tm="100000">
                                          <p:val>
                                            <p:strVal val="#ppt_x"/>
                                          </p:val>
                                        </p:tav>
                                      </p:tavLst>
                                    </p:anim>
                                    <p:anim calcmode="lin" valueType="num">
                                      <p:cBhvr additive="base">
                                        <p:cTn id="19"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latin typeface="Arial" panose="020B0604020202020204" pitchFamily="34" charset="0"/>
                <a:ea typeface="微软雅黑" charset="-122"/>
                <a:cs typeface="微软雅黑" charset="-122"/>
                <a:sym typeface="Arial" panose="020B0604020202020204" pitchFamily="34" charset="0"/>
              </a:rPr>
              <a:t>结构方程模型</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文本框 99"/>
          <p:cNvSpPr txBox="1"/>
          <p:nvPr/>
        </p:nvSpPr>
        <p:spPr>
          <a:xfrm>
            <a:off x="800100" y="1316355"/>
            <a:ext cx="5943600" cy="4246245"/>
          </a:xfrm>
          <a:prstGeom prst="rect">
            <a:avLst/>
          </a:prstGeom>
          <a:noFill/>
          <a:ln w="9525">
            <a:noFill/>
          </a:ln>
        </p:spPr>
        <p:txBody>
          <a:bodyPr wrap="square">
            <a:spAutoFit/>
          </a:bodyPr>
          <a:lstStyle/>
          <a:p>
            <a:pPr indent="0" fontAlgn="auto">
              <a:lnSpc>
                <a:spcPct val="150000"/>
              </a:lnSpc>
            </a:pPr>
            <a:r>
              <a:rPr lang="zh-CN" b="0">
                <a:latin typeface="微软雅黑" charset="0"/>
                <a:ea typeface="微软雅黑" charset="0"/>
                <a:cs typeface="微软雅黑" charset="0"/>
              </a:rPr>
              <a:t>结构方程建模</a:t>
            </a:r>
            <a:r>
              <a:rPr lang="en-US" b="0">
                <a:latin typeface="微软雅黑" charset="0"/>
                <a:ea typeface="微软雅黑" charset="0"/>
                <a:cs typeface="微软雅黑" charset="0"/>
              </a:rPr>
              <a:t>( Structural Equation Modeling,SEM)</a:t>
            </a:r>
            <a:r>
              <a:rPr lang="zh-CN" b="0">
                <a:latin typeface="微软雅黑" charset="0"/>
                <a:ea typeface="微软雅黑" charset="0"/>
                <a:cs typeface="微软雅黑" charset="0"/>
              </a:rPr>
              <a:t>是通过对变量协方差进行关系建模的多元统计方法，由于是基于变量协方差进行的建模，所以结构方程模型常被称为协方差结构模型</a:t>
            </a:r>
            <a:r>
              <a:rPr lang="en-US" b="0">
                <a:latin typeface="微软雅黑" charset="0"/>
                <a:ea typeface="微软雅黑" charset="0"/>
                <a:cs typeface="微软雅黑" charset="0"/>
              </a:rPr>
              <a:t>( Covariance Strueture Modeling, CSM)</a:t>
            </a:r>
            <a:r>
              <a:rPr lang="zh-CN" b="0">
                <a:latin typeface="微软雅黑" charset="0"/>
                <a:ea typeface="微软雅黑" charset="0"/>
                <a:cs typeface="微软雅黑" charset="0"/>
              </a:rPr>
              <a:t>。在发展的早期，</a:t>
            </a:r>
            <a:r>
              <a:rPr lang="en-US" b="0">
                <a:latin typeface="微软雅黑" charset="0"/>
                <a:ea typeface="微软雅黑" charset="0"/>
                <a:cs typeface="微软雅黑" charset="0"/>
              </a:rPr>
              <a:t>SEM </a:t>
            </a:r>
            <a:r>
              <a:rPr lang="zh-CN" b="0">
                <a:latin typeface="微软雅黑" charset="0"/>
                <a:ea typeface="微软雅黑" charset="0"/>
                <a:cs typeface="微软雅黑" charset="0"/>
              </a:rPr>
              <a:t>主要处理变量间的线性关系，所以也称作线性关系模型或简称 </a:t>
            </a:r>
            <a:r>
              <a:rPr lang="en-US" b="0">
                <a:latin typeface="微软雅黑" charset="0"/>
                <a:ea typeface="微软雅黑" charset="0"/>
                <a:cs typeface="微软雅黑" charset="0"/>
              </a:rPr>
              <a:t>LISREL </a:t>
            </a:r>
            <a:r>
              <a:rPr lang="zh-CN" b="0">
                <a:latin typeface="微软雅黑" charset="0"/>
                <a:ea typeface="微软雅黑" charset="0"/>
                <a:cs typeface="微软雅黑" charset="0"/>
              </a:rPr>
              <a:t>模型</a:t>
            </a:r>
            <a:r>
              <a:rPr lang="en-US" b="0">
                <a:latin typeface="微软雅黑" charset="0"/>
                <a:ea typeface="微软雅黑" charset="0"/>
                <a:cs typeface="微软雅黑" charset="0"/>
              </a:rPr>
              <a:t>(LInear Structural RELationship, LISREL)</a:t>
            </a:r>
            <a:r>
              <a:rPr lang="zh-CN" b="0">
                <a:latin typeface="微软雅黑" charset="0"/>
                <a:ea typeface="微软雅黑" charset="0"/>
                <a:cs typeface="微软雅黑" charset="0"/>
              </a:rPr>
              <a:t>。随着研究的深入，非线性</a:t>
            </a:r>
            <a:r>
              <a:rPr lang="en-US" b="0">
                <a:latin typeface="微软雅黑" charset="0"/>
                <a:ea typeface="微软雅黑" charset="0"/>
                <a:cs typeface="微软雅黑" charset="0"/>
              </a:rPr>
              <a:t>SEM </a:t>
            </a:r>
            <a:r>
              <a:rPr lang="zh-CN" altLang="en-US" b="0">
                <a:latin typeface="微软雅黑" charset="0"/>
                <a:ea typeface="微软雅黑" charset="0"/>
                <a:cs typeface="微软雅黑" charset="0"/>
              </a:rPr>
              <a:t>的</a:t>
            </a:r>
            <a:r>
              <a:rPr lang="zh-CN" b="0">
                <a:latin typeface="微软雅黑" charset="0"/>
                <a:ea typeface="微软雅黑" charset="0"/>
                <a:cs typeface="微软雅黑" charset="0"/>
              </a:rPr>
              <a:t>发展也很迅速</a:t>
            </a:r>
            <a:r>
              <a:rPr lang="en-US" b="0">
                <a:latin typeface="微软雅黑" charset="0"/>
                <a:ea typeface="微软雅黑" charset="0"/>
                <a:cs typeface="微软雅黑" charset="0"/>
              </a:rPr>
              <a:t>(Schumacker &amp; Marcoulides</a:t>
            </a:r>
            <a:r>
              <a:rPr lang="zh-CN" b="0">
                <a:latin typeface="微软雅黑" charset="0"/>
                <a:ea typeface="微软雅黑" charset="0"/>
                <a:cs typeface="微软雅黑" charset="0"/>
              </a:rPr>
              <a:t>，</a:t>
            </a:r>
            <a:r>
              <a:rPr lang="en-US" b="0">
                <a:latin typeface="微软雅黑" charset="0"/>
                <a:ea typeface="微软雅黑" charset="0"/>
                <a:cs typeface="微软雅黑" charset="0"/>
              </a:rPr>
              <a:t>1998;Skrondal &amp; Rabe-Hesketh</a:t>
            </a:r>
            <a:r>
              <a:rPr lang="zh-CN" b="0">
                <a:latin typeface="微软雅黑" charset="0"/>
                <a:ea typeface="微软雅黑" charset="0"/>
                <a:cs typeface="微软雅黑" charset="0"/>
              </a:rPr>
              <a:t>，</a:t>
            </a:r>
            <a:r>
              <a:rPr lang="en-US" b="0">
                <a:latin typeface="微软雅黑" charset="0"/>
                <a:ea typeface="微软雅黑" charset="0"/>
                <a:cs typeface="微软雅黑" charset="0"/>
              </a:rPr>
              <a:t>2004</a:t>
            </a:r>
            <a:r>
              <a:rPr lang="zh-CN" b="0">
                <a:latin typeface="微软雅黑" charset="0"/>
                <a:ea typeface="微软雅黑" charset="0"/>
                <a:cs typeface="微软雅黑" charset="0"/>
              </a:rPr>
              <a:t>）。</a:t>
            </a:r>
            <a:endParaRPr lang="zh-CN" altLang="en-US" b="0">
              <a:latin typeface="微软雅黑" charset="0"/>
              <a:ea typeface="微软雅黑" charset="0"/>
              <a:cs typeface="微软雅黑" charset="0"/>
            </a:endParaRPr>
          </a:p>
        </p:txBody>
      </p:sp>
      <p:sp>
        <p:nvSpPr>
          <p:cNvPr id="4" name="文本框 3"/>
          <p:cNvSpPr txBox="1"/>
          <p:nvPr/>
        </p:nvSpPr>
        <p:spPr>
          <a:xfrm>
            <a:off x="6743700" y="1316672"/>
            <a:ext cx="5080000" cy="3415030"/>
          </a:xfrm>
          <a:prstGeom prst="rect">
            <a:avLst/>
          </a:prstGeom>
          <a:noFill/>
          <a:ln w="9525">
            <a:noFill/>
          </a:ln>
        </p:spPr>
        <p:txBody>
          <a:bodyPr>
            <a:spAutoFit/>
          </a:bodyPr>
          <a:lstStyle/>
          <a:p>
            <a:pPr marL="0" indent="266700" algn="l" fontAlgn="auto">
              <a:lnSpc>
                <a:spcPct val="150000"/>
              </a:lnSpc>
            </a:pPr>
            <a:r>
              <a:rPr lang="zh-CN" b="0">
                <a:latin typeface="微软雅黑" charset="0"/>
                <a:ea typeface="微软雅黑" charset="0"/>
                <a:cs typeface="微软雅黑" charset="0"/>
              </a:rPr>
              <a:t>一般来说</a:t>
            </a:r>
            <a:r>
              <a:rPr lang="en-US" b="0">
                <a:latin typeface="微软雅黑" charset="0"/>
                <a:ea typeface="微软雅黑" charset="0"/>
                <a:cs typeface="微软雅黑" charset="0"/>
              </a:rPr>
              <a:t>,</a:t>
            </a:r>
            <a:r>
              <a:rPr lang="zh-CN" b="0">
                <a:latin typeface="微软雅黑" charset="0"/>
                <a:ea typeface="微软雅黑" charset="0"/>
                <a:cs typeface="微软雅黑" charset="0"/>
              </a:rPr>
              <a:t>可以将结构方程模型分解成两个部分：测量模型和结构模型。测量模型涉及指标与潜变量之间的关系，主要处理的是潜变量的测量问题，排除误差对测量精确性的影响，单独的测量模型即为验证性因素分析模型。结构模型主要处理了显变量和显变量，潜变量和潜变量，潜变量和显变量之间的关系，单独的结构模型即为路径分析。</a:t>
            </a: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latin typeface="Arial" panose="020B0604020202020204" pitchFamily="34" charset="0"/>
                <a:ea typeface="微软雅黑" charset="-122"/>
                <a:cs typeface="微软雅黑" charset="-122"/>
                <a:sym typeface="Arial" panose="020B0604020202020204" pitchFamily="34" charset="0"/>
              </a:rPr>
              <a:t>结构方程模型</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图片 22"/>
          <p:cNvPicPr>
            <a:picLocks noChangeAspect="1"/>
          </p:cNvPicPr>
          <p:nvPr/>
        </p:nvPicPr>
        <p:blipFill>
          <a:blip r:embed="rId4"/>
          <a:stretch>
            <a:fillRect/>
          </a:stretch>
        </p:blipFill>
        <p:spPr>
          <a:xfrm>
            <a:off x="6445568" y="1545273"/>
            <a:ext cx="5271135" cy="2559685"/>
          </a:xfrm>
          <a:prstGeom prst="rect">
            <a:avLst/>
          </a:prstGeom>
          <a:noFill/>
          <a:ln>
            <a:noFill/>
          </a:ln>
        </p:spPr>
      </p:pic>
      <p:pic>
        <p:nvPicPr>
          <p:cNvPr id="23" name="图片 22"/>
          <p:cNvPicPr>
            <a:picLocks noChangeAspect="1"/>
          </p:cNvPicPr>
          <p:nvPr/>
        </p:nvPicPr>
        <p:blipFill>
          <a:blip r:embed="rId5"/>
          <a:stretch>
            <a:fillRect/>
          </a:stretch>
        </p:blipFill>
        <p:spPr>
          <a:xfrm>
            <a:off x="851535" y="1308100"/>
            <a:ext cx="5271770" cy="2919730"/>
          </a:xfrm>
          <a:prstGeom prst="rect">
            <a:avLst/>
          </a:prstGeom>
          <a:noFill/>
          <a:ln>
            <a:noFill/>
          </a:ln>
        </p:spPr>
      </p:pic>
      <p:pic>
        <p:nvPicPr>
          <p:cNvPr id="25" name="图片 24"/>
          <p:cNvPicPr>
            <a:picLocks noChangeAspect="1"/>
          </p:cNvPicPr>
          <p:nvPr/>
        </p:nvPicPr>
        <p:blipFill>
          <a:blip r:embed="rId6"/>
          <a:stretch>
            <a:fillRect/>
          </a:stretch>
        </p:blipFill>
        <p:spPr>
          <a:xfrm>
            <a:off x="226060" y="1181735"/>
            <a:ext cx="6296025" cy="3950335"/>
          </a:xfrm>
          <a:prstGeom prst="rect">
            <a:avLst/>
          </a:prstGeom>
          <a:noFill/>
          <a:ln>
            <a:noFill/>
          </a:ln>
        </p:spPr>
      </p:pic>
      <p:pic>
        <p:nvPicPr>
          <p:cNvPr id="26" name="图片 25"/>
          <p:cNvPicPr>
            <a:picLocks noChangeAspect="1"/>
          </p:cNvPicPr>
          <p:nvPr/>
        </p:nvPicPr>
        <p:blipFill>
          <a:blip r:embed="rId7"/>
          <a:stretch>
            <a:fillRect/>
          </a:stretch>
        </p:blipFill>
        <p:spPr>
          <a:xfrm>
            <a:off x="6446838" y="1307783"/>
            <a:ext cx="5269865" cy="1848485"/>
          </a:xfrm>
          <a:prstGeom prst="rect">
            <a:avLst/>
          </a:prstGeom>
          <a:noFill/>
          <a:ln>
            <a:noFill/>
          </a:ln>
        </p:spPr>
      </p:pic>
      <p:pic>
        <p:nvPicPr>
          <p:cNvPr id="27" name="图片 26"/>
          <p:cNvPicPr>
            <a:picLocks noChangeAspect="1"/>
          </p:cNvPicPr>
          <p:nvPr/>
        </p:nvPicPr>
        <p:blipFill>
          <a:blip r:embed="rId8"/>
          <a:stretch>
            <a:fillRect/>
          </a:stretch>
        </p:blipFill>
        <p:spPr>
          <a:xfrm>
            <a:off x="5797550" y="3094990"/>
            <a:ext cx="5975350" cy="1422400"/>
          </a:xfrm>
          <a:prstGeom prst="rect">
            <a:avLst/>
          </a:prstGeom>
          <a:noFill/>
          <a:ln>
            <a:noFill/>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latin typeface="Arial" panose="020B0604020202020204" pitchFamily="34" charset="0"/>
                <a:ea typeface="微软雅黑" charset="-122"/>
                <a:cs typeface="微软雅黑" charset="-122"/>
                <a:sym typeface="Arial" panose="020B0604020202020204" pitchFamily="34" charset="0"/>
              </a:rPr>
              <a:t>从回归到结构方程模型</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右箭头 2"/>
          <p:cNvSpPr/>
          <p:nvPr/>
        </p:nvSpPr>
        <p:spPr>
          <a:xfrm>
            <a:off x="1822450" y="2437765"/>
            <a:ext cx="8375015" cy="1108710"/>
          </a:xfrm>
          <a:prstGeom prst="rightArrow">
            <a:avLst/>
          </a:prstGeom>
          <a:noFill/>
          <a:ln>
            <a:solidFill>
              <a:schemeClr val="tx1"/>
            </a:solid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5" name="文本框 4"/>
          <p:cNvSpPr txBox="1"/>
          <p:nvPr/>
        </p:nvSpPr>
        <p:spPr>
          <a:xfrm>
            <a:off x="844550" y="1792605"/>
            <a:ext cx="2697480" cy="645160"/>
          </a:xfrm>
          <a:prstGeom prst="rect">
            <a:avLst/>
          </a:prstGeom>
          <a:noFill/>
        </p:spPr>
        <p:txBody>
          <a:bodyPr wrap="none" rtlCol="0">
            <a:spAutoFit/>
          </a:bodyPr>
          <a:lstStyle/>
          <a:p>
            <a:pPr algn="ctr"/>
            <a:r>
              <a:rPr lang="zh-CN" altLang="en-US"/>
              <a:t>多元回归</a:t>
            </a:r>
          </a:p>
          <a:p>
            <a:pPr algn="ctr"/>
            <a:r>
              <a:rPr lang="zh-CN" altLang="en-US"/>
              <a:t>（解决了多自变量问题）</a:t>
            </a:r>
            <a:endParaRPr lang="en-US" altLang="zh-CN"/>
          </a:p>
        </p:txBody>
      </p:sp>
      <p:sp>
        <p:nvSpPr>
          <p:cNvPr id="7" name="文本框 6"/>
          <p:cNvSpPr txBox="1"/>
          <p:nvPr/>
        </p:nvSpPr>
        <p:spPr>
          <a:xfrm>
            <a:off x="5701030" y="1792605"/>
            <a:ext cx="2697480" cy="645160"/>
          </a:xfrm>
          <a:prstGeom prst="rect">
            <a:avLst/>
          </a:prstGeom>
          <a:noFill/>
        </p:spPr>
        <p:txBody>
          <a:bodyPr wrap="none" rtlCol="0">
            <a:spAutoFit/>
          </a:bodyPr>
          <a:lstStyle/>
          <a:p>
            <a:pPr algn="ctr"/>
            <a:r>
              <a:rPr lang="zh-CN" altLang="en-US"/>
              <a:t>路径分析</a:t>
            </a:r>
          </a:p>
          <a:p>
            <a:pPr algn="ctr"/>
            <a:r>
              <a:rPr lang="zh-CN" altLang="en-US"/>
              <a:t>（解决了多因变量问题）</a:t>
            </a:r>
            <a:endParaRPr lang="en-US" altLang="zh-CN"/>
          </a:p>
        </p:txBody>
      </p:sp>
      <p:sp>
        <p:nvSpPr>
          <p:cNvPr id="8" name="文本框 7"/>
          <p:cNvSpPr txBox="1"/>
          <p:nvPr/>
        </p:nvSpPr>
        <p:spPr>
          <a:xfrm>
            <a:off x="3132455" y="3697605"/>
            <a:ext cx="3840480" cy="645160"/>
          </a:xfrm>
          <a:prstGeom prst="rect">
            <a:avLst/>
          </a:prstGeom>
          <a:noFill/>
        </p:spPr>
        <p:txBody>
          <a:bodyPr wrap="none" rtlCol="0">
            <a:spAutoFit/>
          </a:bodyPr>
          <a:lstStyle/>
          <a:p>
            <a:pPr algn="ctr"/>
            <a:r>
              <a:rPr lang="zh-CN" altLang="en-US"/>
              <a:t>因子分析</a:t>
            </a:r>
          </a:p>
          <a:p>
            <a:pPr algn="ctr"/>
            <a:r>
              <a:rPr lang="zh-CN" altLang="en-US"/>
              <a:t>（一定程度上增加了测量的精确性）</a:t>
            </a:r>
            <a:endParaRPr lang="en-US" altLang="zh-CN"/>
          </a:p>
        </p:txBody>
      </p:sp>
      <p:sp>
        <p:nvSpPr>
          <p:cNvPr id="9" name="文本框 8"/>
          <p:cNvSpPr txBox="1"/>
          <p:nvPr/>
        </p:nvSpPr>
        <p:spPr>
          <a:xfrm>
            <a:off x="10444480" y="2807970"/>
            <a:ext cx="1554480" cy="368300"/>
          </a:xfrm>
          <a:prstGeom prst="rect">
            <a:avLst/>
          </a:prstGeom>
          <a:noFill/>
        </p:spPr>
        <p:txBody>
          <a:bodyPr wrap="none" rtlCol="0">
            <a:spAutoFit/>
          </a:bodyPr>
          <a:lstStyle/>
          <a:p>
            <a:pPr algn="ctr"/>
            <a:r>
              <a:rPr lang="zh-CN" altLang="en-US"/>
              <a:t>结构方程模型</a:t>
            </a:r>
          </a:p>
        </p:txBody>
      </p:sp>
      <p:sp>
        <p:nvSpPr>
          <p:cNvPr id="11" name="任意多边形 10"/>
          <p:cNvSpPr/>
          <p:nvPr/>
        </p:nvSpPr>
        <p:spPr>
          <a:xfrm>
            <a:off x="2390775" y="1717040"/>
            <a:ext cx="9697720" cy="4606290"/>
          </a:xfrm>
          <a:custGeom>
            <a:avLst/>
            <a:gdLst>
              <a:gd name="connisteX0" fmla="*/ 5283891 w 9697805"/>
              <a:gd name="connsiteY0" fmla="*/ 4528213 h 4606308"/>
              <a:gd name="connisteX1" fmla="*/ 5161971 w 9697805"/>
              <a:gd name="connsiteY1" fmla="*/ 4577108 h 4606308"/>
              <a:gd name="connisteX2" fmla="*/ 4754301 w 9697805"/>
              <a:gd name="connsiteY2" fmla="*/ 4601238 h 4606308"/>
              <a:gd name="connisteX3" fmla="*/ 4533956 w 9697805"/>
              <a:gd name="connsiteY3" fmla="*/ 4601238 h 4606308"/>
              <a:gd name="connisteX4" fmla="*/ 4191691 w 9697805"/>
              <a:gd name="connsiteY4" fmla="*/ 4560598 h 4606308"/>
              <a:gd name="connisteX5" fmla="*/ 4011986 w 9697805"/>
              <a:gd name="connsiteY5" fmla="*/ 4535833 h 4606308"/>
              <a:gd name="connisteX6" fmla="*/ 3840536 w 9697805"/>
              <a:gd name="connsiteY6" fmla="*/ 4495193 h 4606308"/>
              <a:gd name="connisteX7" fmla="*/ 3604316 w 9697805"/>
              <a:gd name="connsiteY7" fmla="*/ 4446298 h 4606308"/>
              <a:gd name="connisteX8" fmla="*/ 3368096 w 9697805"/>
              <a:gd name="connsiteY8" fmla="*/ 4397403 h 4606308"/>
              <a:gd name="connisteX9" fmla="*/ 3139496 w 9697805"/>
              <a:gd name="connsiteY9" fmla="*/ 4340253 h 4606308"/>
              <a:gd name="connisteX10" fmla="*/ 2984556 w 9697805"/>
              <a:gd name="connsiteY10" fmla="*/ 4299613 h 4606308"/>
              <a:gd name="connisteX11" fmla="*/ 2829616 w 9697805"/>
              <a:gd name="connsiteY11" fmla="*/ 4242463 h 4606308"/>
              <a:gd name="connisteX12" fmla="*/ 2568631 w 9697805"/>
              <a:gd name="connsiteY12" fmla="*/ 4144673 h 4606308"/>
              <a:gd name="connisteX13" fmla="*/ 2381306 w 9697805"/>
              <a:gd name="connsiteY13" fmla="*/ 4071013 h 4606308"/>
              <a:gd name="connisteX14" fmla="*/ 2112066 w 9697805"/>
              <a:gd name="connsiteY14" fmla="*/ 3949093 h 4606308"/>
              <a:gd name="connisteX15" fmla="*/ 2022531 w 9697805"/>
              <a:gd name="connsiteY15" fmla="*/ 3916073 h 4606308"/>
              <a:gd name="connisteX16" fmla="*/ 1793931 w 9697805"/>
              <a:gd name="connsiteY16" fmla="*/ 3802408 h 4606308"/>
              <a:gd name="connisteX17" fmla="*/ 1672011 w 9697805"/>
              <a:gd name="connsiteY17" fmla="*/ 3737003 h 4606308"/>
              <a:gd name="connisteX18" fmla="*/ 1573586 w 9697805"/>
              <a:gd name="connsiteY18" fmla="*/ 3671598 h 4606308"/>
              <a:gd name="connisteX19" fmla="*/ 1435156 w 9697805"/>
              <a:gd name="connsiteY19" fmla="*/ 3598573 h 4606308"/>
              <a:gd name="connisteX20" fmla="*/ 1288471 w 9697805"/>
              <a:gd name="connsiteY20" fmla="*/ 3508403 h 4606308"/>
              <a:gd name="connisteX21" fmla="*/ 1157661 w 9697805"/>
              <a:gd name="connsiteY21" fmla="*/ 3410613 h 4606308"/>
              <a:gd name="connisteX22" fmla="*/ 1076381 w 9697805"/>
              <a:gd name="connsiteY22" fmla="*/ 3353463 h 4606308"/>
              <a:gd name="connisteX23" fmla="*/ 995101 w 9697805"/>
              <a:gd name="connsiteY23" fmla="*/ 3288693 h 4606308"/>
              <a:gd name="connisteX24" fmla="*/ 880801 w 9697805"/>
              <a:gd name="connsiteY24" fmla="*/ 3198523 h 4606308"/>
              <a:gd name="connisteX25" fmla="*/ 807141 w 9697805"/>
              <a:gd name="connsiteY25" fmla="*/ 3141373 h 4606308"/>
              <a:gd name="connisteX26" fmla="*/ 734116 w 9697805"/>
              <a:gd name="connsiteY26" fmla="*/ 3076603 h 4606308"/>
              <a:gd name="connisteX27" fmla="*/ 668711 w 9697805"/>
              <a:gd name="connsiteY27" fmla="*/ 3011198 h 4606308"/>
              <a:gd name="connisteX28" fmla="*/ 603306 w 9697805"/>
              <a:gd name="connsiteY28" fmla="*/ 2937538 h 4606308"/>
              <a:gd name="connisteX29" fmla="*/ 456621 w 9697805"/>
              <a:gd name="connsiteY29" fmla="*/ 2758468 h 4606308"/>
              <a:gd name="connisteX30" fmla="*/ 391216 w 9697805"/>
              <a:gd name="connsiteY30" fmla="*/ 2676553 h 4606308"/>
              <a:gd name="connisteX31" fmla="*/ 301681 w 9697805"/>
              <a:gd name="connsiteY31" fmla="*/ 2571143 h 4606308"/>
              <a:gd name="connisteX32" fmla="*/ 252786 w 9697805"/>
              <a:gd name="connsiteY32" fmla="*/ 2505738 h 4606308"/>
              <a:gd name="connisteX33" fmla="*/ 179126 w 9697805"/>
              <a:gd name="connsiteY33" fmla="*/ 2391438 h 4606308"/>
              <a:gd name="connisteX34" fmla="*/ 122611 w 9697805"/>
              <a:gd name="connsiteY34" fmla="*/ 2285393 h 4606308"/>
              <a:gd name="connisteX35" fmla="*/ 81336 w 9697805"/>
              <a:gd name="connsiteY35" fmla="*/ 2179348 h 4606308"/>
              <a:gd name="connisteX36" fmla="*/ 40696 w 9697805"/>
              <a:gd name="connsiteY36" fmla="*/ 2073303 h 4606308"/>
              <a:gd name="connisteX37" fmla="*/ 24186 w 9697805"/>
              <a:gd name="connsiteY37" fmla="*/ 2007898 h 4606308"/>
              <a:gd name="connisteX38" fmla="*/ 8311 w 9697805"/>
              <a:gd name="connsiteY38" fmla="*/ 1926618 h 4606308"/>
              <a:gd name="connisteX39" fmla="*/ 56 w 9697805"/>
              <a:gd name="connsiteY39" fmla="*/ 1837083 h 4606308"/>
              <a:gd name="connisteX40" fmla="*/ 8311 w 9697805"/>
              <a:gd name="connsiteY40" fmla="*/ 1714528 h 4606308"/>
              <a:gd name="connisteX41" fmla="*/ 48951 w 9697805"/>
              <a:gd name="connsiteY41" fmla="*/ 1608483 h 4606308"/>
              <a:gd name="connisteX42" fmla="*/ 89591 w 9697805"/>
              <a:gd name="connsiteY42" fmla="*/ 1510693 h 4606308"/>
              <a:gd name="connisteX43" fmla="*/ 138486 w 9697805"/>
              <a:gd name="connsiteY43" fmla="*/ 1429413 h 4606308"/>
              <a:gd name="connisteX44" fmla="*/ 220401 w 9697805"/>
              <a:gd name="connsiteY44" fmla="*/ 1347498 h 4606308"/>
              <a:gd name="connisteX45" fmla="*/ 326446 w 9697805"/>
              <a:gd name="connsiteY45" fmla="*/ 1282728 h 4606308"/>
              <a:gd name="connisteX46" fmla="*/ 456621 w 9697805"/>
              <a:gd name="connsiteY46" fmla="*/ 1241453 h 4606308"/>
              <a:gd name="connisteX47" fmla="*/ 562666 w 9697805"/>
              <a:gd name="connsiteY47" fmla="*/ 1217323 h 4606308"/>
              <a:gd name="connisteX48" fmla="*/ 701096 w 9697805"/>
              <a:gd name="connsiteY48" fmla="*/ 1200813 h 4606308"/>
              <a:gd name="connisteX49" fmla="*/ 783011 w 9697805"/>
              <a:gd name="connsiteY49" fmla="*/ 1192558 h 4606308"/>
              <a:gd name="connisteX50" fmla="*/ 864291 w 9697805"/>
              <a:gd name="connsiteY50" fmla="*/ 1184303 h 4606308"/>
              <a:gd name="connisteX51" fmla="*/ 1059871 w 9697805"/>
              <a:gd name="connsiteY51" fmla="*/ 1184303 h 4606308"/>
              <a:gd name="connisteX52" fmla="*/ 1402771 w 9697805"/>
              <a:gd name="connsiteY52" fmla="*/ 1200813 h 4606308"/>
              <a:gd name="connisteX53" fmla="*/ 1500561 w 9697805"/>
              <a:gd name="connsiteY53" fmla="*/ 1217323 h 4606308"/>
              <a:gd name="connisteX54" fmla="*/ 1720906 w 9697805"/>
              <a:gd name="connsiteY54" fmla="*/ 1233198 h 4606308"/>
              <a:gd name="connisteX55" fmla="*/ 1957126 w 9697805"/>
              <a:gd name="connsiteY55" fmla="*/ 1257963 h 4606308"/>
              <a:gd name="connisteX56" fmla="*/ 2079681 w 9697805"/>
              <a:gd name="connsiteY56" fmla="*/ 1266218 h 4606308"/>
              <a:gd name="connisteX57" fmla="*/ 2324156 w 9697805"/>
              <a:gd name="connsiteY57" fmla="*/ 1298603 h 4606308"/>
              <a:gd name="connisteX58" fmla="*/ 2544501 w 9697805"/>
              <a:gd name="connsiteY58" fmla="*/ 1323368 h 4606308"/>
              <a:gd name="connisteX59" fmla="*/ 2715316 w 9697805"/>
              <a:gd name="connsiteY59" fmla="*/ 1339243 h 4606308"/>
              <a:gd name="connisteX60" fmla="*/ 2846126 w 9697805"/>
              <a:gd name="connsiteY60" fmla="*/ 1347498 h 4606308"/>
              <a:gd name="connisteX61" fmla="*/ 2910896 w 9697805"/>
              <a:gd name="connsiteY61" fmla="*/ 1347498 h 4606308"/>
              <a:gd name="connisteX62" fmla="*/ 3001066 w 9697805"/>
              <a:gd name="connsiteY62" fmla="*/ 1355753 h 4606308"/>
              <a:gd name="connisteX63" fmla="*/ 3098856 w 9697805"/>
              <a:gd name="connsiteY63" fmla="*/ 1364008 h 4606308"/>
              <a:gd name="connisteX64" fmla="*/ 3220776 w 9697805"/>
              <a:gd name="connsiteY64" fmla="*/ 1372263 h 4606308"/>
              <a:gd name="connisteX65" fmla="*/ 3351586 w 9697805"/>
              <a:gd name="connsiteY65" fmla="*/ 1388138 h 4606308"/>
              <a:gd name="connisteX66" fmla="*/ 3481761 w 9697805"/>
              <a:gd name="connsiteY66" fmla="*/ 1412903 h 4606308"/>
              <a:gd name="connisteX67" fmla="*/ 3653211 w 9697805"/>
              <a:gd name="connsiteY67" fmla="*/ 1429413 h 4606308"/>
              <a:gd name="connisteX68" fmla="*/ 3808151 w 9697805"/>
              <a:gd name="connsiteY68" fmla="*/ 1445288 h 4606308"/>
              <a:gd name="connisteX69" fmla="*/ 3979601 w 9697805"/>
              <a:gd name="connsiteY69" fmla="*/ 1470053 h 4606308"/>
              <a:gd name="connisteX70" fmla="*/ 4069136 w 9697805"/>
              <a:gd name="connsiteY70" fmla="*/ 1478308 h 4606308"/>
              <a:gd name="connisteX71" fmla="*/ 4158671 w 9697805"/>
              <a:gd name="connsiteY71" fmla="*/ 1486563 h 4606308"/>
              <a:gd name="connisteX72" fmla="*/ 4272971 w 9697805"/>
              <a:gd name="connsiteY72" fmla="*/ 1494183 h 4606308"/>
              <a:gd name="connisteX73" fmla="*/ 4362506 w 9697805"/>
              <a:gd name="connsiteY73" fmla="*/ 1494183 h 4606308"/>
              <a:gd name="connisteX74" fmla="*/ 4485061 w 9697805"/>
              <a:gd name="connsiteY74" fmla="*/ 1502438 h 4606308"/>
              <a:gd name="connisteX75" fmla="*/ 4640001 w 9697805"/>
              <a:gd name="connsiteY75" fmla="*/ 1502438 h 4606308"/>
              <a:gd name="connisteX76" fmla="*/ 4721281 w 9697805"/>
              <a:gd name="connsiteY76" fmla="*/ 1494183 h 4606308"/>
              <a:gd name="connisteX77" fmla="*/ 4876221 w 9697805"/>
              <a:gd name="connsiteY77" fmla="*/ 1478308 h 4606308"/>
              <a:gd name="connisteX78" fmla="*/ 4949881 w 9697805"/>
              <a:gd name="connsiteY78" fmla="*/ 1461798 h 4606308"/>
              <a:gd name="connisteX79" fmla="*/ 5088311 w 9697805"/>
              <a:gd name="connsiteY79" fmla="*/ 1429413 h 4606308"/>
              <a:gd name="connisteX80" fmla="*/ 5178481 w 9697805"/>
              <a:gd name="connsiteY80" fmla="*/ 1404648 h 4606308"/>
              <a:gd name="connisteX81" fmla="*/ 5243251 w 9697805"/>
              <a:gd name="connsiteY81" fmla="*/ 1380518 h 4606308"/>
              <a:gd name="connisteX82" fmla="*/ 5325166 w 9697805"/>
              <a:gd name="connsiteY82" fmla="*/ 1355753 h 4606308"/>
              <a:gd name="connisteX83" fmla="*/ 5414701 w 9697805"/>
              <a:gd name="connsiteY83" fmla="*/ 1331623 h 4606308"/>
              <a:gd name="connisteX84" fmla="*/ 5569641 w 9697805"/>
              <a:gd name="connsiteY84" fmla="*/ 1282728 h 4606308"/>
              <a:gd name="connisteX85" fmla="*/ 5732836 w 9697805"/>
              <a:gd name="connsiteY85" fmla="*/ 1217323 h 4606308"/>
              <a:gd name="connisteX86" fmla="*/ 5838881 w 9697805"/>
              <a:gd name="connsiteY86" fmla="*/ 1176683 h 4606308"/>
              <a:gd name="connisteX87" fmla="*/ 6042716 w 9697805"/>
              <a:gd name="connsiteY87" fmla="*/ 1078258 h 4606308"/>
              <a:gd name="connisteX88" fmla="*/ 6140506 w 9697805"/>
              <a:gd name="connsiteY88" fmla="*/ 1021743 h 4606308"/>
              <a:gd name="connisteX89" fmla="*/ 6238296 w 9697805"/>
              <a:gd name="connsiteY89" fmla="*/ 964593 h 4606308"/>
              <a:gd name="connisteX90" fmla="*/ 6344341 w 9697805"/>
              <a:gd name="connsiteY90" fmla="*/ 899188 h 4606308"/>
              <a:gd name="connisteX91" fmla="*/ 6450386 w 9697805"/>
              <a:gd name="connsiteY91" fmla="*/ 842038 h 4606308"/>
              <a:gd name="connisteX92" fmla="*/ 6539921 w 9697805"/>
              <a:gd name="connsiteY92" fmla="*/ 776633 h 4606308"/>
              <a:gd name="connisteX93" fmla="*/ 6637711 w 9697805"/>
              <a:gd name="connsiteY93" fmla="*/ 703608 h 4606308"/>
              <a:gd name="connisteX94" fmla="*/ 6727246 w 9697805"/>
              <a:gd name="connsiteY94" fmla="*/ 629948 h 4606308"/>
              <a:gd name="connisteX95" fmla="*/ 6825671 w 9697805"/>
              <a:gd name="connsiteY95" fmla="*/ 556923 h 4606308"/>
              <a:gd name="connisteX96" fmla="*/ 6906951 w 9697805"/>
              <a:gd name="connsiteY96" fmla="*/ 491518 h 4606308"/>
              <a:gd name="connisteX97" fmla="*/ 6988231 w 9697805"/>
              <a:gd name="connsiteY97" fmla="*/ 426113 h 4606308"/>
              <a:gd name="connisteX98" fmla="*/ 7061891 w 9697805"/>
              <a:gd name="connsiteY98" fmla="*/ 377218 h 4606308"/>
              <a:gd name="connisteX99" fmla="*/ 7127296 w 9697805"/>
              <a:gd name="connsiteY99" fmla="*/ 328323 h 4606308"/>
              <a:gd name="connisteX100" fmla="*/ 7216831 w 9697805"/>
              <a:gd name="connsiteY100" fmla="*/ 279428 h 4606308"/>
              <a:gd name="connisteX101" fmla="*/ 7282236 w 9697805"/>
              <a:gd name="connsiteY101" fmla="*/ 247043 h 4606308"/>
              <a:gd name="connisteX102" fmla="*/ 7355261 w 9697805"/>
              <a:gd name="connsiteY102" fmla="*/ 205768 h 4606308"/>
              <a:gd name="connisteX103" fmla="*/ 7420666 w 9697805"/>
              <a:gd name="connsiteY103" fmla="*/ 181638 h 4606308"/>
              <a:gd name="connisteX104" fmla="*/ 7510201 w 9697805"/>
              <a:gd name="connsiteY104" fmla="*/ 148618 h 4606308"/>
              <a:gd name="connisteX105" fmla="*/ 7583861 w 9697805"/>
              <a:gd name="connsiteY105" fmla="*/ 124488 h 4606308"/>
              <a:gd name="connisteX106" fmla="*/ 7722291 w 9697805"/>
              <a:gd name="connsiteY106" fmla="*/ 92103 h 4606308"/>
              <a:gd name="connisteX107" fmla="*/ 7877231 w 9697805"/>
              <a:gd name="connsiteY107" fmla="*/ 67338 h 4606308"/>
              <a:gd name="connisteX108" fmla="*/ 7966766 w 9697805"/>
              <a:gd name="connsiteY108" fmla="*/ 50828 h 4606308"/>
              <a:gd name="connisteX109" fmla="*/ 8065191 w 9697805"/>
              <a:gd name="connsiteY109" fmla="*/ 34953 h 4606308"/>
              <a:gd name="connisteX110" fmla="*/ 8187111 w 9697805"/>
              <a:gd name="connsiteY110" fmla="*/ 18443 h 4606308"/>
              <a:gd name="connisteX111" fmla="*/ 8309666 w 9697805"/>
              <a:gd name="connsiteY111" fmla="*/ 10188 h 4606308"/>
              <a:gd name="connisteX112" fmla="*/ 8423966 w 9697805"/>
              <a:gd name="connsiteY112" fmla="*/ 10188 h 4606308"/>
              <a:gd name="connisteX113" fmla="*/ 8537631 w 9697805"/>
              <a:gd name="connsiteY113" fmla="*/ 1933 h 4606308"/>
              <a:gd name="connisteX114" fmla="*/ 8611291 w 9697805"/>
              <a:gd name="connsiteY114" fmla="*/ 1933 h 4606308"/>
              <a:gd name="connisteX115" fmla="*/ 8700826 w 9697805"/>
              <a:gd name="connsiteY115" fmla="*/ 18443 h 4606308"/>
              <a:gd name="connisteX116" fmla="*/ 8782741 w 9697805"/>
              <a:gd name="connsiteY116" fmla="*/ 43208 h 4606308"/>
              <a:gd name="connisteX117" fmla="*/ 8904661 w 9697805"/>
              <a:gd name="connsiteY117" fmla="*/ 83848 h 4606308"/>
              <a:gd name="connisteX118" fmla="*/ 8978321 w 9697805"/>
              <a:gd name="connsiteY118" fmla="*/ 107978 h 4606308"/>
              <a:gd name="connisteX119" fmla="*/ 9059601 w 9697805"/>
              <a:gd name="connsiteY119" fmla="*/ 140998 h 4606308"/>
              <a:gd name="connisteX120" fmla="*/ 9125006 w 9697805"/>
              <a:gd name="connsiteY120" fmla="*/ 173383 h 4606308"/>
              <a:gd name="connisteX121" fmla="*/ 9222796 w 9697805"/>
              <a:gd name="connsiteY121" fmla="*/ 222278 h 4606308"/>
              <a:gd name="connisteX122" fmla="*/ 9296456 w 9697805"/>
              <a:gd name="connsiteY122" fmla="*/ 271173 h 4606308"/>
              <a:gd name="connisteX123" fmla="*/ 9369481 w 9697805"/>
              <a:gd name="connsiteY123" fmla="*/ 328323 h 4606308"/>
              <a:gd name="connisteX124" fmla="*/ 9434886 w 9697805"/>
              <a:gd name="connsiteY124" fmla="*/ 385473 h 4606308"/>
              <a:gd name="connisteX125" fmla="*/ 9508546 w 9697805"/>
              <a:gd name="connsiteY125" fmla="*/ 450878 h 4606308"/>
              <a:gd name="connisteX126" fmla="*/ 9557441 w 9697805"/>
              <a:gd name="connsiteY126" fmla="*/ 515648 h 4606308"/>
              <a:gd name="connisteX127" fmla="*/ 9589826 w 9697805"/>
              <a:gd name="connsiteY127" fmla="*/ 589308 h 4606308"/>
              <a:gd name="connisteX128" fmla="*/ 9646976 w 9697805"/>
              <a:gd name="connsiteY128" fmla="*/ 695353 h 4606308"/>
              <a:gd name="connisteX129" fmla="*/ 9671106 w 9697805"/>
              <a:gd name="connsiteY129" fmla="*/ 760758 h 4606308"/>
              <a:gd name="connisteX130" fmla="*/ 9687616 w 9697805"/>
              <a:gd name="connsiteY130" fmla="*/ 842038 h 4606308"/>
              <a:gd name="connisteX131" fmla="*/ 9695871 w 9697805"/>
              <a:gd name="connsiteY131" fmla="*/ 923318 h 4606308"/>
              <a:gd name="connisteX132" fmla="*/ 9695871 w 9697805"/>
              <a:gd name="connsiteY132" fmla="*/ 1005233 h 4606308"/>
              <a:gd name="connisteX133" fmla="*/ 9679361 w 9697805"/>
              <a:gd name="connsiteY133" fmla="*/ 1094768 h 4606308"/>
              <a:gd name="connisteX134" fmla="*/ 9646976 w 9697805"/>
              <a:gd name="connsiteY134" fmla="*/ 1233198 h 4606308"/>
              <a:gd name="connisteX135" fmla="*/ 9622211 w 9697805"/>
              <a:gd name="connsiteY135" fmla="*/ 1331623 h 4606308"/>
              <a:gd name="connisteX136" fmla="*/ 9589826 w 9697805"/>
              <a:gd name="connsiteY136" fmla="*/ 1421158 h 4606308"/>
              <a:gd name="connisteX137" fmla="*/ 9557441 w 9697805"/>
              <a:gd name="connsiteY137" fmla="*/ 1510693 h 4606308"/>
              <a:gd name="connisteX138" fmla="*/ 9500291 w 9697805"/>
              <a:gd name="connsiteY138" fmla="*/ 1641503 h 4606308"/>
              <a:gd name="connisteX139" fmla="*/ 9467271 w 9697805"/>
              <a:gd name="connsiteY139" fmla="*/ 1722783 h 4606308"/>
              <a:gd name="connisteX140" fmla="*/ 9434886 w 9697805"/>
              <a:gd name="connsiteY140" fmla="*/ 1788188 h 4606308"/>
              <a:gd name="connisteX141" fmla="*/ 9385991 w 9697805"/>
              <a:gd name="connsiteY141" fmla="*/ 1861213 h 4606308"/>
              <a:gd name="connisteX142" fmla="*/ 9345351 w 9697805"/>
              <a:gd name="connsiteY142" fmla="*/ 1934873 h 4606308"/>
              <a:gd name="connisteX143" fmla="*/ 9304076 w 9697805"/>
              <a:gd name="connsiteY143" fmla="*/ 2024408 h 4606308"/>
              <a:gd name="connisteX144" fmla="*/ 9231051 w 9697805"/>
              <a:gd name="connsiteY144" fmla="*/ 2122198 h 4606308"/>
              <a:gd name="connisteX145" fmla="*/ 9182156 w 9697805"/>
              <a:gd name="connsiteY145" fmla="*/ 2195858 h 4606308"/>
              <a:gd name="connisteX146" fmla="*/ 9100241 w 9697805"/>
              <a:gd name="connsiteY146" fmla="*/ 2285393 h 4606308"/>
              <a:gd name="connisteX147" fmla="*/ 9059601 w 9697805"/>
              <a:gd name="connsiteY147" fmla="*/ 2350798 h 4606308"/>
              <a:gd name="connisteX148" fmla="*/ 9002451 w 9697805"/>
              <a:gd name="connsiteY148" fmla="*/ 2432078 h 4606308"/>
              <a:gd name="connisteX149" fmla="*/ 8880531 w 9697805"/>
              <a:gd name="connsiteY149" fmla="*/ 2587018 h 4606308"/>
              <a:gd name="connisteX150" fmla="*/ 8717336 w 9697805"/>
              <a:gd name="connsiteY150" fmla="*/ 2766723 h 4606308"/>
              <a:gd name="connisteX151" fmla="*/ 8651931 w 9697805"/>
              <a:gd name="connsiteY151" fmla="*/ 2831493 h 4606308"/>
              <a:gd name="connisteX152" fmla="*/ 8521756 w 9697805"/>
              <a:gd name="connsiteY152" fmla="*/ 2954048 h 4606308"/>
              <a:gd name="connisteX153" fmla="*/ 8390946 w 9697805"/>
              <a:gd name="connsiteY153" fmla="*/ 3068348 h 4606308"/>
              <a:gd name="connisteX154" fmla="*/ 8220131 w 9697805"/>
              <a:gd name="connsiteY154" fmla="*/ 3231543 h 4606308"/>
              <a:gd name="connisteX155" fmla="*/ 8056936 w 9697805"/>
              <a:gd name="connsiteY155" fmla="*/ 3386483 h 4606308"/>
              <a:gd name="connisteX156" fmla="*/ 7868976 w 9697805"/>
              <a:gd name="connsiteY156" fmla="*/ 3524913 h 4606308"/>
              <a:gd name="connisteX157" fmla="*/ 7722291 w 9697805"/>
              <a:gd name="connsiteY157" fmla="*/ 3614448 h 4606308"/>
              <a:gd name="connisteX158" fmla="*/ 7641011 w 9697805"/>
              <a:gd name="connsiteY158" fmla="*/ 3655088 h 4606308"/>
              <a:gd name="connisteX159" fmla="*/ 7559096 w 9697805"/>
              <a:gd name="connsiteY159" fmla="*/ 3696363 h 4606308"/>
              <a:gd name="connisteX160" fmla="*/ 7420666 w 9697805"/>
              <a:gd name="connsiteY160" fmla="*/ 3777643 h 4606308"/>
              <a:gd name="connisteX161" fmla="*/ 7306366 w 9697805"/>
              <a:gd name="connsiteY161" fmla="*/ 3867178 h 4606308"/>
              <a:gd name="connisteX162" fmla="*/ 7225086 w 9697805"/>
              <a:gd name="connsiteY162" fmla="*/ 3924328 h 4606308"/>
              <a:gd name="connisteX163" fmla="*/ 7143171 w 9697805"/>
              <a:gd name="connsiteY163" fmla="*/ 3989733 h 4606308"/>
              <a:gd name="connisteX164" fmla="*/ 7070146 w 9697805"/>
              <a:gd name="connsiteY164" fmla="*/ 4030373 h 4606308"/>
              <a:gd name="connisteX165" fmla="*/ 6964101 w 9697805"/>
              <a:gd name="connsiteY165" fmla="*/ 4087523 h 4606308"/>
              <a:gd name="connisteX166" fmla="*/ 6898696 w 9697805"/>
              <a:gd name="connsiteY166" fmla="*/ 4128163 h 4606308"/>
              <a:gd name="connisteX167" fmla="*/ 6817416 w 9697805"/>
              <a:gd name="connsiteY167" fmla="*/ 4177058 h 4606308"/>
              <a:gd name="connisteX168" fmla="*/ 6686606 w 9697805"/>
              <a:gd name="connsiteY168" fmla="*/ 4250718 h 4606308"/>
              <a:gd name="connisteX169" fmla="*/ 6588816 w 9697805"/>
              <a:gd name="connsiteY169" fmla="*/ 4291358 h 4606308"/>
              <a:gd name="connisteX170" fmla="*/ 6474516 w 9697805"/>
              <a:gd name="connsiteY170" fmla="*/ 4324378 h 4606308"/>
              <a:gd name="connisteX171" fmla="*/ 6319576 w 9697805"/>
              <a:gd name="connsiteY171" fmla="*/ 4365018 h 4606308"/>
              <a:gd name="connisteX172" fmla="*/ 6230041 w 9697805"/>
              <a:gd name="connsiteY172" fmla="*/ 4389148 h 4606308"/>
              <a:gd name="connisteX173" fmla="*/ 6148761 w 9697805"/>
              <a:gd name="connsiteY173" fmla="*/ 4422168 h 4606308"/>
              <a:gd name="connisteX174" fmla="*/ 6058591 w 9697805"/>
              <a:gd name="connsiteY174" fmla="*/ 4438043 h 4606308"/>
              <a:gd name="connisteX175" fmla="*/ 5952546 w 9697805"/>
              <a:gd name="connsiteY175" fmla="*/ 4446298 h 4606308"/>
              <a:gd name="connisteX176" fmla="*/ 5871266 w 9697805"/>
              <a:gd name="connsiteY176" fmla="*/ 4454553 h 4606308"/>
              <a:gd name="connisteX177" fmla="*/ 5805861 w 9697805"/>
              <a:gd name="connsiteY177" fmla="*/ 4471063 h 4606308"/>
              <a:gd name="connisteX178" fmla="*/ 5708071 w 9697805"/>
              <a:gd name="connsiteY178" fmla="*/ 4486938 h 4606308"/>
              <a:gd name="connisteX179" fmla="*/ 5610281 w 9697805"/>
              <a:gd name="connsiteY179" fmla="*/ 4503448 h 4606308"/>
              <a:gd name="connisteX180" fmla="*/ 5544876 w 9697805"/>
              <a:gd name="connsiteY180" fmla="*/ 4511703 h 4606308"/>
              <a:gd name="connisteX181" fmla="*/ 5471851 w 9697805"/>
              <a:gd name="connsiteY181" fmla="*/ 4519958 h 4606308"/>
              <a:gd name="connisteX182" fmla="*/ 5406446 w 9697805"/>
              <a:gd name="connsiteY182" fmla="*/ 4535833 h 4606308"/>
              <a:gd name="connisteX183" fmla="*/ 5341041 w 9697805"/>
              <a:gd name="connsiteY183" fmla="*/ 4544088 h 4606308"/>
              <a:gd name="connisteX184" fmla="*/ 5268016 w 9697805"/>
              <a:gd name="connsiteY184" fmla="*/ 4552343 h 460630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 ang="0">
                <a:pos x="connisteX59" y="connsiteY59"/>
              </a:cxn>
              <a:cxn ang="0">
                <a:pos x="connisteX60" y="connsiteY60"/>
              </a:cxn>
              <a:cxn ang="0">
                <a:pos x="connisteX61" y="connsiteY61"/>
              </a:cxn>
              <a:cxn ang="0">
                <a:pos x="connisteX62" y="connsiteY62"/>
              </a:cxn>
              <a:cxn ang="0">
                <a:pos x="connisteX63" y="connsiteY63"/>
              </a:cxn>
              <a:cxn ang="0">
                <a:pos x="connisteX64" y="connsiteY64"/>
              </a:cxn>
              <a:cxn ang="0">
                <a:pos x="connisteX65" y="connsiteY65"/>
              </a:cxn>
              <a:cxn ang="0">
                <a:pos x="connisteX66" y="connsiteY66"/>
              </a:cxn>
              <a:cxn ang="0">
                <a:pos x="connisteX67" y="connsiteY67"/>
              </a:cxn>
              <a:cxn ang="0">
                <a:pos x="connisteX68" y="connsiteY68"/>
              </a:cxn>
              <a:cxn ang="0">
                <a:pos x="connisteX69" y="connsiteY69"/>
              </a:cxn>
              <a:cxn ang="0">
                <a:pos x="connisteX70" y="connsiteY70"/>
              </a:cxn>
              <a:cxn ang="0">
                <a:pos x="connisteX71" y="connsiteY71"/>
              </a:cxn>
              <a:cxn ang="0">
                <a:pos x="connisteX72" y="connsiteY72"/>
              </a:cxn>
              <a:cxn ang="0">
                <a:pos x="connisteX73" y="connsiteY73"/>
              </a:cxn>
              <a:cxn ang="0">
                <a:pos x="connisteX74" y="connsiteY74"/>
              </a:cxn>
              <a:cxn ang="0">
                <a:pos x="connisteX75" y="connsiteY75"/>
              </a:cxn>
              <a:cxn ang="0">
                <a:pos x="connisteX76" y="connsiteY76"/>
              </a:cxn>
              <a:cxn ang="0">
                <a:pos x="connisteX77" y="connsiteY77"/>
              </a:cxn>
              <a:cxn ang="0">
                <a:pos x="connisteX78" y="connsiteY78"/>
              </a:cxn>
              <a:cxn ang="0">
                <a:pos x="connisteX79" y="connsiteY79"/>
              </a:cxn>
              <a:cxn ang="0">
                <a:pos x="connisteX80" y="connsiteY80"/>
              </a:cxn>
              <a:cxn ang="0">
                <a:pos x="connisteX81" y="connsiteY81"/>
              </a:cxn>
              <a:cxn ang="0">
                <a:pos x="connisteX82" y="connsiteY82"/>
              </a:cxn>
              <a:cxn ang="0">
                <a:pos x="connisteX83" y="connsiteY83"/>
              </a:cxn>
              <a:cxn ang="0">
                <a:pos x="connisteX84" y="connsiteY84"/>
              </a:cxn>
              <a:cxn ang="0">
                <a:pos x="connisteX85" y="connsiteY85"/>
              </a:cxn>
              <a:cxn ang="0">
                <a:pos x="connisteX86" y="connsiteY86"/>
              </a:cxn>
              <a:cxn ang="0">
                <a:pos x="connisteX87" y="connsiteY87"/>
              </a:cxn>
              <a:cxn ang="0">
                <a:pos x="connisteX88" y="connsiteY88"/>
              </a:cxn>
              <a:cxn ang="0">
                <a:pos x="connisteX89" y="connsiteY89"/>
              </a:cxn>
              <a:cxn ang="0">
                <a:pos x="connisteX90" y="connsiteY90"/>
              </a:cxn>
              <a:cxn ang="0">
                <a:pos x="connisteX91" y="connsiteY91"/>
              </a:cxn>
              <a:cxn ang="0">
                <a:pos x="connisteX92" y="connsiteY92"/>
              </a:cxn>
              <a:cxn ang="0">
                <a:pos x="connisteX93" y="connsiteY93"/>
              </a:cxn>
              <a:cxn ang="0">
                <a:pos x="connisteX94" y="connsiteY94"/>
              </a:cxn>
              <a:cxn ang="0">
                <a:pos x="connisteX95" y="connsiteY95"/>
              </a:cxn>
              <a:cxn ang="0">
                <a:pos x="connisteX96" y="connsiteY96"/>
              </a:cxn>
              <a:cxn ang="0">
                <a:pos x="connisteX97" y="connsiteY97"/>
              </a:cxn>
              <a:cxn ang="0">
                <a:pos x="connisteX98" y="connsiteY98"/>
              </a:cxn>
              <a:cxn ang="0">
                <a:pos x="connisteX99" y="connsiteY99"/>
              </a:cxn>
              <a:cxn ang="0">
                <a:pos x="connisteX100" y="connsiteY100"/>
              </a:cxn>
              <a:cxn ang="0">
                <a:pos x="connisteX101" y="connsiteY101"/>
              </a:cxn>
              <a:cxn ang="0">
                <a:pos x="connisteX102" y="connsiteY102"/>
              </a:cxn>
              <a:cxn ang="0">
                <a:pos x="connisteX103" y="connsiteY103"/>
              </a:cxn>
              <a:cxn ang="0">
                <a:pos x="connisteX104" y="connsiteY104"/>
              </a:cxn>
              <a:cxn ang="0">
                <a:pos x="connisteX105" y="connsiteY105"/>
              </a:cxn>
              <a:cxn ang="0">
                <a:pos x="connisteX106" y="connsiteY106"/>
              </a:cxn>
              <a:cxn ang="0">
                <a:pos x="connisteX107" y="connsiteY107"/>
              </a:cxn>
              <a:cxn ang="0">
                <a:pos x="connisteX108" y="connsiteY108"/>
              </a:cxn>
              <a:cxn ang="0">
                <a:pos x="connisteX109" y="connsiteY109"/>
              </a:cxn>
              <a:cxn ang="0">
                <a:pos x="connisteX110" y="connsiteY110"/>
              </a:cxn>
              <a:cxn ang="0">
                <a:pos x="connisteX111" y="connsiteY111"/>
              </a:cxn>
              <a:cxn ang="0">
                <a:pos x="connisteX112" y="connsiteY112"/>
              </a:cxn>
              <a:cxn ang="0">
                <a:pos x="connisteX113" y="connsiteY113"/>
              </a:cxn>
              <a:cxn ang="0">
                <a:pos x="connisteX114" y="connsiteY114"/>
              </a:cxn>
              <a:cxn ang="0">
                <a:pos x="connisteX115" y="connsiteY115"/>
              </a:cxn>
              <a:cxn ang="0">
                <a:pos x="connisteX116" y="connsiteY116"/>
              </a:cxn>
              <a:cxn ang="0">
                <a:pos x="connisteX117" y="connsiteY117"/>
              </a:cxn>
              <a:cxn ang="0">
                <a:pos x="connisteX118" y="connsiteY118"/>
              </a:cxn>
              <a:cxn ang="0">
                <a:pos x="connisteX119" y="connsiteY119"/>
              </a:cxn>
              <a:cxn ang="0">
                <a:pos x="connisteX120" y="connsiteY120"/>
              </a:cxn>
              <a:cxn ang="0">
                <a:pos x="connisteX121" y="connsiteY121"/>
              </a:cxn>
              <a:cxn ang="0">
                <a:pos x="connisteX122" y="connsiteY122"/>
              </a:cxn>
              <a:cxn ang="0">
                <a:pos x="connisteX123" y="connsiteY123"/>
              </a:cxn>
              <a:cxn ang="0">
                <a:pos x="connisteX124" y="connsiteY124"/>
              </a:cxn>
              <a:cxn ang="0">
                <a:pos x="connisteX125" y="connsiteY125"/>
              </a:cxn>
              <a:cxn ang="0">
                <a:pos x="connisteX126" y="connsiteY126"/>
              </a:cxn>
              <a:cxn ang="0">
                <a:pos x="connisteX127" y="connsiteY127"/>
              </a:cxn>
              <a:cxn ang="0">
                <a:pos x="connisteX128" y="connsiteY128"/>
              </a:cxn>
              <a:cxn ang="0">
                <a:pos x="connisteX129" y="connsiteY129"/>
              </a:cxn>
              <a:cxn ang="0">
                <a:pos x="connisteX130" y="connsiteY130"/>
              </a:cxn>
              <a:cxn ang="0">
                <a:pos x="connisteX131" y="connsiteY131"/>
              </a:cxn>
              <a:cxn ang="0">
                <a:pos x="connisteX132" y="connsiteY132"/>
              </a:cxn>
              <a:cxn ang="0">
                <a:pos x="connisteX133" y="connsiteY133"/>
              </a:cxn>
              <a:cxn ang="0">
                <a:pos x="connisteX134" y="connsiteY134"/>
              </a:cxn>
              <a:cxn ang="0">
                <a:pos x="connisteX135" y="connsiteY135"/>
              </a:cxn>
              <a:cxn ang="0">
                <a:pos x="connisteX136" y="connsiteY136"/>
              </a:cxn>
              <a:cxn ang="0">
                <a:pos x="connisteX137" y="connsiteY137"/>
              </a:cxn>
              <a:cxn ang="0">
                <a:pos x="connisteX138" y="connsiteY138"/>
              </a:cxn>
              <a:cxn ang="0">
                <a:pos x="connisteX139" y="connsiteY139"/>
              </a:cxn>
              <a:cxn ang="0">
                <a:pos x="connisteX140" y="connsiteY140"/>
              </a:cxn>
              <a:cxn ang="0">
                <a:pos x="connisteX141" y="connsiteY141"/>
              </a:cxn>
              <a:cxn ang="0">
                <a:pos x="connisteX142" y="connsiteY142"/>
              </a:cxn>
              <a:cxn ang="0">
                <a:pos x="connisteX143" y="connsiteY143"/>
              </a:cxn>
              <a:cxn ang="0">
                <a:pos x="connisteX144" y="connsiteY144"/>
              </a:cxn>
              <a:cxn ang="0">
                <a:pos x="connisteX145" y="connsiteY145"/>
              </a:cxn>
              <a:cxn ang="0">
                <a:pos x="connisteX146" y="connsiteY146"/>
              </a:cxn>
              <a:cxn ang="0">
                <a:pos x="connisteX147" y="connsiteY147"/>
              </a:cxn>
              <a:cxn ang="0">
                <a:pos x="connisteX148" y="connsiteY148"/>
              </a:cxn>
              <a:cxn ang="0">
                <a:pos x="connisteX149" y="connsiteY149"/>
              </a:cxn>
              <a:cxn ang="0">
                <a:pos x="connisteX150" y="connsiteY150"/>
              </a:cxn>
              <a:cxn ang="0">
                <a:pos x="connisteX151" y="connsiteY151"/>
              </a:cxn>
              <a:cxn ang="0">
                <a:pos x="connisteX152" y="connsiteY152"/>
              </a:cxn>
              <a:cxn ang="0">
                <a:pos x="connisteX153" y="connsiteY153"/>
              </a:cxn>
              <a:cxn ang="0">
                <a:pos x="connisteX154" y="connsiteY154"/>
              </a:cxn>
              <a:cxn ang="0">
                <a:pos x="connisteX155" y="connsiteY155"/>
              </a:cxn>
              <a:cxn ang="0">
                <a:pos x="connisteX156" y="connsiteY156"/>
              </a:cxn>
              <a:cxn ang="0">
                <a:pos x="connisteX157" y="connsiteY157"/>
              </a:cxn>
              <a:cxn ang="0">
                <a:pos x="connisteX158" y="connsiteY158"/>
              </a:cxn>
              <a:cxn ang="0">
                <a:pos x="connisteX159" y="connsiteY159"/>
              </a:cxn>
              <a:cxn ang="0">
                <a:pos x="connisteX160" y="connsiteY160"/>
              </a:cxn>
              <a:cxn ang="0">
                <a:pos x="connisteX161" y="connsiteY161"/>
              </a:cxn>
              <a:cxn ang="0">
                <a:pos x="connisteX162" y="connsiteY162"/>
              </a:cxn>
              <a:cxn ang="0">
                <a:pos x="connisteX163" y="connsiteY163"/>
              </a:cxn>
              <a:cxn ang="0">
                <a:pos x="connisteX164" y="connsiteY164"/>
              </a:cxn>
              <a:cxn ang="0">
                <a:pos x="connisteX165" y="connsiteY165"/>
              </a:cxn>
              <a:cxn ang="0">
                <a:pos x="connisteX166" y="connsiteY166"/>
              </a:cxn>
              <a:cxn ang="0">
                <a:pos x="connisteX167" y="connsiteY167"/>
              </a:cxn>
              <a:cxn ang="0">
                <a:pos x="connisteX168" y="connsiteY168"/>
              </a:cxn>
              <a:cxn ang="0">
                <a:pos x="connisteX169" y="connsiteY169"/>
              </a:cxn>
              <a:cxn ang="0">
                <a:pos x="connisteX170" y="connsiteY170"/>
              </a:cxn>
              <a:cxn ang="0">
                <a:pos x="connisteX171" y="connsiteY171"/>
              </a:cxn>
              <a:cxn ang="0">
                <a:pos x="connisteX172" y="connsiteY172"/>
              </a:cxn>
              <a:cxn ang="0">
                <a:pos x="connisteX173" y="connsiteY173"/>
              </a:cxn>
              <a:cxn ang="0">
                <a:pos x="connisteX174" y="connsiteY174"/>
              </a:cxn>
              <a:cxn ang="0">
                <a:pos x="connisteX175" y="connsiteY175"/>
              </a:cxn>
              <a:cxn ang="0">
                <a:pos x="connisteX176" y="connsiteY176"/>
              </a:cxn>
              <a:cxn ang="0">
                <a:pos x="connisteX177" y="connsiteY177"/>
              </a:cxn>
              <a:cxn ang="0">
                <a:pos x="connisteX178" y="connsiteY178"/>
              </a:cxn>
              <a:cxn ang="0">
                <a:pos x="connisteX179" y="connsiteY179"/>
              </a:cxn>
              <a:cxn ang="0">
                <a:pos x="connisteX180" y="connsiteY180"/>
              </a:cxn>
              <a:cxn ang="0">
                <a:pos x="connisteX181" y="connsiteY181"/>
              </a:cxn>
              <a:cxn ang="0">
                <a:pos x="connisteX182" y="connsiteY182"/>
              </a:cxn>
              <a:cxn ang="0">
                <a:pos x="connisteX183" y="connsiteY183"/>
              </a:cxn>
              <a:cxn ang="0">
                <a:pos x="connisteX184" y="connsiteY184"/>
              </a:cxn>
            </a:cxnLst>
            <a:rect l="l" t="t" r="r" b="b"/>
            <a:pathLst>
              <a:path w="9697805" h="4606309">
                <a:moveTo>
                  <a:pt x="5283891" y="4528214"/>
                </a:moveTo>
                <a:cubicBezTo>
                  <a:pt x="5267381" y="4537739"/>
                  <a:pt x="5268016" y="4562504"/>
                  <a:pt x="5161971" y="4577109"/>
                </a:cubicBezTo>
                <a:cubicBezTo>
                  <a:pt x="5055926" y="4591714"/>
                  <a:pt x="4880031" y="4596159"/>
                  <a:pt x="4754301" y="4601239"/>
                </a:cubicBezTo>
                <a:cubicBezTo>
                  <a:pt x="4628571" y="4606319"/>
                  <a:pt x="4646351" y="4609494"/>
                  <a:pt x="4533956" y="4601239"/>
                </a:cubicBezTo>
                <a:cubicBezTo>
                  <a:pt x="4421561" y="4592984"/>
                  <a:pt x="4295831" y="4573934"/>
                  <a:pt x="4191691" y="4560599"/>
                </a:cubicBezTo>
                <a:cubicBezTo>
                  <a:pt x="4087551" y="4547264"/>
                  <a:pt x="4082471" y="4549169"/>
                  <a:pt x="4011986" y="4535834"/>
                </a:cubicBezTo>
                <a:cubicBezTo>
                  <a:pt x="3941501" y="4522499"/>
                  <a:pt x="3921816" y="4512974"/>
                  <a:pt x="3840536" y="4495194"/>
                </a:cubicBezTo>
                <a:cubicBezTo>
                  <a:pt x="3759256" y="4477414"/>
                  <a:pt x="3698931" y="4465984"/>
                  <a:pt x="3604316" y="4446299"/>
                </a:cubicBezTo>
                <a:cubicBezTo>
                  <a:pt x="3509701" y="4426614"/>
                  <a:pt x="3460806" y="4418359"/>
                  <a:pt x="3368096" y="4397404"/>
                </a:cubicBezTo>
                <a:cubicBezTo>
                  <a:pt x="3275386" y="4376449"/>
                  <a:pt x="3216331" y="4359939"/>
                  <a:pt x="3139496" y="4340254"/>
                </a:cubicBezTo>
                <a:cubicBezTo>
                  <a:pt x="3062661" y="4320569"/>
                  <a:pt x="3046786" y="4319299"/>
                  <a:pt x="2984556" y="4299614"/>
                </a:cubicBezTo>
                <a:cubicBezTo>
                  <a:pt x="2922326" y="4279929"/>
                  <a:pt x="2912801" y="4273579"/>
                  <a:pt x="2829616" y="4242464"/>
                </a:cubicBezTo>
                <a:cubicBezTo>
                  <a:pt x="2746431" y="4211349"/>
                  <a:pt x="2658166" y="4178964"/>
                  <a:pt x="2568631" y="4144674"/>
                </a:cubicBezTo>
                <a:cubicBezTo>
                  <a:pt x="2479096" y="4110384"/>
                  <a:pt x="2472746" y="4110384"/>
                  <a:pt x="2381306" y="4071014"/>
                </a:cubicBezTo>
                <a:cubicBezTo>
                  <a:pt x="2289866" y="4031644"/>
                  <a:pt x="2183821" y="3980209"/>
                  <a:pt x="2112066" y="3949094"/>
                </a:cubicBezTo>
                <a:cubicBezTo>
                  <a:pt x="2040311" y="3917979"/>
                  <a:pt x="2086031" y="3945284"/>
                  <a:pt x="2022531" y="3916074"/>
                </a:cubicBezTo>
                <a:cubicBezTo>
                  <a:pt x="1959031" y="3886864"/>
                  <a:pt x="1863781" y="3837969"/>
                  <a:pt x="1793931" y="3802409"/>
                </a:cubicBezTo>
                <a:cubicBezTo>
                  <a:pt x="1724081" y="3766849"/>
                  <a:pt x="1715826" y="3763039"/>
                  <a:pt x="1672011" y="3737004"/>
                </a:cubicBezTo>
                <a:cubicBezTo>
                  <a:pt x="1628196" y="3710969"/>
                  <a:pt x="1621211" y="3699539"/>
                  <a:pt x="1573586" y="3671599"/>
                </a:cubicBezTo>
                <a:cubicBezTo>
                  <a:pt x="1525961" y="3643659"/>
                  <a:pt x="1492306" y="3630959"/>
                  <a:pt x="1435156" y="3598574"/>
                </a:cubicBezTo>
                <a:cubicBezTo>
                  <a:pt x="1378006" y="3566189"/>
                  <a:pt x="1343716" y="3545869"/>
                  <a:pt x="1288471" y="3508404"/>
                </a:cubicBezTo>
                <a:cubicBezTo>
                  <a:pt x="1233226" y="3470939"/>
                  <a:pt x="1200206" y="3441729"/>
                  <a:pt x="1157661" y="3410614"/>
                </a:cubicBezTo>
                <a:cubicBezTo>
                  <a:pt x="1115116" y="3379499"/>
                  <a:pt x="1108766" y="3377594"/>
                  <a:pt x="1076381" y="3353464"/>
                </a:cubicBezTo>
                <a:cubicBezTo>
                  <a:pt x="1043996" y="3329334"/>
                  <a:pt x="1034471" y="3319809"/>
                  <a:pt x="995101" y="3288694"/>
                </a:cubicBezTo>
                <a:cubicBezTo>
                  <a:pt x="955731" y="3257579"/>
                  <a:pt x="918266" y="3227734"/>
                  <a:pt x="880801" y="3198524"/>
                </a:cubicBezTo>
                <a:cubicBezTo>
                  <a:pt x="843336" y="3169314"/>
                  <a:pt x="836351" y="3165504"/>
                  <a:pt x="807141" y="3141374"/>
                </a:cubicBezTo>
                <a:cubicBezTo>
                  <a:pt x="777931" y="3117244"/>
                  <a:pt x="762056" y="3102639"/>
                  <a:pt x="734116" y="3076604"/>
                </a:cubicBezTo>
                <a:cubicBezTo>
                  <a:pt x="706176" y="3050569"/>
                  <a:pt x="694746" y="3039139"/>
                  <a:pt x="668711" y="3011199"/>
                </a:cubicBezTo>
                <a:cubicBezTo>
                  <a:pt x="642676" y="2983259"/>
                  <a:pt x="645851" y="2988339"/>
                  <a:pt x="603306" y="2937539"/>
                </a:cubicBezTo>
                <a:cubicBezTo>
                  <a:pt x="560761" y="2886739"/>
                  <a:pt x="499166" y="2810539"/>
                  <a:pt x="456621" y="2758469"/>
                </a:cubicBezTo>
                <a:cubicBezTo>
                  <a:pt x="414076" y="2706399"/>
                  <a:pt x="422331" y="2714019"/>
                  <a:pt x="391216" y="2676554"/>
                </a:cubicBezTo>
                <a:cubicBezTo>
                  <a:pt x="360101" y="2639089"/>
                  <a:pt x="329621" y="2605434"/>
                  <a:pt x="301681" y="2571144"/>
                </a:cubicBezTo>
                <a:cubicBezTo>
                  <a:pt x="273741" y="2536854"/>
                  <a:pt x="277551" y="2541934"/>
                  <a:pt x="252786" y="2505739"/>
                </a:cubicBezTo>
                <a:cubicBezTo>
                  <a:pt x="228021" y="2469544"/>
                  <a:pt x="205161" y="2435254"/>
                  <a:pt x="179126" y="2391439"/>
                </a:cubicBezTo>
                <a:cubicBezTo>
                  <a:pt x="153091" y="2347624"/>
                  <a:pt x="142296" y="2327939"/>
                  <a:pt x="122611" y="2285394"/>
                </a:cubicBezTo>
                <a:cubicBezTo>
                  <a:pt x="102926" y="2242849"/>
                  <a:pt x="97846" y="2221894"/>
                  <a:pt x="81336" y="2179349"/>
                </a:cubicBezTo>
                <a:cubicBezTo>
                  <a:pt x="64826" y="2136804"/>
                  <a:pt x="52126" y="2107594"/>
                  <a:pt x="40696" y="2073304"/>
                </a:cubicBezTo>
                <a:cubicBezTo>
                  <a:pt x="29266" y="2039014"/>
                  <a:pt x="30536" y="2037109"/>
                  <a:pt x="24186" y="2007899"/>
                </a:cubicBezTo>
                <a:cubicBezTo>
                  <a:pt x="17836" y="1978689"/>
                  <a:pt x="13391" y="1960909"/>
                  <a:pt x="8311" y="1926619"/>
                </a:cubicBezTo>
                <a:cubicBezTo>
                  <a:pt x="3231" y="1892329"/>
                  <a:pt x="56" y="1879629"/>
                  <a:pt x="56" y="1837084"/>
                </a:cubicBezTo>
                <a:cubicBezTo>
                  <a:pt x="56" y="1794539"/>
                  <a:pt x="-1214" y="1760249"/>
                  <a:pt x="8311" y="1714529"/>
                </a:cubicBezTo>
                <a:cubicBezTo>
                  <a:pt x="17836" y="1668809"/>
                  <a:pt x="32441" y="1649124"/>
                  <a:pt x="48951" y="1608484"/>
                </a:cubicBezTo>
                <a:cubicBezTo>
                  <a:pt x="65461" y="1567844"/>
                  <a:pt x="71811" y="1546254"/>
                  <a:pt x="89591" y="1510694"/>
                </a:cubicBezTo>
                <a:cubicBezTo>
                  <a:pt x="107371" y="1475134"/>
                  <a:pt x="112451" y="1461799"/>
                  <a:pt x="138486" y="1429414"/>
                </a:cubicBezTo>
                <a:cubicBezTo>
                  <a:pt x="164521" y="1397029"/>
                  <a:pt x="182936" y="1376709"/>
                  <a:pt x="220401" y="1347499"/>
                </a:cubicBezTo>
                <a:cubicBezTo>
                  <a:pt x="257866" y="1318289"/>
                  <a:pt x="279456" y="1303684"/>
                  <a:pt x="326446" y="1282729"/>
                </a:cubicBezTo>
                <a:cubicBezTo>
                  <a:pt x="373436" y="1261774"/>
                  <a:pt x="409631" y="1254789"/>
                  <a:pt x="456621" y="1241454"/>
                </a:cubicBezTo>
                <a:cubicBezTo>
                  <a:pt x="503611" y="1228119"/>
                  <a:pt x="513771" y="1225579"/>
                  <a:pt x="562666" y="1217324"/>
                </a:cubicBezTo>
                <a:cubicBezTo>
                  <a:pt x="611561" y="1209069"/>
                  <a:pt x="657281" y="1205894"/>
                  <a:pt x="701096" y="1200814"/>
                </a:cubicBezTo>
                <a:cubicBezTo>
                  <a:pt x="744911" y="1195734"/>
                  <a:pt x="750626" y="1195734"/>
                  <a:pt x="783011" y="1192559"/>
                </a:cubicBezTo>
                <a:cubicBezTo>
                  <a:pt x="815396" y="1189384"/>
                  <a:pt x="809046" y="1186209"/>
                  <a:pt x="864291" y="1184304"/>
                </a:cubicBezTo>
                <a:cubicBezTo>
                  <a:pt x="919536" y="1182399"/>
                  <a:pt x="951921" y="1181129"/>
                  <a:pt x="1059871" y="1184304"/>
                </a:cubicBezTo>
                <a:cubicBezTo>
                  <a:pt x="1167821" y="1187479"/>
                  <a:pt x="1314506" y="1194464"/>
                  <a:pt x="1402771" y="1200814"/>
                </a:cubicBezTo>
                <a:cubicBezTo>
                  <a:pt x="1491036" y="1207164"/>
                  <a:pt x="1437061" y="1210974"/>
                  <a:pt x="1500561" y="1217324"/>
                </a:cubicBezTo>
                <a:cubicBezTo>
                  <a:pt x="1564061" y="1223674"/>
                  <a:pt x="1629466" y="1224944"/>
                  <a:pt x="1720906" y="1233199"/>
                </a:cubicBezTo>
                <a:cubicBezTo>
                  <a:pt x="1812346" y="1241454"/>
                  <a:pt x="1885371" y="1251614"/>
                  <a:pt x="1957126" y="1257964"/>
                </a:cubicBezTo>
                <a:cubicBezTo>
                  <a:pt x="2028881" y="1264314"/>
                  <a:pt x="2006021" y="1257964"/>
                  <a:pt x="2079681" y="1266219"/>
                </a:cubicBezTo>
                <a:cubicBezTo>
                  <a:pt x="2153341" y="1274474"/>
                  <a:pt x="2231446" y="1287174"/>
                  <a:pt x="2324156" y="1298604"/>
                </a:cubicBezTo>
                <a:cubicBezTo>
                  <a:pt x="2416866" y="1310034"/>
                  <a:pt x="2466396" y="1315114"/>
                  <a:pt x="2544501" y="1323369"/>
                </a:cubicBezTo>
                <a:cubicBezTo>
                  <a:pt x="2622606" y="1331624"/>
                  <a:pt x="2654991" y="1334164"/>
                  <a:pt x="2715316" y="1339244"/>
                </a:cubicBezTo>
                <a:cubicBezTo>
                  <a:pt x="2775641" y="1344324"/>
                  <a:pt x="2806756" y="1345594"/>
                  <a:pt x="2846126" y="1347499"/>
                </a:cubicBezTo>
                <a:cubicBezTo>
                  <a:pt x="2885496" y="1349404"/>
                  <a:pt x="2879781" y="1345594"/>
                  <a:pt x="2910896" y="1347499"/>
                </a:cubicBezTo>
                <a:cubicBezTo>
                  <a:pt x="2942011" y="1349404"/>
                  <a:pt x="2963601" y="1352579"/>
                  <a:pt x="3001066" y="1355754"/>
                </a:cubicBezTo>
                <a:cubicBezTo>
                  <a:pt x="3038531" y="1358929"/>
                  <a:pt x="3055041" y="1360834"/>
                  <a:pt x="3098856" y="1364009"/>
                </a:cubicBezTo>
                <a:cubicBezTo>
                  <a:pt x="3142671" y="1367184"/>
                  <a:pt x="3169976" y="1367184"/>
                  <a:pt x="3220776" y="1372264"/>
                </a:cubicBezTo>
                <a:cubicBezTo>
                  <a:pt x="3271576" y="1377344"/>
                  <a:pt x="3299516" y="1379884"/>
                  <a:pt x="3351586" y="1388139"/>
                </a:cubicBezTo>
                <a:cubicBezTo>
                  <a:pt x="3403656" y="1396394"/>
                  <a:pt x="3421436" y="1404649"/>
                  <a:pt x="3481761" y="1412904"/>
                </a:cubicBezTo>
                <a:cubicBezTo>
                  <a:pt x="3542086" y="1421159"/>
                  <a:pt x="3587806" y="1423064"/>
                  <a:pt x="3653211" y="1429414"/>
                </a:cubicBezTo>
                <a:cubicBezTo>
                  <a:pt x="3718616" y="1435764"/>
                  <a:pt x="3742746" y="1437034"/>
                  <a:pt x="3808151" y="1445289"/>
                </a:cubicBezTo>
                <a:cubicBezTo>
                  <a:pt x="3873556" y="1453544"/>
                  <a:pt x="3927531" y="1463704"/>
                  <a:pt x="3979601" y="1470054"/>
                </a:cubicBezTo>
                <a:cubicBezTo>
                  <a:pt x="4031671" y="1476404"/>
                  <a:pt x="4033576" y="1475134"/>
                  <a:pt x="4069136" y="1478309"/>
                </a:cubicBezTo>
                <a:cubicBezTo>
                  <a:pt x="4104696" y="1481484"/>
                  <a:pt x="4118031" y="1483389"/>
                  <a:pt x="4158671" y="1486564"/>
                </a:cubicBezTo>
                <a:cubicBezTo>
                  <a:pt x="4199311" y="1489739"/>
                  <a:pt x="4232331" y="1492914"/>
                  <a:pt x="4272971" y="1494184"/>
                </a:cubicBezTo>
                <a:cubicBezTo>
                  <a:pt x="4313611" y="1495454"/>
                  <a:pt x="4319961" y="1492279"/>
                  <a:pt x="4362506" y="1494184"/>
                </a:cubicBezTo>
                <a:cubicBezTo>
                  <a:pt x="4405051" y="1496089"/>
                  <a:pt x="4429816" y="1500534"/>
                  <a:pt x="4485061" y="1502439"/>
                </a:cubicBezTo>
                <a:cubicBezTo>
                  <a:pt x="4540306" y="1504344"/>
                  <a:pt x="4593011" y="1504344"/>
                  <a:pt x="4640001" y="1502439"/>
                </a:cubicBezTo>
                <a:cubicBezTo>
                  <a:pt x="4686991" y="1500534"/>
                  <a:pt x="4674291" y="1499264"/>
                  <a:pt x="4721281" y="1494184"/>
                </a:cubicBezTo>
                <a:cubicBezTo>
                  <a:pt x="4768271" y="1489104"/>
                  <a:pt x="4830501" y="1484659"/>
                  <a:pt x="4876221" y="1478309"/>
                </a:cubicBezTo>
                <a:cubicBezTo>
                  <a:pt x="4921941" y="1471959"/>
                  <a:pt x="4907336" y="1471324"/>
                  <a:pt x="4949881" y="1461799"/>
                </a:cubicBezTo>
                <a:cubicBezTo>
                  <a:pt x="4992426" y="1452274"/>
                  <a:pt x="5042591" y="1440844"/>
                  <a:pt x="5088311" y="1429414"/>
                </a:cubicBezTo>
                <a:cubicBezTo>
                  <a:pt x="5134031" y="1417984"/>
                  <a:pt x="5147366" y="1414174"/>
                  <a:pt x="5178481" y="1404649"/>
                </a:cubicBezTo>
                <a:cubicBezTo>
                  <a:pt x="5209596" y="1395124"/>
                  <a:pt x="5214041" y="1390044"/>
                  <a:pt x="5243251" y="1380519"/>
                </a:cubicBezTo>
                <a:cubicBezTo>
                  <a:pt x="5272461" y="1370994"/>
                  <a:pt x="5290876" y="1365279"/>
                  <a:pt x="5325166" y="1355754"/>
                </a:cubicBezTo>
                <a:cubicBezTo>
                  <a:pt x="5359456" y="1346229"/>
                  <a:pt x="5365806" y="1346229"/>
                  <a:pt x="5414701" y="1331624"/>
                </a:cubicBezTo>
                <a:cubicBezTo>
                  <a:pt x="5463596" y="1317019"/>
                  <a:pt x="5506141" y="1305589"/>
                  <a:pt x="5569641" y="1282729"/>
                </a:cubicBezTo>
                <a:cubicBezTo>
                  <a:pt x="5633141" y="1259869"/>
                  <a:pt x="5678861" y="1238279"/>
                  <a:pt x="5732836" y="1217324"/>
                </a:cubicBezTo>
                <a:cubicBezTo>
                  <a:pt x="5786811" y="1196369"/>
                  <a:pt x="5776651" y="1204624"/>
                  <a:pt x="5838881" y="1176684"/>
                </a:cubicBezTo>
                <a:cubicBezTo>
                  <a:pt x="5901111" y="1148744"/>
                  <a:pt x="5982391" y="1109374"/>
                  <a:pt x="6042716" y="1078259"/>
                </a:cubicBezTo>
                <a:cubicBezTo>
                  <a:pt x="6103041" y="1047144"/>
                  <a:pt x="6101136" y="1044604"/>
                  <a:pt x="6140506" y="1021744"/>
                </a:cubicBezTo>
                <a:cubicBezTo>
                  <a:pt x="6179876" y="998884"/>
                  <a:pt x="6197656" y="989359"/>
                  <a:pt x="6238296" y="964594"/>
                </a:cubicBezTo>
                <a:cubicBezTo>
                  <a:pt x="6278936" y="939829"/>
                  <a:pt x="6301796" y="923954"/>
                  <a:pt x="6344341" y="899189"/>
                </a:cubicBezTo>
                <a:cubicBezTo>
                  <a:pt x="6386886" y="874424"/>
                  <a:pt x="6411016" y="866804"/>
                  <a:pt x="6450386" y="842039"/>
                </a:cubicBezTo>
                <a:cubicBezTo>
                  <a:pt x="6489756" y="817274"/>
                  <a:pt x="6502456" y="804574"/>
                  <a:pt x="6539921" y="776634"/>
                </a:cubicBezTo>
                <a:cubicBezTo>
                  <a:pt x="6577386" y="748694"/>
                  <a:pt x="6600246" y="732819"/>
                  <a:pt x="6637711" y="703609"/>
                </a:cubicBezTo>
                <a:cubicBezTo>
                  <a:pt x="6675176" y="674399"/>
                  <a:pt x="6689781" y="659159"/>
                  <a:pt x="6727246" y="629949"/>
                </a:cubicBezTo>
                <a:cubicBezTo>
                  <a:pt x="6764711" y="600739"/>
                  <a:pt x="6789476" y="584864"/>
                  <a:pt x="6825671" y="556924"/>
                </a:cubicBezTo>
                <a:cubicBezTo>
                  <a:pt x="6861866" y="528984"/>
                  <a:pt x="6874566" y="517554"/>
                  <a:pt x="6906951" y="491519"/>
                </a:cubicBezTo>
                <a:cubicBezTo>
                  <a:pt x="6939336" y="465484"/>
                  <a:pt x="6957116" y="448974"/>
                  <a:pt x="6988231" y="426114"/>
                </a:cubicBezTo>
                <a:cubicBezTo>
                  <a:pt x="7019346" y="403254"/>
                  <a:pt x="7033951" y="396904"/>
                  <a:pt x="7061891" y="377219"/>
                </a:cubicBezTo>
                <a:cubicBezTo>
                  <a:pt x="7089831" y="357534"/>
                  <a:pt x="7096181" y="348009"/>
                  <a:pt x="7127296" y="328324"/>
                </a:cubicBezTo>
                <a:cubicBezTo>
                  <a:pt x="7158411" y="308639"/>
                  <a:pt x="7185716" y="295939"/>
                  <a:pt x="7216831" y="279429"/>
                </a:cubicBezTo>
                <a:cubicBezTo>
                  <a:pt x="7247946" y="262919"/>
                  <a:pt x="7254296" y="261649"/>
                  <a:pt x="7282236" y="247044"/>
                </a:cubicBezTo>
                <a:cubicBezTo>
                  <a:pt x="7310176" y="232439"/>
                  <a:pt x="7327321" y="219104"/>
                  <a:pt x="7355261" y="205769"/>
                </a:cubicBezTo>
                <a:cubicBezTo>
                  <a:pt x="7383201" y="192434"/>
                  <a:pt x="7389551" y="193069"/>
                  <a:pt x="7420666" y="181639"/>
                </a:cubicBezTo>
                <a:cubicBezTo>
                  <a:pt x="7451781" y="170209"/>
                  <a:pt x="7477816" y="160049"/>
                  <a:pt x="7510201" y="148619"/>
                </a:cubicBezTo>
                <a:cubicBezTo>
                  <a:pt x="7542586" y="137189"/>
                  <a:pt x="7541316" y="135919"/>
                  <a:pt x="7583861" y="124489"/>
                </a:cubicBezTo>
                <a:cubicBezTo>
                  <a:pt x="7626406" y="113059"/>
                  <a:pt x="7663871" y="103534"/>
                  <a:pt x="7722291" y="92104"/>
                </a:cubicBezTo>
                <a:cubicBezTo>
                  <a:pt x="7780711" y="80674"/>
                  <a:pt x="7828336" y="75594"/>
                  <a:pt x="7877231" y="67339"/>
                </a:cubicBezTo>
                <a:cubicBezTo>
                  <a:pt x="7926126" y="59084"/>
                  <a:pt x="7929301" y="57179"/>
                  <a:pt x="7966766" y="50829"/>
                </a:cubicBezTo>
                <a:cubicBezTo>
                  <a:pt x="8004231" y="44479"/>
                  <a:pt x="8021376" y="41304"/>
                  <a:pt x="8065191" y="34954"/>
                </a:cubicBezTo>
                <a:cubicBezTo>
                  <a:pt x="8109006" y="28604"/>
                  <a:pt x="8138216" y="23524"/>
                  <a:pt x="8187111" y="18444"/>
                </a:cubicBezTo>
                <a:cubicBezTo>
                  <a:pt x="8236006" y="13364"/>
                  <a:pt x="8262041" y="12094"/>
                  <a:pt x="8309666" y="10189"/>
                </a:cubicBezTo>
                <a:cubicBezTo>
                  <a:pt x="8357291" y="8284"/>
                  <a:pt x="8378246" y="12094"/>
                  <a:pt x="8423966" y="10189"/>
                </a:cubicBezTo>
                <a:cubicBezTo>
                  <a:pt x="8469686" y="8284"/>
                  <a:pt x="8500166" y="3839"/>
                  <a:pt x="8537631" y="1934"/>
                </a:cubicBezTo>
                <a:cubicBezTo>
                  <a:pt x="8575096" y="29"/>
                  <a:pt x="8578906" y="-1241"/>
                  <a:pt x="8611291" y="1934"/>
                </a:cubicBezTo>
                <a:cubicBezTo>
                  <a:pt x="8643676" y="5109"/>
                  <a:pt x="8666536" y="10189"/>
                  <a:pt x="8700826" y="18444"/>
                </a:cubicBezTo>
                <a:cubicBezTo>
                  <a:pt x="8735116" y="26699"/>
                  <a:pt x="8742101" y="29874"/>
                  <a:pt x="8782741" y="43209"/>
                </a:cubicBezTo>
                <a:cubicBezTo>
                  <a:pt x="8823381" y="56544"/>
                  <a:pt x="8865291" y="71149"/>
                  <a:pt x="8904661" y="83849"/>
                </a:cubicBezTo>
                <a:cubicBezTo>
                  <a:pt x="8944031" y="96549"/>
                  <a:pt x="8947206" y="96549"/>
                  <a:pt x="8978321" y="107979"/>
                </a:cubicBezTo>
                <a:cubicBezTo>
                  <a:pt x="9009436" y="119409"/>
                  <a:pt x="9030391" y="127664"/>
                  <a:pt x="9059601" y="140999"/>
                </a:cubicBezTo>
                <a:cubicBezTo>
                  <a:pt x="9088811" y="154334"/>
                  <a:pt x="9092621" y="156874"/>
                  <a:pt x="9125006" y="173384"/>
                </a:cubicBezTo>
                <a:cubicBezTo>
                  <a:pt x="9157391" y="189894"/>
                  <a:pt x="9188506" y="202594"/>
                  <a:pt x="9222796" y="222279"/>
                </a:cubicBezTo>
                <a:cubicBezTo>
                  <a:pt x="9257086" y="241964"/>
                  <a:pt x="9267246" y="250219"/>
                  <a:pt x="9296456" y="271174"/>
                </a:cubicBezTo>
                <a:cubicBezTo>
                  <a:pt x="9325666" y="292129"/>
                  <a:pt x="9341541" y="305464"/>
                  <a:pt x="9369481" y="328324"/>
                </a:cubicBezTo>
                <a:cubicBezTo>
                  <a:pt x="9397421" y="351184"/>
                  <a:pt x="9406946" y="360709"/>
                  <a:pt x="9434886" y="385474"/>
                </a:cubicBezTo>
                <a:cubicBezTo>
                  <a:pt x="9462826" y="410239"/>
                  <a:pt x="9483781" y="424844"/>
                  <a:pt x="9508546" y="450879"/>
                </a:cubicBezTo>
                <a:cubicBezTo>
                  <a:pt x="9533311" y="476914"/>
                  <a:pt x="9540931" y="487709"/>
                  <a:pt x="9557441" y="515649"/>
                </a:cubicBezTo>
                <a:cubicBezTo>
                  <a:pt x="9573951" y="543589"/>
                  <a:pt x="9572046" y="553114"/>
                  <a:pt x="9589826" y="589309"/>
                </a:cubicBezTo>
                <a:cubicBezTo>
                  <a:pt x="9607606" y="625504"/>
                  <a:pt x="9630466" y="661064"/>
                  <a:pt x="9646976" y="695354"/>
                </a:cubicBezTo>
                <a:cubicBezTo>
                  <a:pt x="9663486" y="729644"/>
                  <a:pt x="9662851" y="731549"/>
                  <a:pt x="9671106" y="760759"/>
                </a:cubicBezTo>
                <a:cubicBezTo>
                  <a:pt x="9679361" y="789969"/>
                  <a:pt x="9682536" y="809654"/>
                  <a:pt x="9687616" y="842039"/>
                </a:cubicBezTo>
                <a:cubicBezTo>
                  <a:pt x="9692696" y="874424"/>
                  <a:pt x="9693966" y="890934"/>
                  <a:pt x="9695871" y="923319"/>
                </a:cubicBezTo>
                <a:cubicBezTo>
                  <a:pt x="9697776" y="955704"/>
                  <a:pt x="9699046" y="970944"/>
                  <a:pt x="9695871" y="1005234"/>
                </a:cubicBezTo>
                <a:cubicBezTo>
                  <a:pt x="9692696" y="1039524"/>
                  <a:pt x="9688886" y="1049049"/>
                  <a:pt x="9679361" y="1094769"/>
                </a:cubicBezTo>
                <a:cubicBezTo>
                  <a:pt x="9669836" y="1140489"/>
                  <a:pt x="9658406" y="1185574"/>
                  <a:pt x="9646976" y="1233199"/>
                </a:cubicBezTo>
                <a:cubicBezTo>
                  <a:pt x="9635546" y="1280824"/>
                  <a:pt x="9633641" y="1294159"/>
                  <a:pt x="9622211" y="1331624"/>
                </a:cubicBezTo>
                <a:cubicBezTo>
                  <a:pt x="9610781" y="1369089"/>
                  <a:pt x="9602526" y="1385599"/>
                  <a:pt x="9589826" y="1421159"/>
                </a:cubicBezTo>
                <a:cubicBezTo>
                  <a:pt x="9577126" y="1456719"/>
                  <a:pt x="9575221" y="1466879"/>
                  <a:pt x="9557441" y="1510694"/>
                </a:cubicBezTo>
                <a:cubicBezTo>
                  <a:pt x="9539661" y="1554509"/>
                  <a:pt x="9518071" y="1598959"/>
                  <a:pt x="9500291" y="1641504"/>
                </a:cubicBezTo>
                <a:cubicBezTo>
                  <a:pt x="9482511" y="1684049"/>
                  <a:pt x="9480606" y="1693574"/>
                  <a:pt x="9467271" y="1722784"/>
                </a:cubicBezTo>
                <a:cubicBezTo>
                  <a:pt x="9453936" y="1751994"/>
                  <a:pt x="9451396" y="1760249"/>
                  <a:pt x="9434886" y="1788189"/>
                </a:cubicBezTo>
                <a:cubicBezTo>
                  <a:pt x="9418376" y="1816129"/>
                  <a:pt x="9403771" y="1832004"/>
                  <a:pt x="9385991" y="1861214"/>
                </a:cubicBezTo>
                <a:cubicBezTo>
                  <a:pt x="9368211" y="1890424"/>
                  <a:pt x="9361861" y="1902489"/>
                  <a:pt x="9345351" y="1934874"/>
                </a:cubicBezTo>
                <a:cubicBezTo>
                  <a:pt x="9328841" y="1967259"/>
                  <a:pt x="9326936" y="1986944"/>
                  <a:pt x="9304076" y="2024409"/>
                </a:cubicBezTo>
                <a:cubicBezTo>
                  <a:pt x="9281216" y="2061874"/>
                  <a:pt x="9255181" y="2087909"/>
                  <a:pt x="9231051" y="2122199"/>
                </a:cubicBezTo>
                <a:cubicBezTo>
                  <a:pt x="9206921" y="2156489"/>
                  <a:pt x="9208191" y="2163474"/>
                  <a:pt x="9182156" y="2195859"/>
                </a:cubicBezTo>
                <a:cubicBezTo>
                  <a:pt x="9156121" y="2228244"/>
                  <a:pt x="9125006" y="2254279"/>
                  <a:pt x="9100241" y="2285394"/>
                </a:cubicBezTo>
                <a:cubicBezTo>
                  <a:pt x="9075476" y="2316509"/>
                  <a:pt x="9079286" y="2321589"/>
                  <a:pt x="9059601" y="2350799"/>
                </a:cubicBezTo>
                <a:cubicBezTo>
                  <a:pt x="9039916" y="2380009"/>
                  <a:pt x="9038011" y="2385089"/>
                  <a:pt x="9002451" y="2432079"/>
                </a:cubicBezTo>
                <a:cubicBezTo>
                  <a:pt x="8966891" y="2479069"/>
                  <a:pt x="8937681" y="2520344"/>
                  <a:pt x="8880531" y="2587019"/>
                </a:cubicBezTo>
                <a:cubicBezTo>
                  <a:pt x="8823381" y="2653694"/>
                  <a:pt x="8763056" y="2717829"/>
                  <a:pt x="8717336" y="2766724"/>
                </a:cubicBezTo>
                <a:cubicBezTo>
                  <a:pt x="8671616" y="2815619"/>
                  <a:pt x="8691301" y="2794029"/>
                  <a:pt x="8651931" y="2831494"/>
                </a:cubicBezTo>
                <a:cubicBezTo>
                  <a:pt x="8612561" y="2868959"/>
                  <a:pt x="8573826" y="2906424"/>
                  <a:pt x="8521756" y="2954049"/>
                </a:cubicBezTo>
                <a:cubicBezTo>
                  <a:pt x="8469686" y="3001674"/>
                  <a:pt x="8451271" y="3013104"/>
                  <a:pt x="8390946" y="3068349"/>
                </a:cubicBezTo>
                <a:cubicBezTo>
                  <a:pt x="8330621" y="3123594"/>
                  <a:pt x="8286806" y="3168044"/>
                  <a:pt x="8220131" y="3231544"/>
                </a:cubicBezTo>
                <a:cubicBezTo>
                  <a:pt x="8153456" y="3295044"/>
                  <a:pt x="8127421" y="3328064"/>
                  <a:pt x="8056936" y="3386484"/>
                </a:cubicBezTo>
                <a:cubicBezTo>
                  <a:pt x="7986451" y="3444904"/>
                  <a:pt x="7935651" y="3479194"/>
                  <a:pt x="7868976" y="3524914"/>
                </a:cubicBezTo>
                <a:cubicBezTo>
                  <a:pt x="7802301" y="3570634"/>
                  <a:pt x="7768011" y="3588414"/>
                  <a:pt x="7722291" y="3614449"/>
                </a:cubicBezTo>
                <a:cubicBezTo>
                  <a:pt x="7676571" y="3640484"/>
                  <a:pt x="7673396" y="3638579"/>
                  <a:pt x="7641011" y="3655089"/>
                </a:cubicBezTo>
                <a:cubicBezTo>
                  <a:pt x="7608626" y="3671599"/>
                  <a:pt x="7602911" y="3671599"/>
                  <a:pt x="7559096" y="3696364"/>
                </a:cubicBezTo>
                <a:cubicBezTo>
                  <a:pt x="7515281" y="3721129"/>
                  <a:pt x="7471466" y="3743354"/>
                  <a:pt x="7420666" y="3777644"/>
                </a:cubicBezTo>
                <a:cubicBezTo>
                  <a:pt x="7369866" y="3811934"/>
                  <a:pt x="7345736" y="3837969"/>
                  <a:pt x="7306366" y="3867179"/>
                </a:cubicBezTo>
                <a:cubicBezTo>
                  <a:pt x="7266996" y="3896389"/>
                  <a:pt x="7257471" y="3899564"/>
                  <a:pt x="7225086" y="3924329"/>
                </a:cubicBezTo>
                <a:cubicBezTo>
                  <a:pt x="7192701" y="3949094"/>
                  <a:pt x="7174286" y="3968779"/>
                  <a:pt x="7143171" y="3989734"/>
                </a:cubicBezTo>
                <a:cubicBezTo>
                  <a:pt x="7112056" y="4010689"/>
                  <a:pt x="7105706" y="4010689"/>
                  <a:pt x="7070146" y="4030374"/>
                </a:cubicBezTo>
                <a:cubicBezTo>
                  <a:pt x="7034586" y="4050059"/>
                  <a:pt x="6998391" y="4067839"/>
                  <a:pt x="6964101" y="4087524"/>
                </a:cubicBezTo>
                <a:cubicBezTo>
                  <a:pt x="6929811" y="4107209"/>
                  <a:pt x="6927906" y="4110384"/>
                  <a:pt x="6898696" y="4128164"/>
                </a:cubicBezTo>
                <a:cubicBezTo>
                  <a:pt x="6869486" y="4145944"/>
                  <a:pt x="6859961" y="4152294"/>
                  <a:pt x="6817416" y="4177059"/>
                </a:cubicBezTo>
                <a:cubicBezTo>
                  <a:pt x="6774871" y="4201824"/>
                  <a:pt x="6732326" y="4227859"/>
                  <a:pt x="6686606" y="4250719"/>
                </a:cubicBezTo>
                <a:cubicBezTo>
                  <a:pt x="6640886" y="4273579"/>
                  <a:pt x="6631361" y="4276754"/>
                  <a:pt x="6588816" y="4291359"/>
                </a:cubicBezTo>
                <a:cubicBezTo>
                  <a:pt x="6546271" y="4305964"/>
                  <a:pt x="6528491" y="4309774"/>
                  <a:pt x="6474516" y="4324379"/>
                </a:cubicBezTo>
                <a:cubicBezTo>
                  <a:pt x="6420541" y="4338984"/>
                  <a:pt x="6368471" y="4352319"/>
                  <a:pt x="6319576" y="4365019"/>
                </a:cubicBezTo>
                <a:cubicBezTo>
                  <a:pt x="6270681" y="4377719"/>
                  <a:pt x="6264331" y="4377719"/>
                  <a:pt x="6230041" y="4389149"/>
                </a:cubicBezTo>
                <a:cubicBezTo>
                  <a:pt x="6195751" y="4400579"/>
                  <a:pt x="6183051" y="4412644"/>
                  <a:pt x="6148761" y="4422169"/>
                </a:cubicBezTo>
                <a:cubicBezTo>
                  <a:pt x="6114471" y="4431694"/>
                  <a:pt x="6097961" y="4432964"/>
                  <a:pt x="6058591" y="4438044"/>
                </a:cubicBezTo>
                <a:cubicBezTo>
                  <a:pt x="6019221" y="4443124"/>
                  <a:pt x="5990011" y="4443124"/>
                  <a:pt x="5952546" y="4446299"/>
                </a:cubicBezTo>
                <a:cubicBezTo>
                  <a:pt x="5915081" y="4449474"/>
                  <a:pt x="5900476" y="4449474"/>
                  <a:pt x="5871266" y="4454554"/>
                </a:cubicBezTo>
                <a:cubicBezTo>
                  <a:pt x="5842056" y="4459634"/>
                  <a:pt x="5838246" y="4464714"/>
                  <a:pt x="5805861" y="4471064"/>
                </a:cubicBezTo>
                <a:cubicBezTo>
                  <a:pt x="5773476" y="4477414"/>
                  <a:pt x="5747441" y="4480589"/>
                  <a:pt x="5708071" y="4486939"/>
                </a:cubicBezTo>
                <a:cubicBezTo>
                  <a:pt x="5668701" y="4493289"/>
                  <a:pt x="5642666" y="4498369"/>
                  <a:pt x="5610281" y="4503449"/>
                </a:cubicBezTo>
                <a:cubicBezTo>
                  <a:pt x="5577896" y="4508529"/>
                  <a:pt x="5572816" y="4508529"/>
                  <a:pt x="5544876" y="4511704"/>
                </a:cubicBezTo>
                <a:cubicBezTo>
                  <a:pt x="5516936" y="4514879"/>
                  <a:pt x="5499791" y="4514879"/>
                  <a:pt x="5471851" y="4519959"/>
                </a:cubicBezTo>
                <a:cubicBezTo>
                  <a:pt x="5443911" y="4525039"/>
                  <a:pt x="5432481" y="4530754"/>
                  <a:pt x="5406446" y="4535834"/>
                </a:cubicBezTo>
                <a:cubicBezTo>
                  <a:pt x="5380411" y="4540914"/>
                  <a:pt x="5368981" y="4540914"/>
                  <a:pt x="5341041" y="4544089"/>
                </a:cubicBezTo>
                <a:cubicBezTo>
                  <a:pt x="5313101" y="4547264"/>
                  <a:pt x="5281351" y="4551074"/>
                  <a:pt x="5268016" y="4552344"/>
                </a:cubicBezTo>
              </a:path>
            </a:pathLst>
          </a:custGeom>
          <a:noFill/>
          <a:ln w="19050">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7134860" y="5283835"/>
            <a:ext cx="1325880" cy="368300"/>
          </a:xfrm>
          <a:prstGeom prst="rect">
            <a:avLst/>
          </a:prstGeom>
          <a:noFill/>
        </p:spPr>
        <p:txBody>
          <a:bodyPr wrap="none" rtlCol="0">
            <a:spAutoFit/>
          </a:bodyPr>
          <a:lstStyle/>
          <a:p>
            <a:r>
              <a:rPr lang="zh-CN" altLang="en-US">
                <a:solidFill>
                  <a:schemeClr val="accent1"/>
                </a:solidFill>
                <a:effectLst>
                  <a:outerShdw blurRad="38100" dist="25400" dir="5400000" algn="ctr" rotWithShape="0">
                    <a:srgbClr val="6E747A">
                      <a:alpha val="43000"/>
                      <a:alpha val="43000"/>
                    </a:srgbClr>
                  </a:outerShdw>
                </a:effectLst>
              </a:rPr>
              <a:t>潜变量模型</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2" grpId="0"/>
      <p:bldP spid="12"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latin typeface="Arial" panose="020B0604020202020204" pitchFamily="34" charset="0"/>
                <a:ea typeface="微软雅黑" charset="-122"/>
                <a:cs typeface="微软雅黑" charset="-122"/>
                <a:sym typeface="Arial" panose="020B0604020202020204" pitchFamily="34" charset="0"/>
              </a:rPr>
              <a:t>从</a:t>
            </a:r>
            <a:r>
              <a:rPr lang="en-US" altLang="zh-CN" sz="2000" dirty="0">
                <a:latin typeface="Arial" panose="020B0604020202020204" pitchFamily="34" charset="0"/>
                <a:ea typeface="微软雅黑" charset="-122"/>
                <a:cs typeface="微软雅黑" charset="-122"/>
                <a:sym typeface="Arial" panose="020B0604020202020204" pitchFamily="34" charset="0"/>
              </a:rPr>
              <a:t>SEM</a:t>
            </a:r>
            <a:r>
              <a:rPr lang="zh-CN" altLang="en-US" sz="2000" dirty="0">
                <a:latin typeface="Arial" panose="020B0604020202020204" pitchFamily="34" charset="0"/>
                <a:ea typeface="微软雅黑" charset="-122"/>
                <a:cs typeface="微软雅黑" charset="-122"/>
                <a:sym typeface="Arial" panose="020B0604020202020204" pitchFamily="34" charset="0"/>
              </a:rPr>
              <a:t>到潜变量模型</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文本框 99"/>
          <p:cNvSpPr txBox="1"/>
          <p:nvPr/>
        </p:nvSpPr>
        <p:spPr>
          <a:xfrm>
            <a:off x="614045" y="867410"/>
            <a:ext cx="11122660" cy="2999740"/>
          </a:xfrm>
          <a:prstGeom prst="rect">
            <a:avLst/>
          </a:prstGeom>
          <a:noFill/>
          <a:ln w="9525">
            <a:noFill/>
          </a:ln>
        </p:spPr>
        <p:txBody>
          <a:bodyPr wrap="square">
            <a:spAutoFit/>
          </a:bodyPr>
          <a:lstStyle/>
          <a:p>
            <a:pPr marL="0" indent="0" algn="l" fontAlgn="auto">
              <a:lnSpc>
                <a:spcPct val="150000"/>
              </a:lnSpc>
            </a:pPr>
            <a:r>
              <a:rPr lang="zh-CN" b="0">
                <a:latin typeface="微软雅黑" charset="0"/>
                <a:ea typeface="微软雅黑" charset="0"/>
                <a:cs typeface="微软雅黑" charset="0"/>
              </a:rPr>
              <a:t>外显变量（</a:t>
            </a:r>
            <a:r>
              <a:rPr lang="en-US" b="0">
                <a:latin typeface="微软雅黑" charset="0"/>
                <a:ea typeface="微软雅黑" charset="0"/>
                <a:cs typeface="微软雅黑" charset="0"/>
              </a:rPr>
              <a:t>Manifest Variable</a:t>
            </a:r>
            <a:r>
              <a:rPr lang="zh-CN" b="0">
                <a:latin typeface="微软雅黑" charset="0"/>
                <a:ea typeface="微软雅黑" charset="0"/>
                <a:cs typeface="微软雅黑" charset="0"/>
              </a:rPr>
              <a:t>）</a:t>
            </a:r>
            <a:r>
              <a:rPr lang="en-US" b="0">
                <a:latin typeface="微软雅黑" charset="0"/>
                <a:ea typeface="微软雅黑" charset="0"/>
                <a:cs typeface="微软雅黑" charset="0"/>
              </a:rPr>
              <a:t> </a:t>
            </a:r>
            <a:r>
              <a:rPr lang="zh-CN" b="0">
                <a:latin typeface="微软雅黑" charset="0"/>
                <a:ea typeface="微软雅黑" charset="0"/>
                <a:cs typeface="微软雅黑" charset="0"/>
              </a:rPr>
              <a:t>观测变量（</a:t>
            </a:r>
            <a:r>
              <a:rPr lang="en-US" b="0">
                <a:latin typeface="微软雅黑" charset="0"/>
                <a:ea typeface="微软雅黑" charset="0"/>
                <a:cs typeface="微软雅黑" charset="0"/>
              </a:rPr>
              <a:t>Observed Variable</a:t>
            </a:r>
            <a:r>
              <a:rPr lang="zh-CN" b="0">
                <a:latin typeface="微软雅黑" charset="0"/>
                <a:ea typeface="微软雅黑" charset="0"/>
                <a:cs typeface="微软雅黑" charset="0"/>
              </a:rPr>
              <a:t>）是指可以直接观测的变量如个体在量表</a:t>
            </a:r>
            <a:r>
              <a:rPr lang="en-US" b="0">
                <a:latin typeface="微软雅黑" charset="0"/>
                <a:ea typeface="微软雅黑" charset="0"/>
                <a:cs typeface="微软雅黑" charset="0"/>
              </a:rPr>
              <a:t>/</a:t>
            </a:r>
            <a:r>
              <a:rPr lang="zh-CN" b="0">
                <a:latin typeface="微软雅黑" charset="0"/>
                <a:ea typeface="微软雅黑" charset="0"/>
                <a:cs typeface="微软雅黑" charset="0"/>
              </a:rPr>
              <a:t>问卷条目上的得分或认知任务的结果等。外显变量可以是连续的、分类的或顺序的、计数的和名义的变量。</a:t>
            </a:r>
          </a:p>
          <a:p>
            <a:pPr marL="0" indent="0" algn="l" fontAlgn="auto">
              <a:lnSpc>
                <a:spcPct val="150000"/>
              </a:lnSpc>
            </a:pPr>
            <a:endParaRPr lang="zh-CN" b="0">
              <a:latin typeface="微软雅黑" charset="0"/>
              <a:ea typeface="微软雅黑" charset="0"/>
              <a:cs typeface="微软雅黑" charset="0"/>
            </a:endParaRPr>
          </a:p>
          <a:p>
            <a:pPr marL="0" indent="0" algn="l" fontAlgn="auto">
              <a:lnSpc>
                <a:spcPct val="150000"/>
              </a:lnSpc>
            </a:pPr>
            <a:r>
              <a:rPr lang="zh-CN" b="0">
                <a:latin typeface="微软雅黑" charset="0"/>
                <a:ea typeface="微软雅黑" charset="0"/>
                <a:cs typeface="微软雅黑" charset="0"/>
              </a:rPr>
              <a:t>潜变量</a:t>
            </a:r>
            <a:r>
              <a:rPr lang="en-US" b="0">
                <a:latin typeface="微软雅黑" charset="0"/>
                <a:ea typeface="微软雅黑" charset="0"/>
                <a:cs typeface="微软雅黑" charset="0"/>
              </a:rPr>
              <a:t>(Latent Variable) </a:t>
            </a:r>
            <a:r>
              <a:rPr lang="zh-CN" b="0">
                <a:latin typeface="微软雅黑" charset="0"/>
                <a:ea typeface="微软雅黑" charset="0"/>
                <a:cs typeface="微软雅黑" charset="0"/>
              </a:rPr>
              <a:t>通常是指不能直接观测的变量，需要借助外显的测量指标来估计（非定义）。</a:t>
            </a:r>
          </a:p>
          <a:p>
            <a:pPr marL="0" indent="0" algn="l" fontAlgn="auto">
              <a:lnSpc>
                <a:spcPct val="150000"/>
              </a:lnSpc>
            </a:pPr>
            <a:r>
              <a:rPr lang="zh-CN" b="0">
                <a:latin typeface="微软雅黑" charset="0"/>
                <a:ea typeface="微软雅黑" charset="0"/>
                <a:cs typeface="微软雅黑" charset="0"/>
              </a:rPr>
              <a:t>目前为止对于潜变量的定义很多，我们可以通过与潜变量类似的概念来理解，如建构</a:t>
            </a:r>
            <a:r>
              <a:rPr lang="en-US" b="0">
                <a:latin typeface="微软雅黑" charset="0"/>
                <a:ea typeface="微软雅黑" charset="0"/>
                <a:cs typeface="微软雅黑" charset="0"/>
              </a:rPr>
              <a:t>(Constructs</a:t>
            </a:r>
            <a:r>
              <a:rPr lang="zh-CN" b="0">
                <a:latin typeface="微软雅黑" charset="0"/>
                <a:ea typeface="微软雅黑" charset="0"/>
                <a:cs typeface="微软雅黑" charset="0"/>
              </a:rPr>
              <a:t>）、特质</a:t>
            </a:r>
            <a:r>
              <a:rPr lang="en-US" b="0">
                <a:latin typeface="微软雅黑" charset="0"/>
                <a:ea typeface="微软雅黑" charset="0"/>
                <a:cs typeface="微软雅黑" charset="0"/>
              </a:rPr>
              <a:t>(Trait) </a:t>
            </a:r>
            <a:r>
              <a:rPr lang="zh-CN" b="0">
                <a:latin typeface="微软雅黑" charset="0"/>
                <a:ea typeface="微软雅黑" charset="0"/>
                <a:cs typeface="微软雅黑" charset="0"/>
              </a:rPr>
              <a:t>和因子</a:t>
            </a:r>
            <a:r>
              <a:rPr lang="en-US" b="0">
                <a:latin typeface="微软雅黑" charset="0"/>
                <a:ea typeface="微软雅黑" charset="0"/>
                <a:cs typeface="微软雅黑" charset="0"/>
              </a:rPr>
              <a:t>( Factor</a:t>
            </a:r>
            <a:r>
              <a:rPr lang="zh-CN" b="0">
                <a:latin typeface="微软雅黑" charset="0"/>
                <a:ea typeface="微软雅黑" charset="0"/>
                <a:cs typeface="微软雅黑" charset="0"/>
              </a:rPr>
              <a:t>）、维度</a:t>
            </a:r>
            <a:r>
              <a:rPr lang="en-US" b="0">
                <a:latin typeface="微软雅黑" charset="0"/>
                <a:ea typeface="微软雅黑" charset="0"/>
                <a:cs typeface="微软雅黑" charset="0"/>
              </a:rPr>
              <a:t>(Dimension)</a:t>
            </a:r>
            <a:r>
              <a:rPr lang="zh-CN" b="0">
                <a:latin typeface="微软雅黑" charset="0"/>
                <a:ea typeface="微软雅黑" charset="0"/>
                <a:cs typeface="微软雅黑" charset="0"/>
              </a:rPr>
              <a:t>潜类别</a:t>
            </a:r>
            <a:r>
              <a:rPr lang="en-US" b="0">
                <a:latin typeface="微软雅黑" charset="0"/>
                <a:ea typeface="微软雅黑" charset="0"/>
                <a:cs typeface="微软雅黑" charset="0"/>
              </a:rPr>
              <a:t>( Latent Class</a:t>
            </a:r>
            <a:r>
              <a:rPr lang="zh-CN" b="0">
                <a:latin typeface="微软雅黑" charset="0"/>
                <a:ea typeface="微软雅黑" charset="0"/>
                <a:cs typeface="微软雅黑" charset="0"/>
              </a:rPr>
              <a:t>等，这些概念经常替换使用，用于表达类似的意思。</a:t>
            </a:r>
            <a:endParaRPr lang="zh-CN" altLang="en-US" b="0">
              <a:latin typeface="微软雅黑" charset="0"/>
              <a:ea typeface="微软雅黑" charset="0"/>
              <a:cs typeface="微软雅黑" charset="0"/>
            </a:endParaRPr>
          </a:p>
        </p:txBody>
      </p:sp>
      <p:pic>
        <p:nvPicPr>
          <p:cNvPr id="2" name="图片 1"/>
          <p:cNvPicPr>
            <a:picLocks noChangeAspect="1"/>
          </p:cNvPicPr>
          <p:nvPr/>
        </p:nvPicPr>
        <p:blipFill>
          <a:blip r:embed="rId4"/>
          <a:stretch>
            <a:fillRect/>
          </a:stretch>
        </p:blipFill>
        <p:spPr>
          <a:xfrm>
            <a:off x="1683385" y="1123950"/>
            <a:ext cx="7586345" cy="4218940"/>
          </a:xfrm>
          <a:prstGeom prst="rect">
            <a:avLst/>
          </a:prstGeom>
          <a:noFill/>
          <a:ln>
            <a:noFill/>
          </a:ln>
        </p:spPr>
      </p:pic>
      <p:sp>
        <p:nvSpPr>
          <p:cNvPr id="10" name="文本框 9"/>
          <p:cNvSpPr txBox="1"/>
          <p:nvPr/>
        </p:nvSpPr>
        <p:spPr>
          <a:xfrm>
            <a:off x="7308850" y="5504180"/>
            <a:ext cx="1960880" cy="368300"/>
          </a:xfrm>
          <a:prstGeom prst="rect">
            <a:avLst/>
          </a:prstGeom>
          <a:noFill/>
        </p:spPr>
        <p:txBody>
          <a:bodyPr wrap="none" rtlCol="0">
            <a:spAutoFit/>
          </a:bodyPr>
          <a:lstStyle/>
          <a:p>
            <a:r>
              <a:rPr lang="zh-CN" altLang="en-US"/>
              <a:t>（</a:t>
            </a:r>
            <a:r>
              <a:rPr lang="en-US" altLang="zh-CN"/>
              <a:t>Bolen</a:t>
            </a:r>
            <a:r>
              <a:rPr lang="zh-CN" altLang="en-US"/>
              <a:t>，</a:t>
            </a:r>
            <a:r>
              <a:rPr lang="en-US" altLang="zh-CN"/>
              <a:t>2002</a:t>
            </a:r>
            <a:r>
              <a:rPr lang="zh-CN" altLang="en-US"/>
              <a:t>）</a:t>
            </a:r>
          </a:p>
        </p:txBody>
      </p:sp>
      <p:pic>
        <p:nvPicPr>
          <p:cNvPr id="13" name="图片 2"/>
          <p:cNvPicPr>
            <a:picLocks noChangeAspect="1"/>
          </p:cNvPicPr>
          <p:nvPr/>
        </p:nvPicPr>
        <p:blipFill>
          <a:blip r:embed="rId5"/>
          <a:stretch>
            <a:fillRect/>
          </a:stretch>
        </p:blipFill>
        <p:spPr>
          <a:xfrm>
            <a:off x="614045" y="1211580"/>
            <a:ext cx="9827895" cy="4434840"/>
          </a:xfrm>
          <a:prstGeom prst="rect">
            <a:avLst/>
          </a:prstGeom>
          <a:noFill/>
          <a:ln>
            <a:noFill/>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ox(in)">
                                      <p:cBhvr>
                                        <p:cTn id="13"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latin typeface="Arial" panose="020B0604020202020204" pitchFamily="34" charset="0"/>
                <a:ea typeface="微软雅黑" charset="-122"/>
                <a:cs typeface="微软雅黑" charset="-122"/>
                <a:sym typeface="Arial" panose="020B0604020202020204" pitchFamily="34" charset="0"/>
              </a:rPr>
              <a:t>从</a:t>
            </a:r>
            <a:r>
              <a:rPr lang="en-US" altLang="zh-CN" sz="2000" dirty="0">
                <a:latin typeface="Arial" panose="020B0604020202020204" pitchFamily="34" charset="0"/>
                <a:ea typeface="微软雅黑" charset="-122"/>
                <a:cs typeface="微软雅黑" charset="-122"/>
                <a:sym typeface="Arial" panose="020B0604020202020204" pitchFamily="34" charset="0"/>
              </a:rPr>
              <a:t>SEM</a:t>
            </a:r>
            <a:r>
              <a:rPr lang="zh-CN" altLang="en-US" sz="2000" dirty="0">
                <a:latin typeface="Arial" panose="020B0604020202020204" pitchFamily="34" charset="0"/>
                <a:ea typeface="微软雅黑" charset="-122"/>
                <a:cs typeface="微软雅黑" charset="-122"/>
                <a:sym typeface="Arial" panose="020B0604020202020204" pitchFamily="34" charset="0"/>
              </a:rPr>
              <a:t>到潜变量模型</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4"/>
          <a:stretch>
            <a:fillRect/>
          </a:stretch>
        </p:blipFill>
        <p:spPr>
          <a:xfrm>
            <a:off x="853440" y="1372870"/>
            <a:ext cx="10993120" cy="3296285"/>
          </a:xfrm>
          <a:prstGeom prst="rect">
            <a:avLst/>
          </a:prstGeom>
        </p:spPr>
      </p:pic>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latin typeface="Arial" panose="020B0604020202020204" pitchFamily="34" charset="0"/>
                <a:ea typeface="微软雅黑" charset="-122"/>
                <a:cs typeface="微软雅黑" charset="-122"/>
                <a:sym typeface="Arial" panose="020B0604020202020204" pitchFamily="34" charset="0"/>
              </a:rPr>
              <a:t>潜在特质分析</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图片 7"/>
          <p:cNvPicPr>
            <a:picLocks noChangeAspect="1"/>
          </p:cNvPicPr>
          <p:nvPr/>
        </p:nvPicPr>
        <p:blipFill>
          <a:blip r:embed="rId4"/>
          <a:stretch>
            <a:fillRect/>
          </a:stretch>
        </p:blipFill>
        <p:spPr>
          <a:xfrm>
            <a:off x="736283" y="1417638"/>
            <a:ext cx="4733925" cy="3190875"/>
          </a:xfrm>
          <a:prstGeom prst="rect">
            <a:avLst/>
          </a:prstGeom>
          <a:noFill/>
          <a:ln>
            <a:noFill/>
          </a:ln>
        </p:spPr>
      </p:pic>
      <p:sp>
        <p:nvSpPr>
          <p:cNvPr id="100" name="文本框 99"/>
          <p:cNvSpPr txBox="1"/>
          <p:nvPr/>
        </p:nvSpPr>
        <p:spPr>
          <a:xfrm>
            <a:off x="6296025" y="1721168"/>
            <a:ext cx="5080000" cy="2584450"/>
          </a:xfrm>
          <a:prstGeom prst="rect">
            <a:avLst/>
          </a:prstGeom>
          <a:noFill/>
          <a:ln w="9525">
            <a:noFill/>
          </a:ln>
        </p:spPr>
        <p:txBody>
          <a:bodyPr>
            <a:spAutoFit/>
          </a:bodyPr>
          <a:lstStyle/>
          <a:p>
            <a:pPr indent="0" fontAlgn="auto">
              <a:lnSpc>
                <a:spcPct val="150000"/>
              </a:lnSpc>
            </a:pPr>
            <a:r>
              <a:rPr lang="zh-CN" b="0">
                <a:latin typeface="+mj-ea"/>
                <a:ea typeface="+mj-ea"/>
                <a:cs typeface="+mj-ea"/>
              </a:rPr>
              <a:t>当潜变量为连续变量，外显指标为分类变量时，指标与潜变量之间的关系是非线性的，此时的分析方法称为项目反应理论或潜特质分析。项目反应理论目前主要用于大型能力测验，如</a:t>
            </a:r>
            <a:r>
              <a:rPr lang="en-US" b="0">
                <a:latin typeface="+mj-ea"/>
                <a:ea typeface="+mj-ea"/>
                <a:cs typeface="+mj-ea"/>
              </a:rPr>
              <a:t> GRE </a:t>
            </a:r>
            <a:r>
              <a:rPr lang="zh-CN" b="0">
                <a:latin typeface="+mj-ea"/>
                <a:ea typeface="+mj-ea"/>
                <a:cs typeface="+mj-ea"/>
              </a:rPr>
              <a:t>、</a:t>
            </a:r>
            <a:r>
              <a:rPr lang="en-US" b="0">
                <a:latin typeface="+mj-ea"/>
                <a:ea typeface="+mj-ea"/>
                <a:cs typeface="+mj-ea"/>
              </a:rPr>
              <a:t>TOFEL </a:t>
            </a:r>
            <a:r>
              <a:rPr lang="zh-CN" b="0">
                <a:latin typeface="+mj-ea"/>
                <a:ea typeface="+mj-ea"/>
                <a:cs typeface="+mj-ea"/>
              </a:rPr>
              <a:t>等。近年来，将项目反应理论用于临床评估和人格测验等应用领域日渐增多。</a:t>
            </a:r>
          </a:p>
        </p:txBody>
      </p:sp>
      <p:sp>
        <p:nvSpPr>
          <p:cNvPr id="2" name="文本框 1"/>
          <p:cNvSpPr txBox="1"/>
          <p:nvPr/>
        </p:nvSpPr>
        <p:spPr>
          <a:xfrm>
            <a:off x="563880" y="4957445"/>
            <a:ext cx="5080000" cy="922020"/>
          </a:xfrm>
          <a:prstGeom prst="rect">
            <a:avLst/>
          </a:prstGeom>
          <a:noFill/>
          <a:ln w="9525">
            <a:noFill/>
          </a:ln>
        </p:spPr>
        <p:txBody>
          <a:bodyPr>
            <a:spAutoFit/>
          </a:bodyPr>
          <a:lstStyle/>
          <a:p>
            <a:pPr marL="0" indent="0" algn="l"/>
            <a:r>
              <a:rPr lang="zh-CN" sz="1350" b="0">
                <a:solidFill>
                  <a:srgbClr val="121212"/>
                </a:solidFill>
                <a:cs typeface="宋体" charset="0"/>
              </a:rPr>
              <a:t>随着考生的能力水平的变化，考生答对某题目的概率P(θ)也相应变化。这种描述考生能力水平与项目作答结果之间关系的数学模型被称为项目特征函数（item characteristic function, ICF），以图像表示则称为项目特征曲线（item characteristic curve, ICC）。</a:t>
            </a:r>
            <a:endParaRPr lang="zh-CN" altLang="en-US"/>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latin typeface="Arial" panose="020B0604020202020204" pitchFamily="34" charset="0"/>
                <a:ea typeface="微软雅黑" charset="-122"/>
                <a:cs typeface="微软雅黑" charset="-122"/>
                <a:sym typeface="Arial" panose="020B0604020202020204" pitchFamily="34" charset="0"/>
              </a:rPr>
              <a:t>从</a:t>
            </a:r>
            <a:r>
              <a:rPr lang="en-US" altLang="zh-CN" sz="2000" dirty="0">
                <a:latin typeface="Arial" panose="020B0604020202020204" pitchFamily="34" charset="0"/>
                <a:ea typeface="微软雅黑" charset="-122"/>
                <a:cs typeface="微软雅黑" charset="-122"/>
                <a:sym typeface="Arial" panose="020B0604020202020204" pitchFamily="34" charset="0"/>
              </a:rPr>
              <a:t>SEM</a:t>
            </a:r>
            <a:r>
              <a:rPr lang="zh-CN" altLang="en-US" sz="2000" dirty="0">
                <a:latin typeface="Arial" panose="020B0604020202020204" pitchFamily="34" charset="0"/>
                <a:ea typeface="微软雅黑" charset="-122"/>
                <a:cs typeface="微软雅黑" charset="-122"/>
                <a:sym typeface="Arial" panose="020B0604020202020204" pitchFamily="34" charset="0"/>
              </a:rPr>
              <a:t>到潜变量模型</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4"/>
          <a:stretch>
            <a:fillRect/>
          </a:stretch>
        </p:blipFill>
        <p:spPr>
          <a:xfrm>
            <a:off x="853440" y="1372870"/>
            <a:ext cx="10993120" cy="3296285"/>
          </a:xfrm>
          <a:prstGeom prst="rect">
            <a:avLst/>
          </a:prstGeom>
        </p:spPr>
      </p:pic>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en-US" altLang="zh-CN" sz="2000" dirty="0">
                <a:latin typeface="Arial" panose="020B0604020202020204" pitchFamily="34" charset="0"/>
                <a:ea typeface="微软雅黑" charset="-122"/>
                <a:cs typeface="微软雅黑" charset="-122"/>
                <a:sym typeface="Arial" panose="020B0604020202020204" pitchFamily="34" charset="0"/>
              </a:rPr>
              <a:t>LCA</a:t>
            </a:r>
            <a:r>
              <a:rPr lang="zh-CN" altLang="en-US" sz="2000" dirty="0">
                <a:latin typeface="Arial" panose="020B0604020202020204" pitchFamily="34" charset="0"/>
                <a:ea typeface="微软雅黑" charset="-122"/>
                <a:cs typeface="微软雅黑" charset="-122"/>
                <a:sym typeface="Arial" panose="020B0604020202020204" pitchFamily="34" charset="0"/>
              </a:rPr>
              <a:t>和</a:t>
            </a:r>
            <a:r>
              <a:rPr lang="en-US" altLang="zh-CN" sz="2000" dirty="0">
                <a:latin typeface="Arial" panose="020B0604020202020204" pitchFamily="34" charset="0"/>
                <a:ea typeface="微软雅黑" charset="-122"/>
                <a:cs typeface="微软雅黑" charset="-122"/>
                <a:sym typeface="Arial" panose="020B0604020202020204" pitchFamily="34" charset="0"/>
              </a:rPr>
              <a:t>LPA</a:t>
            </a:r>
            <a:endParaRPr lang="zh-CN" altLang="en-US" sz="2000" dirty="0">
              <a:latin typeface="Arial" panose="020B0604020202020204" pitchFamily="34" charset="0"/>
              <a:ea typeface="微软雅黑" charset="-122"/>
              <a:cs typeface="微软雅黑" charset="-122"/>
              <a:sym typeface="Arial" panose="020B0604020202020204" pitchFamily="34" charset="0"/>
            </a:endParaRP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文本框 99"/>
          <p:cNvSpPr txBox="1"/>
          <p:nvPr/>
        </p:nvSpPr>
        <p:spPr>
          <a:xfrm>
            <a:off x="1256030" y="1073150"/>
            <a:ext cx="10542270" cy="3415030"/>
          </a:xfrm>
          <a:prstGeom prst="rect">
            <a:avLst/>
          </a:prstGeom>
          <a:noFill/>
          <a:ln w="9525">
            <a:noFill/>
          </a:ln>
        </p:spPr>
        <p:txBody>
          <a:bodyPr wrap="square">
            <a:spAutoFit/>
          </a:bodyPr>
          <a:lstStyle/>
          <a:p>
            <a:pPr marL="0" indent="0" algn="l"/>
            <a:r>
              <a:rPr lang="zh-CN" b="0">
                <a:latin typeface="微软雅黑" charset="0"/>
                <a:ea typeface="微软雅黑" charset="0"/>
                <a:cs typeface="微软雅黑" charset="0"/>
              </a:rPr>
              <a:t>潜在类别分析</a:t>
            </a:r>
          </a:p>
          <a:p>
            <a:pPr marL="0" indent="0" algn="l"/>
            <a:r>
              <a:rPr lang="zh-CN" b="0">
                <a:latin typeface="微软雅黑" charset="0"/>
                <a:ea typeface="微软雅黑" charset="0"/>
                <a:cs typeface="微软雅黑" charset="0"/>
              </a:rPr>
              <a:t>潜在类别分析</a:t>
            </a:r>
            <a:r>
              <a:rPr lang="en-US" b="0">
                <a:latin typeface="微软雅黑" charset="0"/>
                <a:ea typeface="微软雅黑" charset="0"/>
                <a:cs typeface="微软雅黑" charset="0"/>
              </a:rPr>
              <a:t>(Latent Class Analysis, LCA;Lazarsteld&amp; Henry,1968</a:t>
            </a:r>
            <a:r>
              <a:rPr lang="zh-CN" b="0">
                <a:latin typeface="微软雅黑" charset="0"/>
                <a:ea typeface="微软雅黑" charset="0"/>
                <a:cs typeface="微软雅黑" charset="0"/>
              </a:rPr>
              <a:t>）是通过间断的潜变量即潜在类别</a:t>
            </a:r>
            <a:r>
              <a:rPr lang="en-US" b="0">
                <a:latin typeface="微软雅黑" charset="0"/>
                <a:ea typeface="微软雅黑" charset="0"/>
                <a:cs typeface="微软雅黑" charset="0"/>
              </a:rPr>
              <a:t>( Class)</a:t>
            </a:r>
            <a:r>
              <a:rPr lang="zh-CN" b="0">
                <a:latin typeface="微软雅黑" charset="0"/>
                <a:ea typeface="微软雅黑" charset="0"/>
                <a:cs typeface="微软雅黑" charset="0"/>
              </a:rPr>
              <a:t>来解释外显指标间的关联，使这种关联通过潜在类别变量来估计</a:t>
            </a:r>
            <a:r>
              <a:rPr lang="en-US" b="0">
                <a:latin typeface="微软雅黑" charset="0"/>
                <a:ea typeface="微软雅黑" charset="0"/>
                <a:cs typeface="微软雅黑" charset="0"/>
              </a:rPr>
              <a:t>,</a:t>
            </a:r>
            <a:r>
              <a:rPr lang="zh-CN" b="0">
                <a:latin typeface="微软雅黑" charset="0"/>
                <a:ea typeface="微软雅黑" charset="0"/>
                <a:cs typeface="微软雅黑" charset="0"/>
              </a:rPr>
              <a:t>进而维持其局部独立性的统计方法。</a:t>
            </a:r>
            <a:endParaRPr lang="en-US" b="0">
              <a:latin typeface="微软雅黑" charset="0"/>
              <a:ea typeface="微软雅黑" charset="0"/>
              <a:cs typeface="微软雅黑" charset="0"/>
            </a:endParaRPr>
          </a:p>
          <a:p>
            <a:pPr marL="0" indent="0" algn="l"/>
            <a:r>
              <a:rPr lang="en-US" b="0">
                <a:latin typeface="微软雅黑" charset="0"/>
                <a:ea typeface="微软雅黑" charset="0"/>
                <a:cs typeface="微软雅黑" charset="0"/>
              </a:rPr>
              <a:t> </a:t>
            </a:r>
            <a:endParaRPr lang="zh-CN" b="0">
              <a:latin typeface="微软雅黑" charset="0"/>
              <a:ea typeface="微软雅黑" charset="0"/>
              <a:cs typeface="微软雅黑" charset="0"/>
            </a:endParaRPr>
          </a:p>
          <a:p>
            <a:pPr marL="0" indent="0" algn="l"/>
            <a:r>
              <a:rPr lang="zh-CN" b="0">
                <a:latin typeface="微软雅黑" charset="0"/>
                <a:ea typeface="微软雅黑" charset="0"/>
                <a:cs typeface="微软雅黑" charset="0"/>
              </a:rPr>
              <a:t>其基本假设是</a:t>
            </a:r>
            <a:r>
              <a:rPr lang="en-US" b="0">
                <a:latin typeface="微软雅黑" charset="0"/>
                <a:ea typeface="微软雅黑" charset="0"/>
                <a:cs typeface="微软雅黑" charset="0"/>
              </a:rPr>
              <a:t>,</a:t>
            </a:r>
            <a:r>
              <a:rPr lang="zh-CN" b="0">
                <a:latin typeface="微软雅黑" charset="0"/>
                <a:ea typeface="微软雅黑" charset="0"/>
                <a:cs typeface="微软雅黑" charset="0"/>
              </a:rPr>
              <a:t>外显变量各种反应的概率分布可以由少数互斥的潜在类别变量来解释，每种类别对各外显变量都有特定的倾向，当处理连续数据的时候被称为潜剖面分析。</a:t>
            </a:r>
          </a:p>
          <a:p>
            <a:pPr marL="0" indent="0" algn="l"/>
            <a:endParaRPr lang="zh-CN" altLang="en-US" b="0">
              <a:latin typeface="微软雅黑" charset="0"/>
              <a:ea typeface="微软雅黑" charset="0"/>
              <a:cs typeface="微软雅黑" charset="0"/>
            </a:endParaRPr>
          </a:p>
          <a:p>
            <a:pPr marL="0" indent="0" algn="l"/>
            <a:endParaRPr lang="zh-CN" altLang="en-US" b="0">
              <a:latin typeface="微软雅黑" charset="0"/>
              <a:ea typeface="微软雅黑" charset="0"/>
              <a:cs typeface="微软雅黑" charset="0"/>
            </a:endParaRPr>
          </a:p>
          <a:p>
            <a:pPr marL="0" indent="0" algn="l"/>
            <a:r>
              <a:rPr lang="zh-CN" altLang="en-US" b="0">
                <a:latin typeface="微软雅黑" charset="0"/>
                <a:ea typeface="微软雅黑" charset="0"/>
                <a:cs typeface="微软雅黑" charset="0"/>
              </a:rPr>
              <a:t>假设有A、B.C三个外显变量，分别具有i、j、K个水平数，其彼此之间不相互独立。若存在一具有T个潜类别的潜变量X,其不仅可以解释A、B、C 三者间的关系，且在X的每个类别中，能够维持A、B、C这个三个外显变量的局部独立性，即为潜在类别分析，其数学模型为：</a:t>
            </a:r>
          </a:p>
        </p:txBody>
      </p:sp>
      <p:pic>
        <p:nvPicPr>
          <p:cNvPr id="59" name="图片 48"/>
          <p:cNvPicPr>
            <a:picLocks noChangeAspect="1"/>
          </p:cNvPicPr>
          <p:nvPr/>
        </p:nvPicPr>
        <p:blipFill>
          <a:blip r:embed="rId4"/>
          <a:stretch>
            <a:fillRect/>
          </a:stretch>
        </p:blipFill>
        <p:spPr>
          <a:xfrm>
            <a:off x="4464050" y="4791075"/>
            <a:ext cx="2500630" cy="1438275"/>
          </a:xfrm>
          <a:prstGeom prst="rect">
            <a:avLst/>
          </a:prstGeom>
          <a:noFill/>
          <a:ln>
            <a:noFill/>
          </a:ln>
        </p:spPr>
      </p:pic>
      <p:pic>
        <p:nvPicPr>
          <p:cNvPr id="57" name="图片 46"/>
          <p:cNvPicPr>
            <a:picLocks noChangeAspect="1"/>
          </p:cNvPicPr>
          <p:nvPr/>
        </p:nvPicPr>
        <p:blipFill>
          <a:blip r:embed="rId5"/>
          <a:stretch>
            <a:fillRect/>
          </a:stretch>
        </p:blipFill>
        <p:spPr>
          <a:xfrm>
            <a:off x="1733233" y="617855"/>
            <a:ext cx="2867025" cy="5924550"/>
          </a:xfrm>
          <a:prstGeom prst="rect">
            <a:avLst/>
          </a:prstGeom>
          <a:noFill/>
          <a:ln>
            <a:noFill/>
          </a:ln>
        </p:spPr>
      </p:pic>
      <p:pic>
        <p:nvPicPr>
          <p:cNvPr id="2" name="图片 1" descr="/private/var/folders/qt/5dnxj62d1w72pylg2jf95fmr0000gn/T/com.kingsoft.wpsoffice.mac/picturecompress_20221114202150/output_1.pngoutput_1"/>
          <p:cNvPicPr>
            <a:picLocks noChangeAspect="1"/>
          </p:cNvPicPr>
          <p:nvPr/>
        </p:nvPicPr>
        <p:blipFill>
          <a:blip r:embed="rId6"/>
          <a:stretch>
            <a:fillRect/>
          </a:stretch>
        </p:blipFill>
        <p:spPr>
          <a:xfrm>
            <a:off x="6684010" y="279400"/>
            <a:ext cx="3059430" cy="6263005"/>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box(in)">
                                      <p:cBhvr>
                                        <p:cTn id="7" dur="2000"/>
                                        <p:tgtEl>
                                          <p:spTgt spid="57"/>
                                        </p:tgtEl>
                                      </p:cBhvr>
                                    </p:animEffect>
                                  </p:childTnLst>
                                </p:cTn>
                              </p:par>
                              <p:par>
                                <p:cTn id="8" presetID="4" presetClass="entr" presetSubtype="16"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ox(in)">
                                      <p:cBhvr>
                                        <p:cTn id="10"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en-US" altLang="zh-CN" sz="2000" dirty="0">
                <a:latin typeface="Arial" panose="020B0604020202020204" pitchFamily="34" charset="0"/>
                <a:ea typeface="微软雅黑" charset="-122"/>
                <a:cs typeface="微软雅黑" charset="-122"/>
                <a:sym typeface="Arial" panose="020B0604020202020204" pitchFamily="34" charset="0"/>
              </a:rPr>
              <a:t>LCA</a:t>
            </a:r>
            <a:r>
              <a:rPr lang="zh-CN" altLang="en-US" sz="2000" dirty="0">
                <a:latin typeface="Arial" panose="020B0604020202020204" pitchFamily="34" charset="0"/>
                <a:ea typeface="微软雅黑" charset="-122"/>
                <a:cs typeface="微软雅黑" charset="-122"/>
                <a:sym typeface="Arial" panose="020B0604020202020204" pitchFamily="34" charset="0"/>
              </a:rPr>
              <a:t>和</a:t>
            </a:r>
            <a:r>
              <a:rPr lang="en-US" altLang="zh-CN" sz="2000" dirty="0">
                <a:latin typeface="Arial" panose="020B0604020202020204" pitchFamily="34" charset="0"/>
                <a:ea typeface="微软雅黑" charset="-122"/>
                <a:cs typeface="微软雅黑" charset="-122"/>
                <a:sym typeface="Arial" panose="020B0604020202020204" pitchFamily="34" charset="0"/>
              </a:rPr>
              <a:t>LPA</a:t>
            </a:r>
            <a:endParaRPr lang="zh-CN" altLang="en-US" sz="2000" dirty="0">
              <a:latin typeface="Arial" panose="020B0604020202020204" pitchFamily="34" charset="0"/>
              <a:ea typeface="微软雅黑" charset="-122"/>
              <a:cs typeface="微软雅黑" charset="-122"/>
              <a:sym typeface="Arial" panose="020B0604020202020204" pitchFamily="34" charset="0"/>
            </a:endParaRP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8" name="图片 47"/>
          <p:cNvPicPr>
            <a:picLocks noChangeAspect="1"/>
          </p:cNvPicPr>
          <p:nvPr/>
        </p:nvPicPr>
        <p:blipFill>
          <a:blip r:embed="rId4"/>
          <a:stretch>
            <a:fillRect/>
          </a:stretch>
        </p:blipFill>
        <p:spPr>
          <a:xfrm>
            <a:off x="1010285" y="1946275"/>
            <a:ext cx="2933700" cy="3333750"/>
          </a:xfrm>
          <a:prstGeom prst="rect">
            <a:avLst/>
          </a:prstGeom>
          <a:noFill/>
          <a:ln>
            <a:noFill/>
          </a:ln>
        </p:spPr>
      </p:pic>
      <p:sp>
        <p:nvSpPr>
          <p:cNvPr id="2" name="文本框 1"/>
          <p:cNvSpPr txBox="1"/>
          <p:nvPr/>
        </p:nvSpPr>
        <p:spPr>
          <a:xfrm>
            <a:off x="2026920" y="1174115"/>
            <a:ext cx="640080" cy="368300"/>
          </a:xfrm>
          <a:prstGeom prst="rect">
            <a:avLst/>
          </a:prstGeom>
          <a:noFill/>
        </p:spPr>
        <p:txBody>
          <a:bodyPr wrap="none" rtlCol="0">
            <a:spAutoFit/>
          </a:bodyPr>
          <a:lstStyle/>
          <a:p>
            <a:r>
              <a:rPr lang="zh-CN" altLang="en-US"/>
              <a:t>分类</a:t>
            </a:r>
          </a:p>
        </p:txBody>
      </p:sp>
      <p:sp>
        <p:nvSpPr>
          <p:cNvPr id="3" name="文本框 2"/>
          <p:cNvSpPr txBox="1"/>
          <p:nvPr/>
        </p:nvSpPr>
        <p:spPr>
          <a:xfrm>
            <a:off x="8818880" y="1141095"/>
            <a:ext cx="640080" cy="368300"/>
          </a:xfrm>
          <a:prstGeom prst="rect">
            <a:avLst/>
          </a:prstGeom>
          <a:noFill/>
        </p:spPr>
        <p:txBody>
          <a:bodyPr wrap="none" rtlCol="0">
            <a:spAutoFit/>
          </a:bodyPr>
          <a:lstStyle/>
          <a:p>
            <a:r>
              <a:rPr lang="zh-CN" altLang="en-US"/>
              <a:t>聚类</a:t>
            </a:r>
          </a:p>
        </p:txBody>
      </p:sp>
      <p:sp>
        <p:nvSpPr>
          <p:cNvPr id="7" name="文本框 6"/>
          <p:cNvSpPr txBox="1"/>
          <p:nvPr/>
        </p:nvSpPr>
        <p:spPr>
          <a:xfrm>
            <a:off x="1699895" y="5356860"/>
            <a:ext cx="1554480" cy="1198880"/>
          </a:xfrm>
          <a:prstGeom prst="rect">
            <a:avLst/>
          </a:prstGeom>
          <a:noFill/>
        </p:spPr>
        <p:txBody>
          <a:bodyPr wrap="none" rtlCol="0">
            <a:spAutoFit/>
          </a:bodyPr>
          <a:lstStyle/>
          <a:p>
            <a:pPr algn="l"/>
            <a:r>
              <a:rPr lang="zh-CN" altLang="en-US"/>
              <a:t>entropy</a:t>
            </a:r>
            <a:r>
              <a:rPr lang="en-US" altLang="zh-CN"/>
              <a:t> </a:t>
            </a:r>
            <a:r>
              <a:rPr lang="zh-CN" altLang="en-US"/>
              <a:t>熵</a:t>
            </a:r>
          </a:p>
          <a:p>
            <a:pPr algn="l"/>
            <a:r>
              <a:rPr lang="zh-CN" altLang="en-US" i="1"/>
              <a:t>（auc acc）</a:t>
            </a:r>
          </a:p>
          <a:p>
            <a:pPr algn="l"/>
            <a:endParaRPr lang="zh-CN" altLang="en-US" i="1"/>
          </a:p>
          <a:p>
            <a:pPr algn="l"/>
            <a:r>
              <a:rPr lang="zh-CN" altLang="en-US"/>
              <a:t>条件概率矩阵</a:t>
            </a:r>
          </a:p>
        </p:txBody>
      </p:sp>
      <p:pic>
        <p:nvPicPr>
          <p:cNvPr id="60" name="图片 49"/>
          <p:cNvPicPr>
            <a:picLocks noChangeAspect="1"/>
          </p:cNvPicPr>
          <p:nvPr/>
        </p:nvPicPr>
        <p:blipFill>
          <a:blip r:embed="rId5"/>
          <a:stretch>
            <a:fillRect/>
          </a:stretch>
        </p:blipFill>
        <p:spPr>
          <a:xfrm>
            <a:off x="4193540" y="1644650"/>
            <a:ext cx="8131175" cy="4168140"/>
          </a:xfrm>
          <a:prstGeom prst="rect">
            <a:avLst/>
          </a:prstGeom>
          <a:noFill/>
          <a:ln>
            <a:noFill/>
          </a:ln>
        </p:spPr>
      </p:pic>
      <p:sp>
        <p:nvSpPr>
          <p:cNvPr id="9" name="文本框 8"/>
          <p:cNvSpPr txBox="1"/>
          <p:nvPr/>
        </p:nvSpPr>
        <p:spPr>
          <a:xfrm>
            <a:off x="5633085" y="1141095"/>
            <a:ext cx="386080" cy="368300"/>
          </a:xfrm>
          <a:prstGeom prst="rect">
            <a:avLst/>
          </a:prstGeom>
          <a:noFill/>
        </p:spPr>
        <p:txBody>
          <a:bodyPr wrap="none" rtlCol="0">
            <a:spAutoFit/>
          </a:bodyPr>
          <a:lstStyle/>
          <a:p>
            <a:r>
              <a:rPr lang="en-US" altLang="zh-CN"/>
              <a:t>or</a:t>
            </a: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latin typeface="Arial" panose="020B0604020202020204" pitchFamily="34" charset="0"/>
                <a:ea typeface="微软雅黑" charset="-122"/>
                <a:cs typeface="微软雅黑" charset="-122"/>
                <a:sym typeface="Arial" panose="020B0604020202020204" pitchFamily="34" charset="0"/>
              </a:rPr>
              <a:t>潜变量模型发展的几个趋势</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p:nvPicPr>
        <p:blipFill>
          <a:blip r:embed="rId4"/>
          <a:stretch>
            <a:fillRect/>
          </a:stretch>
        </p:blipFill>
        <p:spPr>
          <a:xfrm>
            <a:off x="4078605" y="1478915"/>
            <a:ext cx="8391525" cy="3319145"/>
          </a:xfrm>
          <a:prstGeom prst="rect">
            <a:avLst/>
          </a:prstGeom>
          <a:noFill/>
          <a:ln>
            <a:noFill/>
          </a:ln>
        </p:spPr>
      </p:pic>
      <p:sp>
        <p:nvSpPr>
          <p:cNvPr id="2" name="文本框 1"/>
          <p:cNvSpPr txBox="1"/>
          <p:nvPr/>
        </p:nvSpPr>
        <p:spPr>
          <a:xfrm>
            <a:off x="354330" y="1580515"/>
            <a:ext cx="3802380" cy="2030095"/>
          </a:xfrm>
          <a:prstGeom prst="rect">
            <a:avLst/>
          </a:prstGeom>
          <a:noFill/>
        </p:spPr>
        <p:txBody>
          <a:bodyPr wrap="none" rtlCol="0">
            <a:spAutoFit/>
          </a:bodyPr>
          <a:lstStyle/>
          <a:p>
            <a:r>
              <a:rPr lang="en-US" altLang="zh-CN" b="1"/>
              <a:t>1.</a:t>
            </a:r>
            <a:r>
              <a:rPr lang="zh-CN" altLang="en-US" b="1"/>
              <a:t>从横向到纵向</a:t>
            </a:r>
            <a:endParaRPr lang="en-US" altLang="zh-CN" b="1"/>
          </a:p>
          <a:p>
            <a:endParaRPr lang="zh-CN" altLang="en-US"/>
          </a:p>
          <a:p>
            <a:r>
              <a:rPr lang="en-US" altLang="zh-CN"/>
              <a:t>2.</a:t>
            </a:r>
            <a:r>
              <a:rPr lang="zh-CN" altLang="en-US"/>
              <a:t>从静态小样本到动态大样本</a:t>
            </a:r>
          </a:p>
          <a:p>
            <a:endParaRPr lang="zh-CN" altLang="en-US"/>
          </a:p>
          <a:p>
            <a:r>
              <a:rPr lang="en-US" altLang="zh-CN"/>
              <a:t>3.</a:t>
            </a:r>
            <a:r>
              <a:rPr lang="zh-CN" altLang="en-US"/>
              <a:t>从主观报告到神经影像等客观数据</a:t>
            </a:r>
          </a:p>
          <a:p>
            <a:endParaRPr lang="zh-CN" altLang="en-US"/>
          </a:p>
          <a:p>
            <a:r>
              <a:rPr lang="en-US" altLang="zh-CN" b="1"/>
              <a:t>4.</a:t>
            </a:r>
            <a:r>
              <a:rPr lang="zh-CN" altLang="en-US" b="1"/>
              <a:t>从单一模型到混合模型</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latin typeface="Arial" panose="020B0604020202020204" pitchFamily="34" charset="0"/>
                <a:ea typeface="微软雅黑" charset="-122"/>
                <a:cs typeface="微软雅黑" charset="-122"/>
                <a:sym typeface="Arial" panose="020B0604020202020204" pitchFamily="34" charset="0"/>
              </a:rPr>
              <a:t>纵向潜变量模型</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591185" y="1066800"/>
            <a:ext cx="5375275" cy="4015105"/>
          </a:xfrm>
          <a:prstGeom prst="rect">
            <a:avLst/>
          </a:prstGeom>
          <a:noFill/>
        </p:spPr>
        <p:txBody>
          <a:bodyPr wrap="none" rtlCol="0">
            <a:spAutoFit/>
          </a:bodyPr>
          <a:lstStyle/>
          <a:p>
            <a:r>
              <a:rPr lang="en-US" altLang="zh-CN" sz="2400" b="1"/>
              <a:t>什么是</a:t>
            </a:r>
            <a:r>
              <a:rPr lang="zh-CN" altLang="en-US" sz="2400" b="1"/>
              <a:t>潜变量模型</a:t>
            </a:r>
            <a:r>
              <a:rPr lang="en-US" altLang="zh-CN" sz="2400" b="1"/>
              <a:t>中纵向研究的定义？</a:t>
            </a:r>
            <a:endParaRPr lang="en-US" altLang="zh-CN"/>
          </a:p>
          <a:p>
            <a:pPr fontAlgn="auto">
              <a:lnSpc>
                <a:spcPct val="150000"/>
              </a:lnSpc>
            </a:pPr>
            <a:r>
              <a:rPr lang="en-US" altLang="zh-CN"/>
              <a:t>1.研究变量随时间变化</a:t>
            </a:r>
          </a:p>
          <a:p>
            <a:pPr fontAlgn="auto">
              <a:lnSpc>
                <a:spcPct val="150000"/>
              </a:lnSpc>
            </a:pPr>
            <a:r>
              <a:rPr lang="en-US" altLang="zh-CN"/>
              <a:t>2.研究变量追踪同一个体</a:t>
            </a:r>
          </a:p>
          <a:p>
            <a:pPr fontAlgn="auto">
              <a:lnSpc>
                <a:spcPct val="150000"/>
              </a:lnSpc>
            </a:pPr>
            <a:r>
              <a:rPr lang="en-US" altLang="zh-CN"/>
              <a:t>3.研究变量重复测量</a:t>
            </a:r>
          </a:p>
          <a:p>
            <a:pPr fontAlgn="auto">
              <a:lnSpc>
                <a:spcPct val="150000"/>
              </a:lnSpc>
            </a:pPr>
            <a:r>
              <a:rPr lang="en-US" altLang="zh-CN"/>
              <a:t>（Baltes&amp;Nesselroade,1979；Hindley，1972）</a:t>
            </a:r>
          </a:p>
          <a:p>
            <a:endParaRPr lang="zh-CN" altLang="en-US"/>
          </a:p>
          <a:p>
            <a:r>
              <a:rPr lang="zh-CN" altLang="en-US" sz="2400" b="1"/>
              <a:t>纵向研究的意义？</a:t>
            </a:r>
          </a:p>
          <a:p>
            <a:pPr fontAlgn="auto">
              <a:lnSpc>
                <a:spcPct val="150000"/>
              </a:lnSpc>
            </a:pPr>
            <a:r>
              <a:rPr lang="zh-CN" altLang="en-US"/>
              <a:t>1.研究individual的变化</a:t>
            </a:r>
          </a:p>
          <a:p>
            <a:pPr fontAlgn="auto">
              <a:lnSpc>
                <a:spcPct val="150000"/>
              </a:lnSpc>
            </a:pPr>
            <a:r>
              <a:rPr lang="zh-CN" altLang="en-US"/>
              <a:t>2.比较individual变化在个体间的差异</a:t>
            </a:r>
          </a:p>
          <a:p>
            <a:pPr fontAlgn="auto">
              <a:lnSpc>
                <a:spcPct val="150000"/>
              </a:lnSpc>
            </a:pPr>
            <a:r>
              <a:rPr lang="en-US" altLang="zh-CN"/>
              <a:t>......</a:t>
            </a:r>
          </a:p>
        </p:txBody>
      </p:sp>
      <p:sp>
        <p:nvSpPr>
          <p:cNvPr id="3" name="文本框 2"/>
          <p:cNvSpPr txBox="1"/>
          <p:nvPr/>
        </p:nvSpPr>
        <p:spPr>
          <a:xfrm>
            <a:off x="7563485" y="541020"/>
            <a:ext cx="1783080" cy="368300"/>
          </a:xfrm>
          <a:prstGeom prst="rect">
            <a:avLst/>
          </a:prstGeom>
          <a:noFill/>
        </p:spPr>
        <p:txBody>
          <a:bodyPr wrap="none" rtlCol="0">
            <a:spAutoFit/>
          </a:bodyPr>
          <a:lstStyle/>
          <a:p>
            <a:r>
              <a:rPr lang="zh-CN" altLang="en-US"/>
              <a:t>一阶自回归模型</a:t>
            </a:r>
          </a:p>
        </p:txBody>
      </p:sp>
      <p:pic>
        <p:nvPicPr>
          <p:cNvPr id="28" name="图片 27"/>
          <p:cNvPicPr>
            <a:picLocks noChangeAspect="1"/>
          </p:cNvPicPr>
          <p:nvPr/>
        </p:nvPicPr>
        <p:blipFill>
          <a:blip r:embed="rId4"/>
          <a:stretch>
            <a:fillRect/>
          </a:stretch>
        </p:blipFill>
        <p:spPr>
          <a:xfrm>
            <a:off x="6335078" y="1357948"/>
            <a:ext cx="4238625" cy="847725"/>
          </a:xfrm>
          <a:prstGeom prst="rect">
            <a:avLst/>
          </a:prstGeom>
          <a:noFill/>
          <a:ln>
            <a:noFill/>
          </a:ln>
        </p:spPr>
      </p:pic>
      <p:pic>
        <p:nvPicPr>
          <p:cNvPr id="29" name="图片 29" descr="图片(1)"/>
          <p:cNvPicPr>
            <a:picLocks noChangeAspect="1"/>
          </p:cNvPicPr>
          <p:nvPr/>
        </p:nvPicPr>
        <p:blipFill>
          <a:blip r:embed="rId5"/>
          <a:stretch>
            <a:fillRect/>
          </a:stretch>
        </p:blipFill>
        <p:spPr>
          <a:xfrm>
            <a:off x="6335395" y="2519680"/>
            <a:ext cx="4403090" cy="880745"/>
          </a:xfrm>
          <a:prstGeom prst="rect">
            <a:avLst/>
          </a:prstGeom>
        </p:spPr>
      </p:pic>
      <p:sp>
        <p:nvSpPr>
          <p:cNvPr id="5" name="文本框 4"/>
          <p:cNvSpPr txBox="1"/>
          <p:nvPr/>
        </p:nvSpPr>
        <p:spPr>
          <a:xfrm>
            <a:off x="9471660" y="3596005"/>
            <a:ext cx="1071880" cy="306705"/>
          </a:xfrm>
          <a:prstGeom prst="rect">
            <a:avLst/>
          </a:prstGeom>
          <a:noFill/>
        </p:spPr>
        <p:txBody>
          <a:bodyPr wrap="none" rtlCol="0">
            <a:spAutoFit/>
          </a:bodyPr>
          <a:lstStyle/>
          <a:p>
            <a:r>
              <a:rPr lang="zh-CN" altLang="en-US" sz="1400" i="1"/>
              <a:t>潜变量同理</a:t>
            </a:r>
          </a:p>
        </p:txBody>
      </p:sp>
      <p:pic>
        <p:nvPicPr>
          <p:cNvPr id="30" name="图片 28"/>
          <p:cNvPicPr>
            <a:picLocks noChangeAspect="1"/>
          </p:cNvPicPr>
          <p:nvPr/>
        </p:nvPicPr>
        <p:blipFill>
          <a:blip r:embed="rId6"/>
          <a:stretch>
            <a:fillRect/>
          </a:stretch>
        </p:blipFill>
        <p:spPr>
          <a:xfrm>
            <a:off x="5958840" y="4652010"/>
            <a:ext cx="4991100" cy="1581150"/>
          </a:xfrm>
          <a:prstGeom prst="rect">
            <a:avLst/>
          </a:prstGeom>
          <a:noFill/>
          <a:ln>
            <a:noFill/>
          </a:ln>
        </p:spPr>
      </p:pic>
      <p:sp>
        <p:nvSpPr>
          <p:cNvPr id="7" name="文本框 6"/>
          <p:cNvSpPr txBox="1"/>
          <p:nvPr/>
        </p:nvSpPr>
        <p:spPr>
          <a:xfrm>
            <a:off x="7563485" y="4093210"/>
            <a:ext cx="2240280" cy="368300"/>
          </a:xfrm>
          <a:prstGeom prst="rect">
            <a:avLst/>
          </a:prstGeom>
          <a:noFill/>
        </p:spPr>
        <p:txBody>
          <a:bodyPr wrap="none" rtlCol="0">
            <a:spAutoFit/>
          </a:bodyPr>
          <a:lstStyle/>
          <a:p>
            <a:r>
              <a:rPr lang="zh-CN" altLang="en-US"/>
              <a:t>自回归交叉滞后模型</a:t>
            </a:r>
          </a:p>
        </p:txBody>
      </p:sp>
      <p:sp>
        <p:nvSpPr>
          <p:cNvPr id="8" name="文本框 7"/>
          <p:cNvSpPr txBox="1"/>
          <p:nvPr/>
        </p:nvSpPr>
        <p:spPr>
          <a:xfrm>
            <a:off x="9582150" y="6233160"/>
            <a:ext cx="1071880" cy="306705"/>
          </a:xfrm>
          <a:prstGeom prst="rect">
            <a:avLst/>
          </a:prstGeom>
          <a:noFill/>
        </p:spPr>
        <p:txBody>
          <a:bodyPr wrap="none" rtlCol="0">
            <a:spAutoFit/>
          </a:bodyPr>
          <a:lstStyle/>
          <a:p>
            <a:r>
              <a:rPr lang="zh-CN" altLang="en-US" sz="1400" i="1"/>
              <a:t>潜变量同理</a:t>
            </a:r>
          </a:p>
        </p:txBody>
      </p:sp>
      <p:sp>
        <p:nvSpPr>
          <p:cNvPr id="100" name="文本框 99"/>
          <p:cNvSpPr txBox="1"/>
          <p:nvPr/>
        </p:nvSpPr>
        <p:spPr>
          <a:xfrm>
            <a:off x="6143625" y="3542348"/>
            <a:ext cx="5080000" cy="414020"/>
          </a:xfrm>
          <a:prstGeom prst="rect">
            <a:avLst/>
          </a:prstGeom>
          <a:noFill/>
          <a:ln w="9525">
            <a:noFill/>
          </a:ln>
        </p:spPr>
        <p:txBody>
          <a:bodyPr>
            <a:spAutoFit/>
          </a:bodyPr>
          <a:lstStyle/>
          <a:p>
            <a:pPr marL="0" indent="0" algn="l"/>
            <a:r>
              <a:rPr lang="en-US" sz="1050" b="0">
                <a:latin typeface="Calibri" charset="0"/>
                <a:cs typeface="宋体" charset="0"/>
              </a:rPr>
              <a:t>DSEM</a:t>
            </a:r>
          </a:p>
          <a:p>
            <a:pPr marL="0" indent="0" algn="l"/>
            <a:r>
              <a:rPr lang="en-US" sz="1050" b="0">
                <a:latin typeface="Calibri" charset="0"/>
                <a:cs typeface="宋体" charset="0"/>
              </a:rPr>
              <a:t>Dynamic Structural Equation Models 2018</a:t>
            </a:r>
            <a:r>
              <a:rPr lang="zh-CN" sz="1050" b="0">
                <a:latin typeface="Calibri" charset="0"/>
                <a:cs typeface="宋体" charset="0"/>
              </a:rPr>
              <a:t>年</a:t>
            </a:r>
            <a:endParaRPr lang="zh-CN" altLang="en-US"/>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latin typeface="Arial" panose="020B0604020202020204" pitchFamily="34" charset="0"/>
                <a:ea typeface="微软雅黑" charset="-122"/>
                <a:cs typeface="微软雅黑" charset="-122"/>
                <a:sym typeface="Arial" panose="020B0604020202020204" pitchFamily="34" charset="0"/>
              </a:rPr>
              <a:t>纵向潜变量模型</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5" name="图片 44"/>
          <p:cNvPicPr>
            <a:picLocks noChangeAspect="1"/>
          </p:cNvPicPr>
          <p:nvPr/>
        </p:nvPicPr>
        <p:blipFill>
          <a:blip r:embed="rId4"/>
          <a:stretch>
            <a:fillRect/>
          </a:stretch>
        </p:blipFill>
        <p:spPr>
          <a:xfrm>
            <a:off x="464820" y="1492885"/>
            <a:ext cx="6099175" cy="3701415"/>
          </a:xfrm>
          <a:prstGeom prst="rect">
            <a:avLst/>
          </a:prstGeom>
          <a:noFill/>
          <a:ln>
            <a:noFill/>
          </a:ln>
        </p:spPr>
      </p:pic>
      <p:pic>
        <p:nvPicPr>
          <p:cNvPr id="56" name="图片 45"/>
          <p:cNvPicPr>
            <a:picLocks noChangeAspect="1"/>
          </p:cNvPicPr>
          <p:nvPr/>
        </p:nvPicPr>
        <p:blipFill>
          <a:blip r:embed="rId5"/>
          <a:stretch>
            <a:fillRect/>
          </a:stretch>
        </p:blipFill>
        <p:spPr>
          <a:xfrm>
            <a:off x="7650480" y="1492885"/>
            <a:ext cx="3652520" cy="3853815"/>
          </a:xfrm>
          <a:prstGeom prst="rect">
            <a:avLst/>
          </a:prstGeom>
          <a:noFill/>
          <a:ln>
            <a:noFill/>
          </a:ln>
        </p:spPr>
      </p:pic>
      <p:sp>
        <p:nvSpPr>
          <p:cNvPr id="2" name="文本框 1"/>
          <p:cNvSpPr txBox="1"/>
          <p:nvPr/>
        </p:nvSpPr>
        <p:spPr>
          <a:xfrm>
            <a:off x="464820" y="5512435"/>
            <a:ext cx="11498580" cy="645160"/>
          </a:xfrm>
          <a:prstGeom prst="rect">
            <a:avLst/>
          </a:prstGeom>
          <a:noFill/>
        </p:spPr>
        <p:txBody>
          <a:bodyPr wrap="none" rtlCol="0">
            <a:spAutoFit/>
          </a:bodyPr>
          <a:lstStyle/>
          <a:p>
            <a:pPr algn="l"/>
            <a:r>
              <a:rPr lang="zh-CN" altLang="en-US"/>
              <a:t>Testing mediational models with longitudinal data: questions and tips in the use of structural equation modeling. </a:t>
            </a:r>
          </a:p>
          <a:p>
            <a:pPr algn="l"/>
            <a:r>
              <a:rPr lang="zh-CN" altLang="en-US"/>
              <a:t>Cole &amp; Maxwell,</a:t>
            </a:r>
            <a:r>
              <a:rPr lang="en-US" altLang="zh-CN"/>
              <a:t>2003</a:t>
            </a: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latin typeface="Arial" panose="020B0604020202020204" pitchFamily="34" charset="0"/>
                <a:ea typeface="微软雅黑" charset="-122"/>
                <a:cs typeface="微软雅黑" charset="-122"/>
                <a:sym typeface="Arial" panose="020B0604020202020204" pitchFamily="34" charset="0"/>
              </a:rPr>
              <a:t>纵向潜变量模型</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p:nvPicPr>
        <p:blipFill>
          <a:blip r:embed="rId4"/>
          <a:stretch>
            <a:fillRect/>
          </a:stretch>
        </p:blipFill>
        <p:spPr>
          <a:xfrm>
            <a:off x="1899920" y="907415"/>
            <a:ext cx="8391525" cy="3319145"/>
          </a:xfrm>
          <a:prstGeom prst="rect">
            <a:avLst/>
          </a:prstGeom>
          <a:noFill/>
          <a:ln>
            <a:noFill/>
          </a:ln>
        </p:spPr>
      </p:pic>
      <p:sp>
        <p:nvSpPr>
          <p:cNvPr id="2" name="矩形 1"/>
          <p:cNvSpPr/>
          <p:nvPr/>
        </p:nvSpPr>
        <p:spPr>
          <a:xfrm>
            <a:off x="5524500" y="2771775"/>
            <a:ext cx="2038985" cy="505460"/>
          </a:xfrm>
          <a:prstGeom prst="rect">
            <a:avLst/>
          </a:prstGeom>
          <a:noFill/>
          <a:ln>
            <a:solidFill>
              <a:schemeClr val="accent3"/>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3755390" y="2739390"/>
            <a:ext cx="1687830" cy="913130"/>
          </a:xfrm>
          <a:prstGeom prst="rect">
            <a:avLst/>
          </a:prstGeom>
          <a:noFill/>
          <a:ln>
            <a:solidFill>
              <a:srgbClr val="FFC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5573395" y="3987165"/>
            <a:ext cx="3947160" cy="0"/>
          </a:xfrm>
          <a:prstGeom prst="line">
            <a:avLst/>
          </a:prstGeom>
        </p:spPr>
        <p:style>
          <a:lnRef idx="1">
            <a:schemeClr val="accent5"/>
          </a:lnRef>
          <a:fillRef idx="0">
            <a:schemeClr val="accent5"/>
          </a:fillRef>
          <a:effectRef idx="0">
            <a:schemeClr val="accent5"/>
          </a:effectRef>
          <a:fontRef idx="minor">
            <a:schemeClr val="tx1"/>
          </a:fontRef>
        </p:style>
      </p:cxnSp>
      <p:cxnSp>
        <p:nvCxnSpPr>
          <p:cNvPr id="11" name="直接连接符 10"/>
          <p:cNvCxnSpPr/>
          <p:nvPr/>
        </p:nvCxnSpPr>
        <p:spPr>
          <a:xfrm>
            <a:off x="9488170" y="2804795"/>
            <a:ext cx="0" cy="1174115"/>
          </a:xfrm>
          <a:prstGeom prst="line">
            <a:avLst/>
          </a:prstGeom>
        </p:spPr>
        <p:style>
          <a:lnRef idx="1">
            <a:schemeClr val="accent5"/>
          </a:lnRef>
          <a:fillRef idx="0">
            <a:schemeClr val="accent5"/>
          </a:fillRef>
          <a:effectRef idx="0">
            <a:schemeClr val="accent5"/>
          </a:effectRef>
          <a:fontRef idx="minor">
            <a:schemeClr val="tx1"/>
          </a:fontRef>
        </p:style>
      </p:cxnSp>
      <p:cxnSp>
        <p:nvCxnSpPr>
          <p:cNvPr id="12" name="直接连接符 11"/>
          <p:cNvCxnSpPr/>
          <p:nvPr/>
        </p:nvCxnSpPr>
        <p:spPr>
          <a:xfrm>
            <a:off x="7824470" y="2804795"/>
            <a:ext cx="1679575" cy="0"/>
          </a:xfrm>
          <a:prstGeom prst="line">
            <a:avLst/>
          </a:prstGeom>
        </p:spPr>
        <p:style>
          <a:lnRef idx="1">
            <a:schemeClr val="accent5"/>
          </a:lnRef>
          <a:fillRef idx="0">
            <a:schemeClr val="accent5"/>
          </a:fillRef>
          <a:effectRef idx="0">
            <a:schemeClr val="accent5"/>
          </a:effectRef>
          <a:fontRef idx="minor">
            <a:schemeClr val="tx1"/>
          </a:fontRef>
        </p:style>
      </p:cxnSp>
      <p:cxnSp>
        <p:nvCxnSpPr>
          <p:cNvPr id="13" name="直接连接符 12"/>
          <p:cNvCxnSpPr/>
          <p:nvPr/>
        </p:nvCxnSpPr>
        <p:spPr>
          <a:xfrm>
            <a:off x="7824470" y="2804795"/>
            <a:ext cx="0" cy="562610"/>
          </a:xfrm>
          <a:prstGeom prst="line">
            <a:avLst/>
          </a:prstGeom>
        </p:spPr>
        <p:style>
          <a:lnRef idx="1">
            <a:schemeClr val="accent5"/>
          </a:lnRef>
          <a:fillRef idx="0">
            <a:schemeClr val="accent5"/>
          </a:fillRef>
          <a:effectRef idx="0">
            <a:schemeClr val="accent5"/>
          </a:effectRef>
          <a:fontRef idx="minor">
            <a:schemeClr val="tx1"/>
          </a:fontRef>
        </p:style>
      </p:cxnSp>
      <p:cxnSp>
        <p:nvCxnSpPr>
          <p:cNvPr id="14" name="直接连接符 13"/>
          <p:cNvCxnSpPr/>
          <p:nvPr/>
        </p:nvCxnSpPr>
        <p:spPr>
          <a:xfrm>
            <a:off x="5541010" y="3367405"/>
            <a:ext cx="2283460" cy="0"/>
          </a:xfrm>
          <a:prstGeom prst="line">
            <a:avLst/>
          </a:prstGeom>
        </p:spPr>
        <p:style>
          <a:lnRef idx="1">
            <a:schemeClr val="accent5"/>
          </a:lnRef>
          <a:fillRef idx="0">
            <a:schemeClr val="accent5"/>
          </a:fillRef>
          <a:effectRef idx="0">
            <a:schemeClr val="accent5"/>
          </a:effectRef>
          <a:fontRef idx="minor">
            <a:schemeClr val="tx1"/>
          </a:fontRef>
        </p:style>
      </p:cxnSp>
      <p:cxnSp>
        <p:nvCxnSpPr>
          <p:cNvPr id="15" name="直接连接符 14"/>
          <p:cNvCxnSpPr/>
          <p:nvPr/>
        </p:nvCxnSpPr>
        <p:spPr>
          <a:xfrm>
            <a:off x="5573395" y="3350895"/>
            <a:ext cx="0" cy="636270"/>
          </a:xfrm>
          <a:prstGeom prst="line">
            <a:avLst/>
          </a:prstGeom>
        </p:spPr>
        <p:style>
          <a:lnRef idx="1">
            <a:schemeClr val="accent5"/>
          </a:lnRef>
          <a:fillRef idx="0">
            <a:schemeClr val="accent5"/>
          </a:fillRef>
          <a:effectRef idx="0">
            <a:schemeClr val="accent5"/>
          </a:effectRef>
          <a:fontRef idx="minor">
            <a:schemeClr val="tx1"/>
          </a:fontRef>
        </p:style>
      </p:cxn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latin typeface="Arial" panose="020B0604020202020204" pitchFamily="34" charset="0"/>
                <a:ea typeface="微软雅黑" charset="-122"/>
                <a:cs typeface="微软雅黑" charset="-122"/>
                <a:sym typeface="Arial" panose="020B0604020202020204" pitchFamily="34" charset="0"/>
              </a:rPr>
              <a:t>从</a:t>
            </a:r>
            <a:r>
              <a:rPr lang="en-US" altLang="zh-CN" sz="2000" dirty="0">
                <a:latin typeface="Arial" panose="020B0604020202020204" pitchFamily="34" charset="0"/>
                <a:ea typeface="微软雅黑" charset="-122"/>
                <a:cs typeface="微软雅黑" charset="-122"/>
                <a:sym typeface="Arial" panose="020B0604020202020204" pitchFamily="34" charset="0"/>
              </a:rPr>
              <a:t>SEM</a:t>
            </a:r>
            <a:r>
              <a:rPr lang="zh-CN" altLang="en-US" sz="2000" dirty="0">
                <a:latin typeface="Arial" panose="020B0604020202020204" pitchFamily="34" charset="0"/>
                <a:ea typeface="微软雅黑" charset="-122"/>
                <a:cs typeface="微软雅黑" charset="-122"/>
                <a:sym typeface="Arial" panose="020B0604020202020204" pitchFamily="34" charset="0"/>
              </a:rPr>
              <a:t>到潜变量模型</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584835" y="969645"/>
            <a:ext cx="4592955" cy="645160"/>
          </a:xfrm>
          <a:prstGeom prst="rect">
            <a:avLst/>
          </a:prstGeom>
          <a:noFill/>
        </p:spPr>
        <p:txBody>
          <a:bodyPr wrap="square" rtlCol="0" anchor="t">
            <a:spAutoFit/>
          </a:bodyPr>
          <a:lstStyle/>
          <a:p>
            <a:r>
              <a:rPr lang="zh-CN" altLang="en-US"/>
              <a:t>量变起质变</a:t>
            </a:r>
          </a:p>
          <a:p>
            <a:r>
              <a:rPr lang="zh-CN" altLang="en-US"/>
              <a:t>但你怎么知道质变到底发生没有？</a:t>
            </a:r>
          </a:p>
        </p:txBody>
      </p:sp>
      <p:pic>
        <p:nvPicPr>
          <p:cNvPr id="2" name="图片 1"/>
          <p:cNvPicPr>
            <a:picLocks noChangeAspect="1"/>
          </p:cNvPicPr>
          <p:nvPr/>
        </p:nvPicPr>
        <p:blipFill>
          <a:blip r:embed="rId4"/>
          <a:stretch>
            <a:fillRect/>
          </a:stretch>
        </p:blipFill>
        <p:spPr>
          <a:xfrm>
            <a:off x="5177790" y="770255"/>
            <a:ext cx="6337300" cy="1943100"/>
          </a:xfrm>
          <a:prstGeom prst="rect">
            <a:avLst/>
          </a:prstGeom>
        </p:spPr>
      </p:pic>
      <p:sp>
        <p:nvSpPr>
          <p:cNvPr id="19" name="文本框 18"/>
          <p:cNvSpPr txBox="1"/>
          <p:nvPr/>
        </p:nvSpPr>
        <p:spPr>
          <a:xfrm>
            <a:off x="585470" y="2247900"/>
            <a:ext cx="5393690" cy="1476375"/>
          </a:xfrm>
          <a:prstGeom prst="rect">
            <a:avLst/>
          </a:prstGeom>
          <a:noFill/>
        </p:spPr>
        <p:txBody>
          <a:bodyPr wrap="square" rtlCol="0" anchor="t">
            <a:spAutoFit/>
          </a:bodyPr>
          <a:lstStyle/>
          <a:p>
            <a:r>
              <a:rPr lang="zh-CN" altLang="en-US"/>
              <a:t>潜在转移分析(LTA)是一种将分类潜变量的横断面测量与变化的纵向描述相结合的统计技术，</a:t>
            </a:r>
          </a:p>
          <a:p>
            <a:r>
              <a:rPr lang="zh-CN" altLang="en-US"/>
              <a:t>包括三个方法论方面:(1)以人为中心的方法;(2)潜在范畴变量的使用;(3)纵向设计</a:t>
            </a:r>
          </a:p>
          <a:p>
            <a:r>
              <a:rPr lang="zh-CN" altLang="en-US"/>
              <a:t>（</a:t>
            </a:r>
            <a:r>
              <a:rPr lang="en-US" altLang="zh-CN"/>
              <a:t>Carow</a:t>
            </a:r>
            <a:r>
              <a:rPr lang="zh-CN" altLang="en-US"/>
              <a:t>，</a:t>
            </a:r>
            <a:r>
              <a:rPr lang="en-US" altLang="zh-CN"/>
              <a:t>2010</a:t>
            </a:r>
            <a:r>
              <a:rPr lang="zh-CN" altLang="en-US"/>
              <a:t>）</a:t>
            </a:r>
          </a:p>
        </p:txBody>
      </p:sp>
      <p:sp>
        <p:nvSpPr>
          <p:cNvPr id="20" name="文本框 19"/>
          <p:cNvSpPr txBox="1"/>
          <p:nvPr/>
        </p:nvSpPr>
        <p:spPr>
          <a:xfrm>
            <a:off x="640080" y="4281170"/>
            <a:ext cx="309880" cy="645160"/>
          </a:xfrm>
          <a:prstGeom prst="rect">
            <a:avLst/>
          </a:prstGeom>
          <a:noFill/>
        </p:spPr>
        <p:txBody>
          <a:bodyPr wrap="none" rtlCol="0">
            <a:spAutoFit/>
          </a:bodyPr>
          <a:lstStyle/>
          <a:p>
            <a:endParaRPr lang="zh-CN" altLang="en-US"/>
          </a:p>
          <a:p>
            <a:endParaRPr lang="zh-CN" altLang="en-US"/>
          </a:p>
        </p:txBody>
      </p:sp>
      <p:sp>
        <p:nvSpPr>
          <p:cNvPr id="4" name="文本框 3"/>
          <p:cNvSpPr txBox="1"/>
          <p:nvPr/>
        </p:nvSpPr>
        <p:spPr>
          <a:xfrm>
            <a:off x="2974975" y="3853815"/>
            <a:ext cx="6241415" cy="2738120"/>
          </a:xfrm>
          <a:prstGeom prst="rect">
            <a:avLst/>
          </a:prstGeom>
          <a:noFill/>
        </p:spPr>
        <p:txBody>
          <a:bodyPr wrap="square" rtlCol="0" anchor="t">
            <a:spAutoFit/>
          </a:bodyPr>
          <a:lstStyle/>
          <a:p>
            <a:pPr algn="ctr"/>
            <a:r>
              <a:rPr lang="zh-CN" altLang="en-US"/>
              <a:t>1</a:t>
            </a:r>
            <a:r>
              <a:rPr lang="en-US" altLang="zh-CN"/>
              <a:t>.</a:t>
            </a:r>
            <a:r>
              <a:rPr lang="zh-CN" altLang="en-US"/>
              <a:t>确定每个时间点的LCA模型</a:t>
            </a:r>
          </a:p>
          <a:p>
            <a:pPr algn="ctr"/>
            <a:endParaRPr lang="zh-CN" altLang="en-US"/>
          </a:p>
          <a:p>
            <a:pPr algn="ctr"/>
            <a:r>
              <a:rPr lang="zh-CN" altLang="en-US"/>
              <a:t>2</a:t>
            </a:r>
            <a:r>
              <a:rPr lang="en-US" altLang="zh-CN"/>
              <a:t>.</a:t>
            </a:r>
            <a:r>
              <a:rPr lang="zh-CN" altLang="en-US"/>
              <a:t>计算横断面潜类别结果</a:t>
            </a:r>
          </a:p>
          <a:p>
            <a:pPr algn="ctr"/>
            <a:r>
              <a:rPr lang="zh-CN" altLang="en-US"/>
              <a:t>modal class assignment (mcaPk)。</a:t>
            </a:r>
          </a:p>
          <a:p>
            <a:pPr algn="ctr"/>
            <a:endParaRPr lang="zh-CN" altLang="en-US"/>
          </a:p>
          <a:p>
            <a:pPr algn="ctr"/>
            <a:r>
              <a:rPr lang="en-US" altLang="zh-CN"/>
              <a:t>3.</a:t>
            </a:r>
            <a:r>
              <a:rPr lang="zh-CN" altLang="en-US"/>
              <a:t>自回归计算转换概率</a:t>
            </a:r>
          </a:p>
          <a:p>
            <a:pPr algn="ctr"/>
            <a:endParaRPr lang="zh-CN" altLang="en-US"/>
          </a:p>
          <a:p>
            <a:pPr algn="ctr"/>
            <a:r>
              <a:rPr lang="zh-CN" altLang="en-US"/>
              <a:t>4</a:t>
            </a:r>
            <a:r>
              <a:rPr lang="en-US" altLang="zh-CN"/>
              <a:t>.</a:t>
            </a:r>
            <a:r>
              <a:rPr lang="zh-CN" altLang="en-US"/>
              <a:t>在模型中加协变量、远端结果变量等</a:t>
            </a:r>
          </a:p>
          <a:p>
            <a:endParaRPr lang="zh-CN" altLang="en-US" sz="1400"/>
          </a:p>
          <a:p>
            <a:endParaRPr lang="zh-CN" altLang="en-US" sz="1400"/>
          </a:p>
        </p:txBody>
      </p:sp>
      <p:sp>
        <p:nvSpPr>
          <p:cNvPr id="5" name="文本框 4"/>
          <p:cNvSpPr txBox="1"/>
          <p:nvPr/>
        </p:nvSpPr>
        <p:spPr>
          <a:xfrm>
            <a:off x="7890510" y="2713355"/>
            <a:ext cx="1325880" cy="368300"/>
          </a:xfrm>
          <a:prstGeom prst="rect">
            <a:avLst/>
          </a:prstGeom>
          <a:noFill/>
        </p:spPr>
        <p:txBody>
          <a:bodyPr wrap="none" rtlCol="0">
            <a:spAutoFit/>
          </a:bodyPr>
          <a:lstStyle/>
          <a:p>
            <a:r>
              <a:rPr lang="zh-CN" altLang="en-US"/>
              <a:t>亚组稳定性</a:t>
            </a:r>
          </a:p>
        </p:txBody>
      </p:sp>
      <p:sp>
        <p:nvSpPr>
          <p:cNvPr id="7" name="文本框 6"/>
          <p:cNvSpPr txBox="1"/>
          <p:nvPr/>
        </p:nvSpPr>
        <p:spPr>
          <a:xfrm>
            <a:off x="8004810" y="541020"/>
            <a:ext cx="1097280" cy="368300"/>
          </a:xfrm>
          <a:prstGeom prst="rect">
            <a:avLst/>
          </a:prstGeom>
          <a:noFill/>
        </p:spPr>
        <p:txBody>
          <a:bodyPr wrap="none" rtlCol="0">
            <a:spAutoFit/>
          </a:bodyPr>
          <a:lstStyle/>
          <a:p>
            <a:r>
              <a:rPr lang="zh-CN" altLang="en-US"/>
              <a:t>转换概率</a:t>
            </a: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latin typeface="Arial" panose="020B0604020202020204" pitchFamily="34" charset="0"/>
                <a:ea typeface="微软雅黑" charset="-122"/>
                <a:cs typeface="微软雅黑" charset="-122"/>
                <a:sym typeface="Arial" panose="020B0604020202020204" pitchFamily="34" charset="0"/>
              </a:rPr>
              <a:t>纵向潜变量模型</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p:nvPicPr>
        <p:blipFill>
          <a:blip r:embed="rId4"/>
          <a:stretch>
            <a:fillRect/>
          </a:stretch>
        </p:blipFill>
        <p:spPr>
          <a:xfrm>
            <a:off x="1899920" y="907415"/>
            <a:ext cx="8391525" cy="3319145"/>
          </a:xfrm>
          <a:prstGeom prst="rect">
            <a:avLst/>
          </a:prstGeom>
          <a:noFill/>
          <a:ln>
            <a:noFill/>
          </a:ln>
        </p:spPr>
      </p:pic>
      <p:sp>
        <p:nvSpPr>
          <p:cNvPr id="2" name="矩形 1"/>
          <p:cNvSpPr/>
          <p:nvPr/>
        </p:nvSpPr>
        <p:spPr>
          <a:xfrm>
            <a:off x="5524500" y="2771775"/>
            <a:ext cx="2038985" cy="505460"/>
          </a:xfrm>
          <a:prstGeom prst="rect">
            <a:avLst/>
          </a:prstGeom>
          <a:noFill/>
          <a:ln>
            <a:solidFill>
              <a:schemeClr val="accent3"/>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3755390" y="2739390"/>
            <a:ext cx="1687830" cy="913130"/>
          </a:xfrm>
          <a:prstGeom prst="rect">
            <a:avLst/>
          </a:prstGeom>
          <a:noFill/>
          <a:ln>
            <a:solidFill>
              <a:srgbClr val="FFC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5573395" y="3987165"/>
            <a:ext cx="3947160" cy="0"/>
          </a:xfrm>
          <a:prstGeom prst="line">
            <a:avLst/>
          </a:prstGeom>
        </p:spPr>
        <p:style>
          <a:lnRef idx="1">
            <a:schemeClr val="accent5"/>
          </a:lnRef>
          <a:fillRef idx="0">
            <a:schemeClr val="accent5"/>
          </a:fillRef>
          <a:effectRef idx="0">
            <a:schemeClr val="accent5"/>
          </a:effectRef>
          <a:fontRef idx="minor">
            <a:schemeClr val="tx1"/>
          </a:fontRef>
        </p:style>
      </p:cxnSp>
      <p:cxnSp>
        <p:nvCxnSpPr>
          <p:cNvPr id="11" name="直接连接符 10"/>
          <p:cNvCxnSpPr/>
          <p:nvPr/>
        </p:nvCxnSpPr>
        <p:spPr>
          <a:xfrm>
            <a:off x="9488170" y="2804795"/>
            <a:ext cx="0" cy="1174115"/>
          </a:xfrm>
          <a:prstGeom prst="line">
            <a:avLst/>
          </a:prstGeom>
        </p:spPr>
        <p:style>
          <a:lnRef idx="1">
            <a:schemeClr val="accent5"/>
          </a:lnRef>
          <a:fillRef idx="0">
            <a:schemeClr val="accent5"/>
          </a:fillRef>
          <a:effectRef idx="0">
            <a:schemeClr val="accent5"/>
          </a:effectRef>
          <a:fontRef idx="minor">
            <a:schemeClr val="tx1"/>
          </a:fontRef>
        </p:style>
      </p:cxnSp>
      <p:cxnSp>
        <p:nvCxnSpPr>
          <p:cNvPr id="12" name="直接连接符 11"/>
          <p:cNvCxnSpPr/>
          <p:nvPr/>
        </p:nvCxnSpPr>
        <p:spPr>
          <a:xfrm>
            <a:off x="7824470" y="2804795"/>
            <a:ext cx="1679575" cy="0"/>
          </a:xfrm>
          <a:prstGeom prst="line">
            <a:avLst/>
          </a:prstGeom>
        </p:spPr>
        <p:style>
          <a:lnRef idx="1">
            <a:schemeClr val="accent5"/>
          </a:lnRef>
          <a:fillRef idx="0">
            <a:schemeClr val="accent5"/>
          </a:fillRef>
          <a:effectRef idx="0">
            <a:schemeClr val="accent5"/>
          </a:effectRef>
          <a:fontRef idx="minor">
            <a:schemeClr val="tx1"/>
          </a:fontRef>
        </p:style>
      </p:cxnSp>
      <p:cxnSp>
        <p:nvCxnSpPr>
          <p:cNvPr id="13" name="直接连接符 12"/>
          <p:cNvCxnSpPr/>
          <p:nvPr/>
        </p:nvCxnSpPr>
        <p:spPr>
          <a:xfrm>
            <a:off x="7824470" y="2804795"/>
            <a:ext cx="0" cy="562610"/>
          </a:xfrm>
          <a:prstGeom prst="line">
            <a:avLst/>
          </a:prstGeom>
        </p:spPr>
        <p:style>
          <a:lnRef idx="1">
            <a:schemeClr val="accent5"/>
          </a:lnRef>
          <a:fillRef idx="0">
            <a:schemeClr val="accent5"/>
          </a:fillRef>
          <a:effectRef idx="0">
            <a:schemeClr val="accent5"/>
          </a:effectRef>
          <a:fontRef idx="minor">
            <a:schemeClr val="tx1"/>
          </a:fontRef>
        </p:style>
      </p:cxnSp>
      <p:cxnSp>
        <p:nvCxnSpPr>
          <p:cNvPr id="14" name="直接连接符 13"/>
          <p:cNvCxnSpPr/>
          <p:nvPr/>
        </p:nvCxnSpPr>
        <p:spPr>
          <a:xfrm>
            <a:off x="5541010" y="3367405"/>
            <a:ext cx="2283460" cy="0"/>
          </a:xfrm>
          <a:prstGeom prst="line">
            <a:avLst/>
          </a:prstGeom>
        </p:spPr>
        <p:style>
          <a:lnRef idx="1">
            <a:schemeClr val="accent5"/>
          </a:lnRef>
          <a:fillRef idx="0">
            <a:schemeClr val="accent5"/>
          </a:fillRef>
          <a:effectRef idx="0">
            <a:schemeClr val="accent5"/>
          </a:effectRef>
          <a:fontRef idx="minor">
            <a:schemeClr val="tx1"/>
          </a:fontRef>
        </p:style>
      </p:cxnSp>
      <p:cxnSp>
        <p:nvCxnSpPr>
          <p:cNvPr id="15" name="直接连接符 14"/>
          <p:cNvCxnSpPr/>
          <p:nvPr/>
        </p:nvCxnSpPr>
        <p:spPr>
          <a:xfrm>
            <a:off x="5573395" y="3350895"/>
            <a:ext cx="0" cy="636270"/>
          </a:xfrm>
          <a:prstGeom prst="line">
            <a:avLst/>
          </a:prstGeom>
        </p:spPr>
        <p:style>
          <a:lnRef idx="1">
            <a:schemeClr val="accent5"/>
          </a:lnRef>
          <a:fillRef idx="0">
            <a:schemeClr val="accent5"/>
          </a:fillRef>
          <a:effectRef idx="0">
            <a:schemeClr val="accent5"/>
          </a:effectRef>
          <a:fontRef idx="minor">
            <a:schemeClr val="tx1"/>
          </a:fontRef>
        </p:style>
      </p:cxn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latin typeface="Arial" panose="020B0604020202020204" pitchFamily="34" charset="0"/>
                <a:ea typeface="微软雅黑" charset="-122"/>
                <a:cs typeface="微软雅黑" charset="-122"/>
                <a:sym typeface="Arial" panose="020B0604020202020204" pitchFamily="34" charset="0"/>
              </a:rPr>
              <a:t>纵向潜变量模型</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729615" y="1083945"/>
            <a:ext cx="5377180" cy="829945"/>
          </a:xfrm>
          <a:prstGeom prst="rect">
            <a:avLst/>
          </a:prstGeom>
          <a:noFill/>
        </p:spPr>
        <p:txBody>
          <a:bodyPr wrap="none" rtlCol="0">
            <a:spAutoFit/>
          </a:bodyPr>
          <a:lstStyle/>
          <a:p>
            <a:r>
              <a:rPr lang="zh-CN" altLang="en-US"/>
              <a:t>潜增长曲线模型们（Latent Growth Curve Models）</a:t>
            </a:r>
          </a:p>
          <a:p>
            <a:endParaRPr lang="zh-CN" altLang="en-US"/>
          </a:p>
          <a:p>
            <a:r>
              <a:rPr lang="zh-CN" altLang="en-US" sz="1200" i="1"/>
              <a:t>多水平模型和随机系数模型</a:t>
            </a:r>
          </a:p>
        </p:txBody>
      </p:sp>
      <p:pic>
        <p:nvPicPr>
          <p:cNvPr id="9" name="图片 8"/>
          <p:cNvPicPr>
            <a:picLocks noChangeAspect="1"/>
          </p:cNvPicPr>
          <p:nvPr/>
        </p:nvPicPr>
        <p:blipFill>
          <a:blip r:embed="rId4"/>
          <a:stretch>
            <a:fillRect/>
          </a:stretch>
        </p:blipFill>
        <p:spPr>
          <a:xfrm>
            <a:off x="729615" y="2227580"/>
            <a:ext cx="3557905" cy="3329940"/>
          </a:xfrm>
          <a:prstGeom prst="rect">
            <a:avLst/>
          </a:prstGeom>
        </p:spPr>
      </p:pic>
      <p:sp>
        <p:nvSpPr>
          <p:cNvPr id="100" name="文本框 99"/>
          <p:cNvSpPr txBox="1"/>
          <p:nvPr/>
        </p:nvSpPr>
        <p:spPr>
          <a:xfrm>
            <a:off x="5521325" y="1511300"/>
            <a:ext cx="6026150" cy="2030095"/>
          </a:xfrm>
          <a:prstGeom prst="rect">
            <a:avLst/>
          </a:prstGeom>
          <a:noFill/>
          <a:ln w="9525">
            <a:noFill/>
          </a:ln>
        </p:spPr>
        <p:txBody>
          <a:bodyPr wrap="square">
            <a:spAutoFit/>
          </a:bodyPr>
          <a:lstStyle/>
          <a:p>
            <a:pPr indent="0"/>
            <a:r>
              <a:rPr lang="zh-CN" b="0">
                <a:latin typeface="Calibri" charset="0"/>
                <a:cs typeface="宋体" charset="0"/>
              </a:rPr>
              <a:t>个体的变化</a:t>
            </a:r>
            <a:r>
              <a:rPr lang="en-US" altLang="zh-CN" b="0">
                <a:latin typeface="Calibri" charset="0"/>
                <a:cs typeface="宋体" charset="0"/>
              </a:rPr>
              <a:t> →</a:t>
            </a:r>
            <a:r>
              <a:rPr lang="zh-CN">
                <a:latin typeface="Calibri" charset="0"/>
                <a:cs typeface="宋体" charset="0"/>
                <a:sym typeface="+mn-ea"/>
              </a:rPr>
              <a:t>变量是如何随时间变化的</a:t>
            </a:r>
          </a:p>
          <a:p>
            <a:pPr indent="0"/>
            <a:endParaRPr lang="zh-CN" b="0">
              <a:latin typeface="Calibri" charset="0"/>
              <a:cs typeface="宋体" charset="0"/>
              <a:sym typeface="+mn-ea"/>
            </a:endParaRPr>
          </a:p>
          <a:p>
            <a:pPr indent="0"/>
            <a:r>
              <a:rPr lang="zh-CN" b="0">
                <a:latin typeface="Calibri" charset="0"/>
                <a:cs typeface="宋体" charset="0"/>
              </a:rPr>
              <a:t>个体变化在个体间的差异</a:t>
            </a:r>
            <a:r>
              <a:rPr lang="en-US" altLang="zh-CN" b="0">
                <a:latin typeface="Calibri" charset="0"/>
                <a:cs typeface="宋体" charset="0"/>
              </a:rPr>
              <a:t>→</a:t>
            </a:r>
            <a:r>
              <a:rPr lang="zh-CN">
                <a:latin typeface="Calibri" charset="0"/>
                <a:cs typeface="宋体" charset="0"/>
                <a:sym typeface="+mn-ea"/>
              </a:rPr>
              <a:t>这种变化在个体间是否有差异</a:t>
            </a:r>
            <a:endParaRPr lang="zh-CN" altLang="en-US" b="0">
              <a:latin typeface="Calibri" charset="0"/>
              <a:cs typeface="宋体" charset="0"/>
            </a:endParaRPr>
          </a:p>
          <a:p>
            <a:pPr indent="0"/>
            <a:endParaRPr lang="en-US" b="0">
              <a:latin typeface="Calibri" charset="0"/>
              <a:cs typeface="宋体" charset="0"/>
            </a:endParaRPr>
          </a:p>
          <a:p>
            <a:pPr indent="0"/>
            <a:r>
              <a:rPr lang="en-US" b="0" i="1">
                <a:latin typeface="Calibri" charset="0"/>
                <a:cs typeface="宋体" charset="0"/>
              </a:rPr>
              <a:t>哪些变量可以影响个体的变化 </a:t>
            </a:r>
            <a:endParaRPr lang="zh-CN" b="0">
              <a:latin typeface="Calibri" charset="0"/>
              <a:cs typeface="宋体" charset="0"/>
            </a:endParaRPr>
          </a:p>
          <a:p>
            <a:pPr indent="0"/>
            <a:endParaRPr lang="zh-CN" b="0">
              <a:latin typeface="Calibri" charset="0"/>
              <a:cs typeface="宋体" charset="0"/>
            </a:endParaRPr>
          </a:p>
          <a:p>
            <a:endParaRPr lang="zh-CN" altLang="en-US" b="0">
              <a:latin typeface="Calibri" charset="0"/>
              <a:cs typeface="宋体" charset="0"/>
            </a:endParaRPr>
          </a:p>
        </p:txBody>
      </p:sp>
      <p:pic>
        <p:nvPicPr>
          <p:cNvPr id="36" name="图片 33"/>
          <p:cNvPicPr>
            <a:picLocks noChangeAspect="1"/>
          </p:cNvPicPr>
          <p:nvPr/>
        </p:nvPicPr>
        <p:blipFill>
          <a:blip r:embed="rId5"/>
          <a:stretch>
            <a:fillRect/>
          </a:stretch>
        </p:blipFill>
        <p:spPr>
          <a:xfrm>
            <a:off x="4384040" y="3136265"/>
            <a:ext cx="2992120" cy="829310"/>
          </a:xfrm>
          <a:prstGeom prst="rect">
            <a:avLst/>
          </a:prstGeom>
          <a:noFill/>
          <a:ln>
            <a:noFill/>
          </a:ln>
        </p:spPr>
      </p:pic>
      <p:sp>
        <p:nvSpPr>
          <p:cNvPr id="10" name="文本框 9"/>
          <p:cNvSpPr txBox="1"/>
          <p:nvPr/>
        </p:nvSpPr>
        <p:spPr>
          <a:xfrm>
            <a:off x="4730750" y="4120515"/>
            <a:ext cx="2444115" cy="953135"/>
          </a:xfrm>
          <a:prstGeom prst="rect">
            <a:avLst/>
          </a:prstGeom>
          <a:noFill/>
          <a:ln w="9525">
            <a:noFill/>
          </a:ln>
        </p:spPr>
        <p:txBody>
          <a:bodyPr wrap="square">
            <a:spAutoFit/>
          </a:bodyPr>
          <a:lstStyle/>
          <a:p>
            <a:pPr marL="0" indent="0" algn="l"/>
            <a:r>
              <a:rPr lang="zh-CN" sz="1400" b="0">
                <a:latin typeface="微软雅黑" charset="0"/>
                <a:ea typeface="微软雅黑" charset="0"/>
                <a:cs typeface="微软雅黑" charset="0"/>
              </a:rPr>
              <a:t>α个体初始水平的潜分数</a:t>
            </a:r>
          </a:p>
          <a:p>
            <a:pPr marL="0" indent="0" algn="l"/>
            <a:r>
              <a:rPr lang="zh-CN" sz="1400" b="0">
                <a:latin typeface="微软雅黑" charset="0"/>
                <a:ea typeface="微软雅黑" charset="0"/>
                <a:cs typeface="微软雅黑" charset="0"/>
              </a:rPr>
              <a:t>β个体随时间变化的潜速率</a:t>
            </a:r>
          </a:p>
          <a:p>
            <a:pPr marL="0" indent="0" algn="l"/>
            <a:r>
              <a:rPr lang="zh-CN" sz="1400" b="0">
                <a:latin typeface="微软雅黑" charset="0"/>
                <a:ea typeface="微软雅黑" charset="0"/>
                <a:cs typeface="微软雅黑" charset="0"/>
              </a:rPr>
              <a:t>λ在</a:t>
            </a:r>
            <a:r>
              <a:rPr lang="en-US" sz="1400" b="0">
                <a:latin typeface="微软雅黑" charset="0"/>
                <a:ea typeface="微软雅黑" charset="0"/>
                <a:cs typeface="微软雅黑" charset="0"/>
              </a:rPr>
              <a:t>t</a:t>
            </a:r>
            <a:r>
              <a:rPr lang="zh-CN" sz="1400" b="0">
                <a:latin typeface="微软雅黑" charset="0"/>
                <a:ea typeface="微软雅黑" charset="0"/>
                <a:cs typeface="微软雅黑" charset="0"/>
              </a:rPr>
              <a:t>时间的得分</a:t>
            </a:r>
            <a:endParaRPr lang="en-US" sz="1400" b="0">
              <a:latin typeface="微软雅黑" charset="0"/>
              <a:ea typeface="微软雅黑" charset="0"/>
              <a:cs typeface="微软雅黑" charset="0"/>
            </a:endParaRPr>
          </a:p>
          <a:p>
            <a:pPr marL="0" indent="0" algn="l"/>
            <a:r>
              <a:rPr lang="en-US" sz="1400" b="0">
                <a:latin typeface="微软雅黑" charset="0"/>
                <a:ea typeface="微软雅黑" charset="0"/>
                <a:cs typeface="微软雅黑" charset="0"/>
              </a:rPr>
              <a:t>ε</a:t>
            </a:r>
            <a:r>
              <a:rPr lang="zh-CN" sz="1400" b="0">
                <a:latin typeface="微软雅黑" charset="0"/>
                <a:ea typeface="微软雅黑" charset="0"/>
                <a:cs typeface="微软雅黑" charset="0"/>
              </a:rPr>
              <a:t>是测量误差</a:t>
            </a:r>
            <a:endParaRPr lang="zh-CN" altLang="en-US" sz="1400" b="0">
              <a:latin typeface="微软雅黑" charset="0"/>
              <a:ea typeface="微软雅黑" charset="0"/>
              <a:cs typeface="微软雅黑" charset="0"/>
            </a:endParaRPr>
          </a:p>
        </p:txBody>
      </p:sp>
      <p:pic>
        <p:nvPicPr>
          <p:cNvPr id="37" name="图片 34"/>
          <p:cNvPicPr>
            <a:picLocks noChangeAspect="1"/>
          </p:cNvPicPr>
          <p:nvPr/>
        </p:nvPicPr>
        <p:blipFill>
          <a:blip r:embed="rId6"/>
          <a:srcRect t="-3213" b="3213"/>
          <a:stretch>
            <a:fillRect/>
          </a:stretch>
        </p:blipFill>
        <p:spPr>
          <a:xfrm>
            <a:off x="7958455" y="3349625"/>
            <a:ext cx="1855470" cy="770890"/>
          </a:xfrm>
          <a:prstGeom prst="rect">
            <a:avLst/>
          </a:prstGeom>
          <a:noFill/>
          <a:ln>
            <a:noFill/>
          </a:ln>
        </p:spPr>
      </p:pic>
      <p:pic>
        <p:nvPicPr>
          <p:cNvPr id="38" name="图片 35"/>
          <p:cNvPicPr>
            <a:picLocks noChangeAspect="1"/>
          </p:cNvPicPr>
          <p:nvPr/>
        </p:nvPicPr>
        <p:blipFill>
          <a:blip r:embed="rId7"/>
          <a:stretch>
            <a:fillRect/>
          </a:stretch>
        </p:blipFill>
        <p:spPr>
          <a:xfrm>
            <a:off x="5521325" y="5744845"/>
            <a:ext cx="4769485" cy="611505"/>
          </a:xfrm>
          <a:prstGeom prst="rect">
            <a:avLst/>
          </a:prstGeom>
          <a:noFill/>
          <a:ln>
            <a:noFill/>
          </a:ln>
        </p:spPr>
      </p:pic>
      <p:sp>
        <p:nvSpPr>
          <p:cNvPr id="17" name="文本框 16"/>
          <p:cNvSpPr txBox="1"/>
          <p:nvPr/>
        </p:nvSpPr>
        <p:spPr>
          <a:xfrm>
            <a:off x="8373745" y="4171315"/>
            <a:ext cx="2444115" cy="737235"/>
          </a:xfrm>
          <a:prstGeom prst="rect">
            <a:avLst/>
          </a:prstGeom>
          <a:noFill/>
          <a:ln w="9525">
            <a:noFill/>
          </a:ln>
        </p:spPr>
        <p:txBody>
          <a:bodyPr wrap="square">
            <a:spAutoFit/>
          </a:bodyPr>
          <a:lstStyle/>
          <a:p>
            <a:pPr marL="0" indent="0" algn="l"/>
            <a:r>
              <a:rPr lang="zh-CN" sz="1400" b="0">
                <a:latin typeface="微软雅黑" charset="0"/>
                <a:ea typeface="微软雅黑" charset="0"/>
                <a:cs typeface="微软雅黑" charset="0"/>
              </a:rPr>
              <a:t>μ对应系数的均值</a:t>
            </a:r>
          </a:p>
          <a:p>
            <a:pPr marL="0" indent="0" algn="l"/>
            <a:r>
              <a:rPr lang="zh-CN" sz="1400" b="0">
                <a:latin typeface="微软雅黑" charset="0"/>
                <a:ea typeface="微软雅黑" charset="0"/>
                <a:cs typeface="微软雅黑" charset="0"/>
              </a:rPr>
              <a:t>ξ对应系数的变异</a:t>
            </a:r>
          </a:p>
          <a:p>
            <a:endParaRPr lang="zh-CN" altLang="en-US" sz="1400" b="0">
              <a:latin typeface="微软雅黑" charset="0"/>
              <a:ea typeface="微软雅黑" charset="0"/>
              <a:cs typeface="微软雅黑" charset="0"/>
            </a:endParaRPr>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latin typeface="Arial" panose="020B0604020202020204" pitchFamily="34" charset="0"/>
                <a:ea typeface="微软雅黑" charset="-122"/>
                <a:cs typeface="微软雅黑" charset="-122"/>
                <a:sym typeface="Arial" panose="020B0604020202020204" pitchFamily="34" charset="0"/>
              </a:rPr>
              <a:t>纵向潜变量模型</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39" name="图片 36"/>
          <p:cNvPicPr>
            <a:picLocks noChangeAspect="1"/>
          </p:cNvPicPr>
          <p:nvPr/>
        </p:nvPicPr>
        <p:blipFill>
          <a:blip r:embed="rId4"/>
          <a:stretch>
            <a:fillRect/>
          </a:stretch>
        </p:blipFill>
        <p:spPr>
          <a:xfrm>
            <a:off x="3561080" y="1527810"/>
            <a:ext cx="5069840" cy="4025900"/>
          </a:xfrm>
          <a:prstGeom prst="rect">
            <a:avLst/>
          </a:prstGeom>
          <a:noFill/>
          <a:ln>
            <a:noFill/>
          </a:ln>
        </p:spPr>
      </p:pic>
      <p:sp>
        <p:nvSpPr>
          <p:cNvPr id="2" name="文本框 1"/>
          <p:cNvSpPr txBox="1"/>
          <p:nvPr/>
        </p:nvSpPr>
        <p:spPr>
          <a:xfrm>
            <a:off x="3808730" y="848360"/>
            <a:ext cx="5080000" cy="368300"/>
          </a:xfrm>
          <a:prstGeom prst="rect">
            <a:avLst/>
          </a:prstGeom>
          <a:noFill/>
          <a:ln w="9525">
            <a:noFill/>
          </a:ln>
        </p:spPr>
        <p:txBody>
          <a:bodyPr>
            <a:spAutoFit/>
          </a:bodyPr>
          <a:lstStyle/>
          <a:p>
            <a:pPr marL="0" indent="0" algn="ctr"/>
            <a:r>
              <a:rPr lang="zh-CN" b="0">
                <a:latin typeface="微软雅黑" charset="0"/>
                <a:ea typeface="微软雅黑" charset="0"/>
                <a:cs typeface="微软雅黑" charset="0"/>
              </a:rPr>
              <a:t>不包含解释变量的</a:t>
            </a:r>
            <a:r>
              <a:rPr lang="en-US" b="0">
                <a:latin typeface="微软雅黑" charset="0"/>
                <a:ea typeface="微软雅黑" charset="0"/>
                <a:cs typeface="微软雅黑" charset="0"/>
              </a:rPr>
              <a:t>LGCM</a:t>
            </a:r>
            <a:endParaRPr lang="en-US" altLang="en-US" b="0">
              <a:latin typeface="微软雅黑" charset="0"/>
              <a:ea typeface="微软雅黑" charset="0"/>
              <a:cs typeface="微软雅黑" charset="0"/>
            </a:endParaRPr>
          </a:p>
        </p:txBody>
      </p:sp>
      <p:pic>
        <p:nvPicPr>
          <p:cNvPr id="3" name="图片 34"/>
          <p:cNvPicPr>
            <a:picLocks noChangeAspect="1"/>
          </p:cNvPicPr>
          <p:nvPr/>
        </p:nvPicPr>
        <p:blipFill>
          <a:blip r:embed="rId5"/>
          <a:srcRect t="-3213" b="3213"/>
          <a:stretch>
            <a:fillRect/>
          </a:stretch>
        </p:blipFill>
        <p:spPr>
          <a:xfrm>
            <a:off x="354330" y="1441450"/>
            <a:ext cx="1855470" cy="770890"/>
          </a:xfrm>
          <a:prstGeom prst="rect">
            <a:avLst/>
          </a:prstGeom>
          <a:noFill/>
          <a:ln>
            <a:noFill/>
          </a:ln>
        </p:spPr>
      </p:pic>
      <p:sp>
        <p:nvSpPr>
          <p:cNvPr id="4" name="文本框 3"/>
          <p:cNvSpPr txBox="1"/>
          <p:nvPr/>
        </p:nvSpPr>
        <p:spPr>
          <a:xfrm>
            <a:off x="798195" y="2482850"/>
            <a:ext cx="2444115" cy="737235"/>
          </a:xfrm>
          <a:prstGeom prst="rect">
            <a:avLst/>
          </a:prstGeom>
          <a:noFill/>
          <a:ln w="9525">
            <a:noFill/>
          </a:ln>
        </p:spPr>
        <p:txBody>
          <a:bodyPr wrap="square">
            <a:spAutoFit/>
          </a:bodyPr>
          <a:lstStyle/>
          <a:p>
            <a:pPr marL="0" indent="0" algn="l"/>
            <a:r>
              <a:rPr lang="zh-CN" sz="1400" b="0">
                <a:latin typeface="微软雅黑" charset="0"/>
                <a:ea typeface="微软雅黑" charset="0"/>
                <a:cs typeface="微软雅黑" charset="0"/>
              </a:rPr>
              <a:t>μ对应系数的均值</a:t>
            </a:r>
          </a:p>
          <a:p>
            <a:pPr marL="0" indent="0" algn="l"/>
            <a:r>
              <a:rPr lang="zh-CN" sz="1400" b="0">
                <a:latin typeface="微软雅黑" charset="0"/>
                <a:ea typeface="微软雅黑" charset="0"/>
                <a:cs typeface="微软雅黑" charset="0"/>
              </a:rPr>
              <a:t>ξ对应系数的变异</a:t>
            </a:r>
          </a:p>
          <a:p>
            <a:endParaRPr lang="zh-CN" altLang="en-US" sz="1400" b="0">
              <a:latin typeface="微软雅黑" charset="0"/>
              <a:ea typeface="微软雅黑" charset="0"/>
              <a:cs typeface="微软雅黑" charset="0"/>
            </a:endParaRPr>
          </a:p>
        </p:txBody>
      </p:sp>
      <p:pic>
        <p:nvPicPr>
          <p:cNvPr id="5" name="图片 33"/>
          <p:cNvPicPr>
            <a:picLocks noChangeAspect="1"/>
          </p:cNvPicPr>
          <p:nvPr/>
        </p:nvPicPr>
        <p:blipFill>
          <a:blip r:embed="rId6"/>
          <a:stretch>
            <a:fillRect/>
          </a:stretch>
        </p:blipFill>
        <p:spPr>
          <a:xfrm>
            <a:off x="354330" y="3490595"/>
            <a:ext cx="2992120" cy="829310"/>
          </a:xfrm>
          <a:prstGeom prst="rect">
            <a:avLst/>
          </a:prstGeom>
          <a:noFill/>
          <a:ln>
            <a:noFill/>
          </a:ln>
        </p:spPr>
      </p:pic>
      <p:sp>
        <p:nvSpPr>
          <p:cNvPr id="8" name="文本框 7"/>
          <p:cNvSpPr txBox="1"/>
          <p:nvPr/>
        </p:nvSpPr>
        <p:spPr>
          <a:xfrm>
            <a:off x="798195" y="4598670"/>
            <a:ext cx="2444115" cy="953135"/>
          </a:xfrm>
          <a:prstGeom prst="rect">
            <a:avLst/>
          </a:prstGeom>
          <a:noFill/>
          <a:ln w="9525">
            <a:noFill/>
          </a:ln>
        </p:spPr>
        <p:txBody>
          <a:bodyPr wrap="square">
            <a:spAutoFit/>
          </a:bodyPr>
          <a:lstStyle/>
          <a:p>
            <a:pPr marL="0" indent="0" algn="l"/>
            <a:r>
              <a:rPr lang="zh-CN" sz="1400" b="0">
                <a:latin typeface="微软雅黑" charset="0"/>
                <a:ea typeface="微软雅黑" charset="0"/>
                <a:cs typeface="微软雅黑" charset="0"/>
              </a:rPr>
              <a:t>α个体初始水平的潜分数</a:t>
            </a:r>
          </a:p>
          <a:p>
            <a:pPr marL="0" indent="0" algn="l"/>
            <a:r>
              <a:rPr lang="zh-CN" sz="1400" b="0">
                <a:latin typeface="微软雅黑" charset="0"/>
                <a:ea typeface="微软雅黑" charset="0"/>
                <a:cs typeface="微软雅黑" charset="0"/>
              </a:rPr>
              <a:t>β个体随时间变化的潜速率</a:t>
            </a:r>
          </a:p>
          <a:p>
            <a:pPr marL="0" indent="0" algn="l"/>
            <a:r>
              <a:rPr lang="zh-CN" sz="1400" b="0">
                <a:latin typeface="微软雅黑" charset="0"/>
                <a:ea typeface="微软雅黑" charset="0"/>
                <a:cs typeface="微软雅黑" charset="0"/>
              </a:rPr>
              <a:t>λ在</a:t>
            </a:r>
            <a:r>
              <a:rPr lang="en-US" sz="1400" b="0">
                <a:latin typeface="微软雅黑" charset="0"/>
                <a:ea typeface="微软雅黑" charset="0"/>
                <a:cs typeface="微软雅黑" charset="0"/>
              </a:rPr>
              <a:t>t</a:t>
            </a:r>
            <a:r>
              <a:rPr lang="zh-CN" sz="1400" b="0">
                <a:latin typeface="微软雅黑" charset="0"/>
                <a:ea typeface="微软雅黑" charset="0"/>
                <a:cs typeface="微软雅黑" charset="0"/>
              </a:rPr>
              <a:t>时间的得分</a:t>
            </a:r>
            <a:endParaRPr lang="en-US" sz="1400" b="0">
              <a:latin typeface="微软雅黑" charset="0"/>
              <a:ea typeface="微软雅黑" charset="0"/>
              <a:cs typeface="微软雅黑" charset="0"/>
            </a:endParaRPr>
          </a:p>
          <a:p>
            <a:pPr marL="0" indent="0" algn="l"/>
            <a:r>
              <a:rPr lang="en-US" sz="1400" b="0">
                <a:latin typeface="微软雅黑" charset="0"/>
                <a:ea typeface="微软雅黑" charset="0"/>
                <a:cs typeface="微软雅黑" charset="0"/>
              </a:rPr>
              <a:t>ε</a:t>
            </a:r>
            <a:r>
              <a:rPr lang="zh-CN" sz="1400" b="0">
                <a:latin typeface="微软雅黑" charset="0"/>
                <a:ea typeface="微软雅黑" charset="0"/>
                <a:cs typeface="微软雅黑" charset="0"/>
              </a:rPr>
              <a:t>是测量误差</a:t>
            </a:r>
            <a:endParaRPr lang="zh-CN" altLang="en-US" sz="1400" b="0">
              <a:latin typeface="微软雅黑" charset="0"/>
              <a:ea typeface="微软雅黑" charset="0"/>
              <a:cs typeface="微软雅黑" charset="0"/>
            </a:endParaRPr>
          </a:p>
        </p:txBody>
      </p:sp>
      <p:pic>
        <p:nvPicPr>
          <p:cNvPr id="52" name="图片 41"/>
          <p:cNvPicPr>
            <a:picLocks noChangeAspect="1"/>
          </p:cNvPicPr>
          <p:nvPr/>
        </p:nvPicPr>
        <p:blipFill>
          <a:blip r:embed="rId7"/>
          <a:stretch>
            <a:fillRect/>
          </a:stretch>
        </p:blipFill>
        <p:spPr>
          <a:xfrm>
            <a:off x="3700145" y="1216660"/>
            <a:ext cx="7357745" cy="5018405"/>
          </a:xfrm>
          <a:prstGeom prst="rect">
            <a:avLst/>
          </a:prstGeom>
          <a:noFill/>
          <a:ln>
            <a:noFill/>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box(in)">
                                      <p:cBhvr>
                                        <p:cTn id="7" dur="20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图片 36"/>
          <p:cNvPicPr>
            <a:picLocks noChangeAspect="1"/>
          </p:cNvPicPr>
          <p:nvPr/>
        </p:nvPicPr>
        <p:blipFill>
          <a:blip r:embed="rId4"/>
          <a:stretch>
            <a:fillRect/>
          </a:stretch>
        </p:blipFill>
        <p:spPr>
          <a:xfrm>
            <a:off x="6382385" y="1234440"/>
            <a:ext cx="5069840" cy="4025900"/>
          </a:xfrm>
          <a:prstGeom prst="rect">
            <a:avLst/>
          </a:prstGeom>
          <a:noFill/>
          <a:ln>
            <a:noFill/>
          </a:ln>
        </p:spPr>
      </p:pic>
      <p:pic>
        <p:nvPicPr>
          <p:cNvPr id="42" name="图片 39"/>
          <p:cNvPicPr>
            <a:picLocks noChangeAspect="1"/>
          </p:cNvPicPr>
          <p:nvPr/>
        </p:nvPicPr>
        <p:blipFill>
          <a:blip r:embed="rId5"/>
          <a:stretch>
            <a:fillRect/>
          </a:stretch>
        </p:blipFill>
        <p:spPr>
          <a:xfrm>
            <a:off x="909955" y="1672590"/>
            <a:ext cx="5175885" cy="3149600"/>
          </a:xfrm>
          <a:prstGeom prst="rect">
            <a:avLst/>
          </a:prstGeom>
          <a:noFill/>
          <a:ln>
            <a:noFill/>
          </a:ln>
        </p:spPr>
      </p:pic>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latin typeface="Arial" panose="020B0604020202020204" pitchFamily="34" charset="0"/>
                <a:ea typeface="微软雅黑" charset="-122"/>
                <a:cs typeface="微软雅黑" charset="-122"/>
                <a:sym typeface="Arial" panose="020B0604020202020204" pitchFamily="34" charset="0"/>
              </a:rPr>
              <a:t>纵向潜变量模型</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829550" y="5347970"/>
            <a:ext cx="2405380" cy="368300"/>
          </a:xfrm>
          <a:prstGeom prst="rect">
            <a:avLst/>
          </a:prstGeom>
          <a:noFill/>
        </p:spPr>
        <p:txBody>
          <a:bodyPr wrap="none" rtlCol="0">
            <a:spAutoFit/>
          </a:bodyPr>
          <a:lstStyle/>
          <a:p>
            <a:r>
              <a:rPr lang="en-US" altLang="zh-CN"/>
              <a:t>2018 2019 2020 2021</a:t>
            </a: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latin typeface="Arial" panose="020B0604020202020204" pitchFamily="34" charset="0"/>
                <a:ea typeface="微软雅黑" charset="-122"/>
                <a:cs typeface="微软雅黑" charset="-122"/>
                <a:sym typeface="Arial" panose="020B0604020202020204" pitchFamily="34" charset="0"/>
              </a:rPr>
              <a:t>纵向潜变量模型</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4" name="图片 43"/>
          <p:cNvPicPr>
            <a:picLocks noChangeAspect="1"/>
          </p:cNvPicPr>
          <p:nvPr/>
        </p:nvPicPr>
        <p:blipFill>
          <a:blip r:embed="rId4"/>
          <a:stretch>
            <a:fillRect/>
          </a:stretch>
        </p:blipFill>
        <p:spPr>
          <a:xfrm>
            <a:off x="629285" y="1771015"/>
            <a:ext cx="5143500" cy="2952750"/>
          </a:xfrm>
          <a:prstGeom prst="rect">
            <a:avLst/>
          </a:prstGeom>
          <a:noFill/>
          <a:ln>
            <a:noFill/>
          </a:ln>
        </p:spPr>
      </p:pic>
      <p:pic>
        <p:nvPicPr>
          <p:cNvPr id="39" name="图片 36"/>
          <p:cNvPicPr>
            <a:picLocks noChangeAspect="1"/>
          </p:cNvPicPr>
          <p:nvPr/>
        </p:nvPicPr>
        <p:blipFill>
          <a:blip r:embed="rId5"/>
          <a:stretch>
            <a:fillRect/>
          </a:stretch>
        </p:blipFill>
        <p:spPr>
          <a:xfrm>
            <a:off x="6447790" y="1136650"/>
            <a:ext cx="5069840" cy="4025900"/>
          </a:xfrm>
          <a:prstGeom prst="rect">
            <a:avLst/>
          </a:prstGeom>
          <a:noFill/>
          <a:ln>
            <a:noFill/>
          </a:ln>
        </p:spPr>
      </p:pic>
      <p:pic>
        <p:nvPicPr>
          <p:cNvPr id="5" name="图片 4"/>
          <p:cNvPicPr>
            <a:picLocks noChangeAspect="1"/>
          </p:cNvPicPr>
          <p:nvPr/>
        </p:nvPicPr>
        <p:blipFill>
          <a:blip r:embed="rId6"/>
          <a:stretch>
            <a:fillRect/>
          </a:stretch>
        </p:blipFill>
        <p:spPr>
          <a:xfrm>
            <a:off x="108585" y="1683385"/>
            <a:ext cx="6273800" cy="3340100"/>
          </a:xfrm>
          <a:prstGeom prst="rect">
            <a:avLst/>
          </a:prstGeom>
        </p:spPr>
      </p:pic>
      <p:sp>
        <p:nvSpPr>
          <p:cNvPr id="2" name="文本框 1"/>
          <p:cNvSpPr txBox="1"/>
          <p:nvPr/>
        </p:nvSpPr>
        <p:spPr>
          <a:xfrm>
            <a:off x="629285" y="5023485"/>
            <a:ext cx="6094730" cy="1476375"/>
          </a:xfrm>
          <a:prstGeom prst="rect">
            <a:avLst/>
          </a:prstGeom>
          <a:noFill/>
        </p:spPr>
        <p:txBody>
          <a:bodyPr wrap="square" rtlCol="0" anchor="t">
            <a:spAutoFit/>
          </a:bodyPr>
          <a:lstStyle/>
          <a:p>
            <a:r>
              <a:rPr lang="en-US" altLang="zh-CN">
                <a:sym typeface="+mn-ea"/>
              </a:rPr>
              <a:t>1.</a:t>
            </a:r>
            <a:r>
              <a:rPr lang="zh-CN" altLang="en-US">
                <a:sym typeface="+mn-ea"/>
              </a:rPr>
              <a:t>如果不是连续测量（</a:t>
            </a:r>
            <a:r>
              <a:rPr lang="en-US" altLang="zh-CN">
                <a:sym typeface="+mn-ea"/>
              </a:rPr>
              <a:t>2016 2019 2020 2022</a:t>
            </a:r>
            <a:r>
              <a:rPr lang="zh-CN" altLang="en-US">
                <a:sym typeface="+mn-ea"/>
              </a:rPr>
              <a:t>）</a:t>
            </a:r>
            <a:r>
              <a:rPr lang="en-US" altLang="zh-CN" i="1">
                <a:latin typeface="Arial Italic" panose="020B0604020202020204" charset="0"/>
                <a:cs typeface="Arial Italic" panose="020B0604020202020204" charset="0"/>
                <a:sym typeface="+mn-ea"/>
              </a:rPr>
              <a:t>specter</a:t>
            </a:r>
            <a:r>
              <a:rPr lang="en-US" altLang="zh-CN">
                <a:latin typeface="Arial Italic" panose="020B0604020202020204" charset="0"/>
                <a:cs typeface="Arial Italic" panose="020B0604020202020204" charset="0"/>
                <a:sym typeface="+mn-ea"/>
              </a:rPr>
              <a:t> </a:t>
            </a:r>
            <a:endParaRPr lang="en-US" altLang="zh-CN">
              <a:latin typeface="Arial Italic" panose="020B0604020202020204" charset="0"/>
              <a:cs typeface="Arial Italic" panose="020B0604020202020204" charset="0"/>
            </a:endParaRPr>
          </a:p>
          <a:p>
            <a:endParaRPr lang="en-US" altLang="zh-CN">
              <a:latin typeface="Arial Italic" panose="020B0604020202020204" charset="0"/>
              <a:cs typeface="Arial Italic" panose="020B0604020202020204" charset="0"/>
            </a:endParaRPr>
          </a:p>
          <a:p>
            <a:r>
              <a:rPr lang="en-US" altLang="zh-CN">
                <a:latin typeface="Arial Italic" panose="020B0604020202020204" charset="0"/>
                <a:cs typeface="Arial Italic" panose="020B0604020202020204" charset="0"/>
                <a:sym typeface="+mn-ea"/>
              </a:rPr>
              <a:t>2.</a:t>
            </a:r>
            <a:r>
              <a:rPr lang="zh-CN" altLang="en-US">
                <a:latin typeface="Arial Italic" panose="020B0604020202020204" charset="0"/>
                <a:cs typeface="Arial Italic" panose="020B0604020202020204" charset="0"/>
                <a:sym typeface="+mn-ea"/>
              </a:rPr>
              <a:t>如果出现转折点</a:t>
            </a:r>
          </a:p>
          <a:p>
            <a:endParaRPr lang="zh-CN" altLang="en-US"/>
          </a:p>
          <a:p>
            <a:r>
              <a:rPr lang="en-US" altLang="zh-CN"/>
              <a:t>3.</a:t>
            </a:r>
            <a:r>
              <a:rPr lang="zh-CN" altLang="en-US"/>
              <a:t>到底需要什么样的模型</a:t>
            </a:r>
          </a:p>
        </p:txBody>
      </p:sp>
      <p:pic>
        <p:nvPicPr>
          <p:cNvPr id="3" name="图片 2"/>
          <p:cNvPicPr>
            <a:picLocks noChangeAspect="1"/>
          </p:cNvPicPr>
          <p:nvPr/>
        </p:nvPicPr>
        <p:blipFill>
          <a:blip r:embed="rId7"/>
          <a:stretch>
            <a:fillRect/>
          </a:stretch>
        </p:blipFill>
        <p:spPr>
          <a:xfrm>
            <a:off x="1258570" y="948690"/>
            <a:ext cx="3973830" cy="3896360"/>
          </a:xfrm>
          <a:prstGeom prst="rect">
            <a:avLst/>
          </a:prstGeom>
          <a:noFill/>
          <a:ln>
            <a:noFill/>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latin typeface="Arial" panose="020B0604020202020204" pitchFamily="34" charset="0"/>
                <a:ea typeface="微软雅黑" charset="-122"/>
                <a:cs typeface="微软雅黑" charset="-122"/>
                <a:sym typeface="Arial" panose="020B0604020202020204" pitchFamily="34" charset="0"/>
              </a:rPr>
              <a:t>纵向潜变量模型</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p:nvPicPr>
        <p:blipFill>
          <a:blip r:embed="rId4"/>
          <a:stretch>
            <a:fillRect/>
          </a:stretch>
        </p:blipFill>
        <p:spPr>
          <a:xfrm>
            <a:off x="1899920" y="907415"/>
            <a:ext cx="8391525" cy="3319145"/>
          </a:xfrm>
          <a:prstGeom prst="rect">
            <a:avLst/>
          </a:prstGeom>
          <a:noFill/>
          <a:ln>
            <a:noFill/>
          </a:ln>
        </p:spPr>
      </p:pic>
      <p:sp>
        <p:nvSpPr>
          <p:cNvPr id="2" name="矩形 1"/>
          <p:cNvSpPr/>
          <p:nvPr/>
        </p:nvSpPr>
        <p:spPr>
          <a:xfrm>
            <a:off x="5524500" y="2771775"/>
            <a:ext cx="2038985" cy="505460"/>
          </a:xfrm>
          <a:prstGeom prst="rect">
            <a:avLst/>
          </a:prstGeom>
          <a:noFill/>
          <a:ln>
            <a:solidFill>
              <a:schemeClr val="accent3"/>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3755390" y="2739390"/>
            <a:ext cx="1687830" cy="913130"/>
          </a:xfrm>
          <a:prstGeom prst="rect">
            <a:avLst/>
          </a:prstGeom>
          <a:noFill/>
          <a:ln>
            <a:solidFill>
              <a:srgbClr val="FFC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5573395" y="3987165"/>
            <a:ext cx="3947160" cy="0"/>
          </a:xfrm>
          <a:prstGeom prst="line">
            <a:avLst/>
          </a:prstGeom>
        </p:spPr>
        <p:style>
          <a:lnRef idx="1">
            <a:schemeClr val="accent5"/>
          </a:lnRef>
          <a:fillRef idx="0">
            <a:schemeClr val="accent5"/>
          </a:fillRef>
          <a:effectRef idx="0">
            <a:schemeClr val="accent5"/>
          </a:effectRef>
          <a:fontRef idx="minor">
            <a:schemeClr val="tx1"/>
          </a:fontRef>
        </p:style>
      </p:cxnSp>
      <p:cxnSp>
        <p:nvCxnSpPr>
          <p:cNvPr id="11" name="直接连接符 10"/>
          <p:cNvCxnSpPr/>
          <p:nvPr/>
        </p:nvCxnSpPr>
        <p:spPr>
          <a:xfrm>
            <a:off x="9488170" y="2804795"/>
            <a:ext cx="0" cy="1174115"/>
          </a:xfrm>
          <a:prstGeom prst="line">
            <a:avLst/>
          </a:prstGeom>
        </p:spPr>
        <p:style>
          <a:lnRef idx="1">
            <a:schemeClr val="accent5"/>
          </a:lnRef>
          <a:fillRef idx="0">
            <a:schemeClr val="accent5"/>
          </a:fillRef>
          <a:effectRef idx="0">
            <a:schemeClr val="accent5"/>
          </a:effectRef>
          <a:fontRef idx="minor">
            <a:schemeClr val="tx1"/>
          </a:fontRef>
        </p:style>
      </p:cxnSp>
      <p:cxnSp>
        <p:nvCxnSpPr>
          <p:cNvPr id="12" name="直接连接符 11"/>
          <p:cNvCxnSpPr/>
          <p:nvPr/>
        </p:nvCxnSpPr>
        <p:spPr>
          <a:xfrm>
            <a:off x="7824470" y="2804795"/>
            <a:ext cx="1679575" cy="0"/>
          </a:xfrm>
          <a:prstGeom prst="line">
            <a:avLst/>
          </a:prstGeom>
        </p:spPr>
        <p:style>
          <a:lnRef idx="1">
            <a:schemeClr val="accent5"/>
          </a:lnRef>
          <a:fillRef idx="0">
            <a:schemeClr val="accent5"/>
          </a:fillRef>
          <a:effectRef idx="0">
            <a:schemeClr val="accent5"/>
          </a:effectRef>
          <a:fontRef idx="minor">
            <a:schemeClr val="tx1"/>
          </a:fontRef>
        </p:style>
      </p:cxnSp>
      <p:cxnSp>
        <p:nvCxnSpPr>
          <p:cNvPr id="13" name="直接连接符 12"/>
          <p:cNvCxnSpPr/>
          <p:nvPr/>
        </p:nvCxnSpPr>
        <p:spPr>
          <a:xfrm>
            <a:off x="7824470" y="2804795"/>
            <a:ext cx="0" cy="562610"/>
          </a:xfrm>
          <a:prstGeom prst="line">
            <a:avLst/>
          </a:prstGeom>
        </p:spPr>
        <p:style>
          <a:lnRef idx="1">
            <a:schemeClr val="accent5"/>
          </a:lnRef>
          <a:fillRef idx="0">
            <a:schemeClr val="accent5"/>
          </a:fillRef>
          <a:effectRef idx="0">
            <a:schemeClr val="accent5"/>
          </a:effectRef>
          <a:fontRef idx="minor">
            <a:schemeClr val="tx1"/>
          </a:fontRef>
        </p:style>
      </p:cxnSp>
      <p:cxnSp>
        <p:nvCxnSpPr>
          <p:cNvPr id="14" name="直接连接符 13"/>
          <p:cNvCxnSpPr/>
          <p:nvPr/>
        </p:nvCxnSpPr>
        <p:spPr>
          <a:xfrm>
            <a:off x="5541010" y="3367405"/>
            <a:ext cx="2283460" cy="0"/>
          </a:xfrm>
          <a:prstGeom prst="line">
            <a:avLst/>
          </a:prstGeom>
        </p:spPr>
        <p:style>
          <a:lnRef idx="1">
            <a:schemeClr val="accent5"/>
          </a:lnRef>
          <a:fillRef idx="0">
            <a:schemeClr val="accent5"/>
          </a:fillRef>
          <a:effectRef idx="0">
            <a:schemeClr val="accent5"/>
          </a:effectRef>
          <a:fontRef idx="minor">
            <a:schemeClr val="tx1"/>
          </a:fontRef>
        </p:style>
      </p:cxnSp>
      <p:cxnSp>
        <p:nvCxnSpPr>
          <p:cNvPr id="15" name="直接连接符 14"/>
          <p:cNvCxnSpPr/>
          <p:nvPr/>
        </p:nvCxnSpPr>
        <p:spPr>
          <a:xfrm>
            <a:off x="5573395" y="3350895"/>
            <a:ext cx="0" cy="636270"/>
          </a:xfrm>
          <a:prstGeom prst="line">
            <a:avLst/>
          </a:prstGeom>
        </p:spPr>
        <p:style>
          <a:lnRef idx="1">
            <a:schemeClr val="accent5"/>
          </a:lnRef>
          <a:fillRef idx="0">
            <a:schemeClr val="accent5"/>
          </a:fillRef>
          <a:effectRef idx="0">
            <a:schemeClr val="accent5"/>
          </a:effectRef>
          <a:fontRef idx="minor">
            <a:schemeClr val="tx1"/>
          </a:fontRef>
        </p:style>
      </p:cxn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latin typeface="Arial" panose="020B0604020202020204" pitchFamily="34" charset="0"/>
                <a:ea typeface="微软雅黑" charset="-122"/>
                <a:cs typeface="微软雅黑" charset="-122"/>
                <a:sym typeface="Arial" panose="020B0604020202020204" pitchFamily="34" charset="0"/>
              </a:rPr>
              <a:t>纵向潜变量模型</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62" name="图片 51"/>
          <p:cNvPicPr>
            <a:picLocks noChangeAspect="1"/>
          </p:cNvPicPr>
          <p:nvPr/>
        </p:nvPicPr>
        <p:blipFill>
          <a:blip r:embed="rId4"/>
          <a:stretch>
            <a:fillRect/>
          </a:stretch>
        </p:blipFill>
        <p:spPr>
          <a:xfrm>
            <a:off x="6976110" y="1568450"/>
            <a:ext cx="4245610" cy="3478530"/>
          </a:xfrm>
          <a:prstGeom prst="rect">
            <a:avLst/>
          </a:prstGeom>
          <a:noFill/>
          <a:ln>
            <a:noFill/>
          </a:ln>
        </p:spPr>
      </p:pic>
      <p:pic>
        <p:nvPicPr>
          <p:cNvPr id="63" name="图片 52"/>
          <p:cNvPicPr>
            <a:picLocks noChangeAspect="1"/>
          </p:cNvPicPr>
          <p:nvPr/>
        </p:nvPicPr>
        <p:blipFill>
          <a:blip r:embed="rId5"/>
          <a:stretch>
            <a:fillRect/>
          </a:stretch>
        </p:blipFill>
        <p:spPr>
          <a:xfrm>
            <a:off x="259080" y="2126615"/>
            <a:ext cx="6981190" cy="2362835"/>
          </a:xfrm>
          <a:prstGeom prst="rect">
            <a:avLst/>
          </a:prstGeom>
          <a:noFill/>
          <a:ln>
            <a:noFill/>
          </a:ln>
        </p:spPr>
      </p:pic>
      <p:sp>
        <p:nvSpPr>
          <p:cNvPr id="2" name="文本框 1"/>
          <p:cNvSpPr txBox="1"/>
          <p:nvPr/>
        </p:nvSpPr>
        <p:spPr>
          <a:xfrm>
            <a:off x="567055" y="4826635"/>
            <a:ext cx="2722880" cy="1198880"/>
          </a:xfrm>
          <a:prstGeom prst="rect">
            <a:avLst/>
          </a:prstGeom>
          <a:noFill/>
        </p:spPr>
        <p:txBody>
          <a:bodyPr wrap="none" rtlCol="0">
            <a:spAutoFit/>
          </a:bodyPr>
          <a:lstStyle/>
          <a:p>
            <a:pPr algn="l"/>
            <a:r>
              <a:rPr lang="zh-CN" altLang="en-US"/>
              <a:t>增长混合模型</a:t>
            </a:r>
          </a:p>
          <a:p>
            <a:pPr algn="l"/>
            <a:r>
              <a:rPr lang="en-US" altLang="zh-CN"/>
              <a:t>Growth Mixture Modeling</a:t>
            </a:r>
          </a:p>
          <a:p>
            <a:pPr algn="l"/>
            <a:r>
              <a:rPr lang="en-US" altLang="zh-CN"/>
              <a:t>GMM</a:t>
            </a:r>
          </a:p>
          <a:p>
            <a:endParaRPr lang="en-US" altLang="zh-CN"/>
          </a:p>
        </p:txBody>
      </p:sp>
      <p:sp>
        <p:nvSpPr>
          <p:cNvPr id="3" name="文本框 2"/>
          <p:cNvSpPr txBox="1"/>
          <p:nvPr/>
        </p:nvSpPr>
        <p:spPr>
          <a:xfrm>
            <a:off x="4084320" y="4826635"/>
            <a:ext cx="3265805" cy="922020"/>
          </a:xfrm>
          <a:prstGeom prst="rect">
            <a:avLst/>
          </a:prstGeom>
          <a:noFill/>
        </p:spPr>
        <p:txBody>
          <a:bodyPr wrap="square" rtlCol="0" anchor="t">
            <a:spAutoFit/>
          </a:bodyPr>
          <a:lstStyle/>
          <a:p>
            <a:r>
              <a:rPr lang="zh-CN" altLang="en-US"/>
              <a:t>潜类别增长模型</a:t>
            </a:r>
          </a:p>
          <a:p>
            <a:r>
              <a:rPr lang="zh-CN" altLang="en-US"/>
              <a:t>Latent Class</a:t>
            </a:r>
            <a:r>
              <a:rPr lang="en-US" altLang="zh-CN"/>
              <a:t> </a:t>
            </a:r>
            <a:r>
              <a:rPr lang="zh-CN" altLang="en-US"/>
              <a:t>Growth</a:t>
            </a:r>
            <a:r>
              <a:rPr lang="en-US" altLang="zh-CN"/>
              <a:t> </a:t>
            </a:r>
            <a:r>
              <a:rPr lang="zh-CN" altLang="en-US"/>
              <a:t>Analysis</a:t>
            </a:r>
          </a:p>
          <a:p>
            <a:r>
              <a:rPr lang="zh-CN" altLang="en-US"/>
              <a:t>LCGA</a:t>
            </a: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354330" y="-2"/>
            <a:ext cx="4246245" cy="770400"/>
          </a:xfrm>
          <a:prstGeom prst="rect">
            <a:avLst/>
          </a:prstGeom>
          <a:noFill/>
        </p:spPr>
        <p:txBody>
          <a:bodyPr wrap="square" bIns="46990" rtlCol="0" anchor="ctr" anchorCtr="0">
            <a:normAutofit/>
          </a:bodyPr>
          <a:lstStyle/>
          <a:p>
            <a:pPr fontAlgn="auto">
              <a:lnSpc>
                <a:spcPct val="120000"/>
              </a:lnSpc>
            </a:pPr>
            <a:r>
              <a:rPr lang="zh-CN" altLang="en-US" sz="2000" dirty="0">
                <a:latin typeface="Arial" panose="020B0604020202020204" pitchFamily="34" charset="0"/>
                <a:ea typeface="微软雅黑" charset="-122"/>
                <a:cs typeface="微软雅黑" charset="-122"/>
                <a:sym typeface="Arial" panose="020B0604020202020204" pitchFamily="34" charset="0"/>
              </a:rPr>
              <a:t>总结和反思</a:t>
            </a:r>
          </a:p>
        </p:txBody>
      </p:sp>
      <p:cxnSp>
        <p:nvCxnSpPr>
          <p:cNvPr id="6" name="直接连接符 5"/>
          <p:cNvCxnSpPr/>
          <p:nvPr/>
        </p:nvCxnSpPr>
        <p:spPr>
          <a:xfrm>
            <a:off x="354330" y="725170"/>
            <a:ext cx="183134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697230" y="1434465"/>
            <a:ext cx="2430780" cy="2030095"/>
          </a:xfrm>
          <a:prstGeom prst="rect">
            <a:avLst/>
          </a:prstGeom>
          <a:noFill/>
        </p:spPr>
        <p:txBody>
          <a:bodyPr wrap="none" rtlCol="0">
            <a:spAutoFit/>
          </a:bodyPr>
          <a:lstStyle/>
          <a:p>
            <a:r>
              <a:rPr lang="en-US" altLang="zh-CN"/>
              <a:t>1.</a:t>
            </a:r>
            <a:r>
              <a:rPr lang="zh-CN" altLang="en-US"/>
              <a:t>从回归到潜变量模型</a:t>
            </a:r>
          </a:p>
          <a:p>
            <a:endParaRPr lang="zh-CN" altLang="en-US"/>
          </a:p>
          <a:p>
            <a:endParaRPr lang="zh-CN" altLang="en-US"/>
          </a:p>
          <a:p>
            <a:r>
              <a:rPr lang="en-US" altLang="zh-CN"/>
              <a:t>2.</a:t>
            </a:r>
            <a:r>
              <a:rPr lang="zh-CN" altLang="en-US"/>
              <a:t>学习模型的方法</a:t>
            </a:r>
          </a:p>
          <a:p>
            <a:endParaRPr lang="zh-CN" altLang="en-US"/>
          </a:p>
          <a:p>
            <a:endParaRPr lang="zh-CN" altLang="en-US"/>
          </a:p>
          <a:p>
            <a:r>
              <a:rPr lang="en-US" altLang="zh-CN"/>
              <a:t>3.</a:t>
            </a:r>
            <a:r>
              <a:rPr lang="zh-CN" altLang="en-US"/>
              <a:t>一点自己最近的感悟</a:t>
            </a:r>
          </a:p>
        </p:txBody>
      </p:sp>
      <p:pic>
        <p:nvPicPr>
          <p:cNvPr id="2" name="图片 1"/>
          <p:cNvPicPr>
            <a:picLocks noChangeAspect="1"/>
          </p:cNvPicPr>
          <p:nvPr/>
        </p:nvPicPr>
        <p:blipFill>
          <a:blip r:embed="rId4"/>
          <a:stretch>
            <a:fillRect/>
          </a:stretch>
        </p:blipFill>
        <p:spPr>
          <a:xfrm>
            <a:off x="3291205" y="92075"/>
            <a:ext cx="5747385" cy="2849245"/>
          </a:xfrm>
          <a:prstGeom prst="rect">
            <a:avLst/>
          </a:prstGeom>
        </p:spPr>
      </p:pic>
      <p:pic>
        <p:nvPicPr>
          <p:cNvPr id="3" name="图片 2"/>
          <p:cNvPicPr>
            <a:picLocks noChangeAspect="1"/>
          </p:cNvPicPr>
          <p:nvPr/>
        </p:nvPicPr>
        <p:blipFill>
          <a:blip r:embed="rId5"/>
          <a:stretch>
            <a:fillRect/>
          </a:stretch>
        </p:blipFill>
        <p:spPr>
          <a:xfrm>
            <a:off x="354330" y="3943350"/>
            <a:ext cx="6261735" cy="2848610"/>
          </a:xfrm>
          <a:prstGeom prst="rect">
            <a:avLst/>
          </a:prstGeom>
        </p:spPr>
      </p:pic>
      <p:pic>
        <p:nvPicPr>
          <p:cNvPr id="4" name="图片 3"/>
          <p:cNvPicPr>
            <a:picLocks noChangeAspect="1"/>
          </p:cNvPicPr>
          <p:nvPr/>
        </p:nvPicPr>
        <p:blipFill>
          <a:blip r:embed="rId6"/>
          <a:stretch>
            <a:fillRect/>
          </a:stretch>
        </p:blipFill>
        <p:spPr>
          <a:xfrm>
            <a:off x="6440805" y="3050540"/>
            <a:ext cx="5587365" cy="1792605"/>
          </a:xfrm>
          <a:prstGeom prst="rect">
            <a:avLst/>
          </a:prstGeom>
        </p:spPr>
      </p:pic>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489960" y="2046605"/>
            <a:ext cx="5212080" cy="1106805"/>
          </a:xfrm>
          <a:prstGeom prst="rect">
            <a:avLst/>
          </a:prstGeom>
          <a:noFill/>
        </p:spPr>
        <p:txBody>
          <a:bodyPr wrap="none" rtlCol="0">
            <a:spAutoFit/>
          </a:bodyPr>
          <a:lstStyle/>
          <a:p>
            <a:r>
              <a:rPr lang="zh-CN" altLang="en-US" sz="6600"/>
              <a:t>恳请批评指正</a:t>
            </a:r>
          </a:p>
        </p:txBody>
      </p:sp>
      <p:sp>
        <p:nvSpPr>
          <p:cNvPr id="3" name="文本框 2"/>
          <p:cNvSpPr txBox="1"/>
          <p:nvPr/>
        </p:nvSpPr>
        <p:spPr>
          <a:xfrm>
            <a:off x="6805295" y="4142105"/>
            <a:ext cx="1783080" cy="368300"/>
          </a:xfrm>
          <a:prstGeom prst="rect">
            <a:avLst/>
          </a:prstGeom>
          <a:noFill/>
        </p:spPr>
        <p:txBody>
          <a:bodyPr wrap="none" rtlCol="0">
            <a:spAutoFit/>
          </a:bodyPr>
          <a:lstStyle/>
          <a:p>
            <a:r>
              <a:rPr lang="zh-CN" altLang="en-US"/>
              <a:t>汇报人：孙浩楠</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SLIDE_ID" val="custom20205081_4"/>
  <p:tag name="KSO_WM_TEMPLATE_SUBCATEGORY" val="19"/>
  <p:tag name="KSO_WM_TEMPLATE_MASTER_TYPE" val="0"/>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5081"/>
  <p:tag name="KSO_WM_SLIDE_LAYOUT" val="a_b_l"/>
  <p:tag name="KSO_WM_SLIDE_LAYOUT_CNT" val="1_1_1"/>
  <p:tag name="KSO_WM_UNIT_SHOW_EDIT_AREA_INDICATION" val="1"/>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5081_4*l_h_i*1_1_1"/>
  <p:tag name="KSO_WM_TEMPLATE_CATEGORY" val="custom"/>
  <p:tag name="KSO_WM_TEMPLATE_INDEX" val="2020508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65.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205081_4*l_h_i*1_2_1"/>
  <p:tag name="KSO_WM_TEMPLATE_CATEGORY" val="custom"/>
  <p:tag name="KSO_WM_TEMPLATE_INDEX" val="2020508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205081_4*l_h_i*1_3_1"/>
  <p:tag name="KSO_WM_TEMPLATE_CATEGORY" val="custom"/>
  <p:tag name="KSO_WM_TEMPLATE_INDEX" val="2020508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custom20205081_4*l_h_i*1_4_1"/>
  <p:tag name="KSO_WM_TEMPLATE_CATEGORY" val="custom"/>
  <p:tag name="KSO_WM_TEMPLATE_INDEX" val="20205081"/>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05081_4*i*2"/>
  <p:tag name="KSO_WM_TEMPLATE_CATEGORY" val="custom"/>
  <p:tag name="KSO_WM_TEMPLATE_INDEX" val="20205081"/>
  <p:tag name="KSO_WM_UNIT_LAYERLEVEL" val="1"/>
  <p:tag name="KSO_WM_TAG_VERSION" val="1.0"/>
  <p:tag name="KSO_WM_BEAUTIFY_FLAG" val="#wm#"/>
  <p:tag name="KSO_WM_UNIT_LINE_FORE_SCHEMECOLOR_INDEX" val="14"/>
  <p:tag name="KSO_WM_UNIT_LINE_FILL_TYPE" val="2"/>
  <p:tag name="KSO_WM_UNIT_USESOURCEFORMAT_APPLY" val="1"/>
</p:tagLst>
</file>

<file path=ppt/tags/tag70.xml><?xml version="1.0" encoding="utf-8"?>
<p:tagLst xmlns:a="http://schemas.openxmlformats.org/drawingml/2006/main" xmlns:r="http://schemas.openxmlformats.org/officeDocument/2006/relationships" xmlns:p="http://schemas.openxmlformats.org/presentationml/2006/main">
  <p:tag name="KSO_WM_UNIT_ISCONTENTSTITLE" val="1"/>
  <p:tag name="KSO_WM_UNIT_PRESET_TEXT" val="目录"/>
  <p:tag name="KSO_WM_UNIT_NOCLEAR" val="1"/>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5081_4*a*1"/>
  <p:tag name="KSO_WM_TEMPLATE_CATEGORY" val="custom"/>
  <p:tag name="KSO_WM_TEMPLATE_INDEX" val="20205081"/>
  <p:tag name="KSO_WM_UNIT_LAYERLEVEL" val="1"/>
  <p:tag name="KSO_WM_TAG_VERSION" val="1.0"/>
  <p:tag name="KSO_WM_BEAUTIFY_FLAG" val="#wm#"/>
  <p:tag name="KSO_WM_UNIT_ISNUMDGMTITLE" val="0"/>
  <p:tag name="KSO_WM_UNIT_TEXT_FILL_FORE_SCHEMECOLOR_INDEX" val="13"/>
  <p:tag name="KSO_WM_UNIT_TEXT_FILL_TYPE" val="1"/>
  <p:tag name="KSO_WM_UNIT_USESOURCEFORMAT_APPLY" val="1"/>
</p:tagLst>
</file>

<file path=ppt/tags/tag71.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CONTENTS"/>
  <p:tag name="KSO_WM_UNIT_NOCLEAR" val="1"/>
  <p:tag name="KSO_WM_UNIT_VALUE" val="7"/>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205081_4*b*1"/>
  <p:tag name="KSO_WM_TEMPLATE_CATEGORY" val="custom"/>
  <p:tag name="KSO_WM_TEMPLATE_INDEX" val="20205081"/>
  <p:tag name="KSO_WM_UNIT_LAYERLEVEL" val="1"/>
  <p:tag name="KSO_WM_TAG_VERSION" val="1.0"/>
  <p:tag name="KSO_WM_BEAUTIFY_FLAG" val="#wm#"/>
  <p:tag name="KSO_WM_UNIT_ISNUMDGMTITLE" val="0"/>
  <p:tag name="KSO_WM_UNIT_TEXT_FILL_FORE_SCHEMECOLOR_INDEX" val="13"/>
  <p:tag name="KSO_WM_UNIT_TEXT_FILL_TYPE" val="1"/>
  <p:tag name="KSO_WM_UNIT_USESOURCEFORMAT_APPLY" val="1"/>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5081_4*i*1"/>
  <p:tag name="KSO_WM_TEMPLATE_CATEGORY" val="custom"/>
  <p:tag name="KSO_WM_TEMPLATE_INDEX" val="20205081"/>
  <p:tag name="KSO_WM_UNIT_LAYERLEVEL" val="1"/>
  <p:tag name="KSO_WM_TAG_VERSION" val="1.0"/>
  <p:tag name="KSO_WM_BEAUTIFY_FLAG" val="#wm#"/>
  <p:tag name="KSO_WM_UNIT_FILL_FORE_SCHEMECOLOR_INDEX" val="13"/>
  <p:tag name="KSO_WM_UNIT_FILL_TYPE" val="1"/>
  <p:tag name="KSO_WM_UNIT_TEXT_FILL_FORE_SCHEMECOLOR_INDEX" val="2"/>
  <p:tag name="KSO_WM_UNIT_TEXT_FILL_TYPE" val="1"/>
  <p:tag name="KSO_WM_UNIT_USESOURCEFORMAT_APPLY" val="1"/>
</p:tagLst>
</file>

<file path=ppt/tags/tag73.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5081_4*l_h_f*1_2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74.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5081_4*l_h_f*1_3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75.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5081_4*l_h_f*1_4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9.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1.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3.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5.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9.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1.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3.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5.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9.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1.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3.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5.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9.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1.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3.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5.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9.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1.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3.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5.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9.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1.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3.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5.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9.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41.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43.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输入章节标题......"/>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5081_4*l_h_f*1_1_1"/>
  <p:tag name="KSO_WM_TEMPLATE_CATEGORY" val="custom"/>
  <p:tag name="KSO_WM_TEMPLATE_INDEX" val="20205081"/>
  <p:tag name="KSO_WM_UNIT_LAYERLEVEL" val="1_1_1"/>
  <p:tag name="KSO_WM_TAG_VERSION" val="1.0"/>
  <p:tag name="KSO_WM_BEAUTIFY_FLAG" val="#wm#"/>
  <p:tag name="KSO_WM_UNIT_SHOW_EDIT_AREA_INDICATION" val="1"/>
  <p:tag name="KSO_WM_UNIT_TEXT_FILL_FORE_SCHEMECOLOR_INDEX" val="13"/>
  <p:tag name="KSO_WM_UNIT_TEXT_FILL_TYPE" val="1"/>
  <p:tag name="KSO_WM_UNIT_USESOURCEFORMAT_APPLY" val="1"/>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1970</Words>
  <Application>Microsoft Macintosh PowerPoint</Application>
  <PresentationFormat>Widescreen</PresentationFormat>
  <Paragraphs>217</Paragraphs>
  <Slides>37</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37</vt:i4>
      </vt:variant>
    </vt:vector>
  </HeadingPairs>
  <TitlesOfParts>
    <vt:vector size="46" baseType="lpstr">
      <vt:lpstr>Arial Bold Italic</vt:lpstr>
      <vt:lpstr>Arial Italic</vt:lpstr>
      <vt:lpstr>微软雅黑</vt:lpstr>
      <vt:lpstr>宋体</vt:lpstr>
      <vt:lpstr>Arial</vt:lpstr>
      <vt:lpstr>Calibri</vt:lpstr>
      <vt:lpstr>Wingdings</vt:lpstr>
      <vt:lpstr>Office 主题​​</vt:lpstr>
      <vt:lpstr>1_Office 主题​​</vt:lpstr>
      <vt:lpstr>从线性回归到纵向潜变量模型</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holland</dc:creator>
  <cp:lastModifiedBy>Holland Sun</cp:lastModifiedBy>
  <cp:revision>17</cp:revision>
  <dcterms:created xsi:type="dcterms:W3CDTF">2022-11-15T05:45:35Z</dcterms:created>
  <dcterms:modified xsi:type="dcterms:W3CDTF">2026-05-27T17:57:35Z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2052-4.6.1.7467</vt:lpwstr>
  </property>
  <property fmtid="{D5CDD505-2E9C-101B-9397-08002B2CF9AE}" pid="3" name="ICV">
    <vt:lpwstr>4183839F14A7C6491EFC6E63AC4C46D8</vt:lpwstr>
  </property>
</Properties>
</file>